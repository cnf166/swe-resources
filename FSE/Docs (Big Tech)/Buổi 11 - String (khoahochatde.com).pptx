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ulish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Mulish ExtraBold"/>
      <p:bold r:id="rId24"/>
      <p:boldItalic r:id="rId25"/>
    </p:embeddedFont>
    <p:embeddedFont>
      <p:font typeface="Mulish Black"/>
      <p:bold r:id="rId26"/>
      <p:boldItalic r:id="rId27"/>
    </p:embeddedFont>
    <p:embeddedFont>
      <p:font typeface="Mulish Medium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lish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Mulish-boldItalic.fntdata"/><Relationship Id="rId24" Type="http://schemas.openxmlformats.org/officeDocument/2006/relationships/font" Target="fonts/MulishExtraBold-bold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ulishBlack-bold.fntdata"/><Relationship Id="rId25" Type="http://schemas.openxmlformats.org/officeDocument/2006/relationships/font" Target="fonts/MulishExtraBold-boldItalic.fntdata"/><Relationship Id="rId28" Type="http://schemas.openxmlformats.org/officeDocument/2006/relationships/font" Target="fonts/MulishMedium-regular.fntdata"/><Relationship Id="rId27" Type="http://schemas.openxmlformats.org/officeDocument/2006/relationships/font" Target="fonts/MulishBlack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ulish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ulishMedium-boldItalic.fntdata"/><Relationship Id="rId30" Type="http://schemas.openxmlformats.org/officeDocument/2006/relationships/font" Target="fonts/MulishMedium-italic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OpenSans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ulish-bold.fntdata"/><Relationship Id="rId18" Type="http://schemas.openxmlformats.org/officeDocument/2006/relationships/font" Target="fonts/Mulish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a6dd2d4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a6dd2d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cde8b696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cde8b696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Hôm nay: He</a:t>
            </a:r>
            <a:r>
              <a:rPr lang="en"/>
              <a:t>aps + Bài toán tìm đường đi ngắn nhất trên đồ thị có trọng số.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a6dd2d446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1a6dd2d446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ac4ce1a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ac4ce1a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</a:t>
            </a:r>
            <a:r>
              <a:rPr lang="en"/>
              <a:t>eue/Stack thông thường: O(N)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Sorted List: O(N)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Binary Search Tree: O(logN)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a6dd2d446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a6dd2d446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Đánh ind</a:t>
            </a:r>
            <a:r>
              <a:rPr lang="en"/>
              <a:t>ex từ trên xuống dưới, từ trái sang phải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oot → cbt[0]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 → cbt[1]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Root.right → cbt[2]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Root.left.left → cbt[3]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Tổng quát: nếu node là cbt[i], thì node.left là cbt[2*i + 1], node.right là cbt[2*i + 2]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ac4ce1a4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1ac4ce1a4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→ cbt[0]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 → cbt[1]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Root.right → cbt[2]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Root.left.left → cbt[3]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Tổng quát: nếu node là cbt[i], thì node.left là cbt[2*i + 1], node.right là cbt[2*i + 2]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8c76b530e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8c76b530e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→ cbt[0]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 → cbt[1]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Root.right → cbt[2]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Root.left.left → cbt[3]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Tổng quát: nếu node là cbt[i], thì node.left là cbt[2*i + 1], node.right là cbt[2*i + 2]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8c76b530e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8c76b530e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→ cbt[0]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 → cbt[1]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Root.right → cbt[2]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Root.left.left → cbt[3]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Tổng quát: nếu node là cbt[i], thì node.left là cbt[2*i + 1], node.right là cbt[2*i + 2]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1a6dd2d44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1a6dd2d44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19de4602c4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19de4602c4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1ab5693d2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1ab5693d2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rgbClr val="EBF0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eetcode.com/problems/check-if-string-is-a-prefix-of-array/" TargetMode="External"/><Relationship Id="rId4" Type="http://schemas.openxmlformats.org/officeDocument/2006/relationships/hyperlink" Target="https://leetcode.com/problems/longest-palindromic-substring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etcode.com/problems/palindromic-substrings" TargetMode="External"/><Relationship Id="rId4" Type="http://schemas.openxmlformats.org/officeDocument/2006/relationships/hyperlink" Target="https://leetcode.com/problems/valid-palindrom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/>
        </p:nvSpPr>
        <p:spPr>
          <a:xfrm>
            <a:off x="1321500" y="2171550"/>
            <a:ext cx="6614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90F8"/>
                </a:solidFill>
                <a:latin typeface="Mulish Black"/>
                <a:ea typeface="Mulish Black"/>
                <a:cs typeface="Mulish Black"/>
                <a:sym typeface="Mulish Black"/>
              </a:rPr>
              <a:t>String</a:t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2905350" y="4337750"/>
            <a:ext cx="3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 Medium"/>
                <a:ea typeface="Mulish Medium"/>
                <a:cs typeface="Mulish Medium"/>
                <a:sym typeface="Mulish Medium"/>
              </a:rPr>
              <a:t>Lam Pham</a:t>
            </a:r>
            <a:endParaRPr>
              <a:solidFill>
                <a:srgbClr val="0B3E64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3092550" y="14839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Future Software Engineers - FSE K04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>
            <a:off x="4572000" y="0"/>
            <a:ext cx="4724100" cy="5143500"/>
          </a:xfrm>
          <a:prstGeom prst="rect">
            <a:avLst/>
          </a:prstGeom>
          <a:solidFill>
            <a:srgbClr val="0B3E6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6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Mục lục</a:t>
            </a:r>
            <a:endParaRPr b="0" sz="32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21" name="Google Shape;121;p26"/>
          <p:cNvSpPr txBox="1"/>
          <p:nvPr>
            <p:ph idx="2" type="body"/>
          </p:nvPr>
        </p:nvSpPr>
        <p:spPr>
          <a:xfrm>
            <a:off x="4572000" y="724200"/>
            <a:ext cx="4572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String là gì?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Prefix and Suffix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Palindrome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Live Coding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Homework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22" name="Google Shape;122;p26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6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/>
        </p:nvSpPr>
        <p:spPr>
          <a:xfrm>
            <a:off x="1537200" y="1259425"/>
            <a:ext cx="6069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String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.1.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String là gì?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311700" y="1266325"/>
            <a:ext cx="8488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</a:rPr>
              <a:t>String(Hay còn gọi là xâu) biểu diễn một chuỗi các kí tự.</a:t>
            </a:r>
            <a:endParaRPr>
              <a:solidFill>
                <a:srgbClr val="0B3E64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</a:rPr>
              <a:t>In python and C++</a:t>
            </a:r>
            <a:endParaRPr>
              <a:solidFill>
                <a:srgbClr val="0B3E64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8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40" name="Google Shape;140;p28"/>
          <p:cNvPicPr preferRelativeResize="0"/>
          <p:nvPr/>
        </p:nvPicPr>
        <p:blipFill rotWithShape="1">
          <a:blip r:embed="rId3">
            <a:alphaModFix/>
          </a:blip>
          <a:srcRect b="6149" l="0" r="0" t="-6150"/>
          <a:stretch/>
        </p:blipFill>
        <p:spPr>
          <a:xfrm>
            <a:off x="890200" y="2138350"/>
            <a:ext cx="50292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300" y="3260725"/>
            <a:ext cx="615572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1.1. String là gì?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402900" y="1189125"/>
            <a:ext cx="8455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Note: Mỗi ngôn ngữ thì string có các thuộc tính, phương thức khác nhau nên khi sử dụng string cần nắm rõ bản chất trong các ngôn ngữ lập trình.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Ví dụ: Python thì string là kiểu dữ liệu nguyên thuỷ và nó là immutable, khi + chuỗi sẽ khá tốn chi phí vì phải tạo ra các object mới.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9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313" y="2601300"/>
            <a:ext cx="1533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1.1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String là gì?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402900" y="1189125"/>
            <a:ext cx="7555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Time complexity cho 1 số thao tác thường gặp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Cộng chuỗi: x = a + b : Time (O(length a + length b)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Sửa 1 kí tự trong chuỗi: (Ví dụ: A[0] = “1”) Time: O(1)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30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1.2 Prefix and Suffix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402900" y="1189125"/>
            <a:ext cx="7555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-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Prefix(tiền tố): 1 xâu X là tiền tố của Y nếu như X là 1 substring của Y và xuất hiện ở đầu của Y. (Ví dụ: “a” là prefix của “aa")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600"/>
              <a:buFont typeface="Open Sans"/>
              <a:buChar char="-"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Suffix (hậu tố): 1 xâu X là hậu tố của Y nếu như X là 1 substring của Y và xuất hiện ở cuối của Y. (Ví dụ: “ab” là </a:t>
            </a: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suffix</a:t>
            </a: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 của “aab")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3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1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1.3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Palindrome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402900" y="1189125"/>
            <a:ext cx="7555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Palindrome: là 1 từ mà đọc xuôi hay ngược cũng như nhau.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Ví dụ: aabbbaa, ccccc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Trong python: check palindrome của string X: 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def is_palindrome(x):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	return x == x[::-1]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def is_palindrome(x):  #recommend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	left, right = 0, len(x) - 1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	while left &lt; right: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		if x[left] != x[right]: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			return False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		left, right = left + 1, right - 1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3E64"/>
                </a:solidFill>
                <a:latin typeface="Open Sans"/>
                <a:ea typeface="Open Sans"/>
                <a:cs typeface="Open Sans"/>
                <a:sym typeface="Open Sans"/>
              </a:rPr>
              <a:t>	return True</a:t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B3E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32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2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 coding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https://leetcode.com/problems/palindrome-number/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https://leetcode.com/problems/longest-common-prefix/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https://leetcode.com/problems/check-if-string-is-a-prefix-of-array/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https://leetcode.com/problems/longest-palindromic-substring/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Sol: https://pastebin.pl/view/53f56324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85" name="Google Shape;185;p3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3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/>
        </p:nvSpPr>
        <p:spPr>
          <a:xfrm>
            <a:off x="2259600" y="2156475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3. Homework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93" name="Google Shape;19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https://leetcode.com/problems/palindromic-substrings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https://leetcode.com/problems/valid-palindrome/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Gitclass: https://classroom.github.com/a/s5URg0qI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Solution: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" name="Google Shape;200;p3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5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Heaps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