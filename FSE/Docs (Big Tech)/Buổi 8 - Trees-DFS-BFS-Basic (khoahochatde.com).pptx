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Mulish"/>
      <p:regular r:id="rId25"/>
      <p:bold r:id="rId26"/>
      <p:italic r:id="rId27"/>
      <p:boldItalic r:id="rId28"/>
    </p:embeddedFont>
    <p:embeddedFont>
      <p:font typeface="PT Sans Narrow"/>
      <p:regular r:id="rId29"/>
      <p:bold r:id="rId30"/>
    </p:embeddedFont>
    <p:embeddedFont>
      <p:font typeface="Mulish ExtraBold"/>
      <p:bold r:id="rId31"/>
      <p:boldItalic r:id="rId32"/>
    </p:embeddedFont>
    <p:embeddedFont>
      <p:font typeface="Mulish Black"/>
      <p:bold r:id="rId33"/>
      <p:boldItalic r:id="rId34"/>
    </p:embeddedFont>
    <p:embeddedFont>
      <p:font typeface="Mulish Medium"/>
      <p:regular r:id="rId35"/>
      <p:bold r:id="rId36"/>
      <p:italic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1B2214-597D-481F-8840-E9CB59871F4C}">
  <a:tblStyle styleId="{C91B2214-597D-481F-8840-E9CB59871F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4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ulish-bold.fntdata"/><Relationship Id="rId25" Type="http://schemas.openxmlformats.org/officeDocument/2006/relationships/font" Target="fonts/Mulish-regular.fntdata"/><Relationship Id="rId28" Type="http://schemas.openxmlformats.org/officeDocument/2006/relationships/font" Target="fonts/Mulish-boldItalic.fntdata"/><Relationship Id="rId27" Type="http://schemas.openxmlformats.org/officeDocument/2006/relationships/font" Target="fonts/Mulish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Narr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ulishExtraBold-bold.fntdata"/><Relationship Id="rId30" Type="http://schemas.openxmlformats.org/officeDocument/2006/relationships/font" Target="fonts/PTSansNarrow-bold.fntdata"/><Relationship Id="rId11" Type="http://schemas.openxmlformats.org/officeDocument/2006/relationships/slide" Target="slides/slide5.xml"/><Relationship Id="rId33" Type="http://schemas.openxmlformats.org/officeDocument/2006/relationships/font" Target="fonts/MulishBlack-bold.fntdata"/><Relationship Id="rId10" Type="http://schemas.openxmlformats.org/officeDocument/2006/relationships/slide" Target="slides/slide4.xml"/><Relationship Id="rId32" Type="http://schemas.openxmlformats.org/officeDocument/2006/relationships/font" Target="fonts/MulishExtraBold-boldItalic.fntdata"/><Relationship Id="rId13" Type="http://schemas.openxmlformats.org/officeDocument/2006/relationships/slide" Target="slides/slide7.xml"/><Relationship Id="rId35" Type="http://schemas.openxmlformats.org/officeDocument/2006/relationships/font" Target="fonts/MulishMedium-regular.fntdata"/><Relationship Id="rId12" Type="http://schemas.openxmlformats.org/officeDocument/2006/relationships/slide" Target="slides/slide6.xml"/><Relationship Id="rId34" Type="http://schemas.openxmlformats.org/officeDocument/2006/relationships/font" Target="fonts/MulishBlack-boldItalic.fntdata"/><Relationship Id="rId15" Type="http://schemas.openxmlformats.org/officeDocument/2006/relationships/slide" Target="slides/slide9.xml"/><Relationship Id="rId37" Type="http://schemas.openxmlformats.org/officeDocument/2006/relationships/font" Target="fonts/MulishMedium-italic.fntdata"/><Relationship Id="rId14" Type="http://schemas.openxmlformats.org/officeDocument/2006/relationships/slide" Target="slides/slide8.xml"/><Relationship Id="rId36" Type="http://schemas.openxmlformats.org/officeDocument/2006/relationships/font" Target="fonts/MulishMedium-bold.fntdata"/><Relationship Id="rId17" Type="http://schemas.openxmlformats.org/officeDocument/2006/relationships/slide" Target="slides/slide11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0.xml"/><Relationship Id="rId38" Type="http://schemas.openxmlformats.org/officeDocument/2006/relationships/font" Target="fonts/Mulish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15a1e507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15a1e507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cde8b696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cde8b696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Cây: cấu trúc cơ bản, sử dụng nhiều trong đời sống (và các thuật t</a:t>
            </a:r>
            <a:r>
              <a:rPr lang="en"/>
              <a:t>oán khác, vd: Heap, Database)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DFS/BFS: là 2 nhánh phương pháp để duyệt cây/dồ thị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5a1e5077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15a1e5077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e88d367d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e88d367d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Cây gồm 11 nod</a:t>
            </a:r>
            <a:r>
              <a:rPr lang="en"/>
              <a:t>es, với khóa (key) tương ứng A, B, …, K. Ở đây (cho tiện), ta gọi tên node bằng khóa của nó.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Nút A gồm 3 nút con: B, C,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Nút J không có con nào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Gốc: nút 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ecde8b696e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ecde8b696e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Gốc là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Chỉ tên những node có đúng 2 con?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Lời giải: g</a:t>
            </a:r>
            <a:r>
              <a:rPr lang="en"/>
              <a:t>oogle search “expression tree”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9718b77f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9718b77f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là tiền bối c</a:t>
            </a:r>
            <a:r>
              <a:rPr lang="en"/>
              <a:t>ủa F. D là tiền bối của 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 là hậu duệ của H, D, 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Chỉ tên những nút lá?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Độ cao/Độ sâu của các nút K, H, C, A?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9718b77f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9718b77f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Bao gồm 2 cl</a:t>
            </a:r>
            <a:r>
              <a:rPr lang="en"/>
              <a:t>ass: TreeNode, và Tree. Tree không thực sự cần thiết. Chỉ cần nút gốc là đủ rồi.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Lưu ý: thông thường một nút có thông tin về con, chứ con không có thông tin về cha.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d9d0d2d3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d9d0d2d3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19718b77f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19718b77f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 có phân biệt thứ tự!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Độ cao c</a:t>
            </a:r>
            <a:r>
              <a:rPr lang="en"/>
              <a:t>ủa complete/perfect binary tree là O(logN)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Số node của perfect binary tree: 2^H - 1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Complete binary tree: ứng dụng để biểu diễn heap!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9718b77f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9718b77f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d9d0d2d3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1d9d0d2d3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 và BFS là 2 nhóm phương pháp chính để duyệt cây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DFS: duyệt h</a:t>
            </a:r>
            <a:r>
              <a:rPr lang="en"/>
              <a:t>ết nhánh con (cây con) của một đỉnh</a:t>
            </a:r>
            <a:r>
              <a:rPr lang="en"/>
              <a:t> trước khi đi sang các đ</a:t>
            </a:r>
            <a:r>
              <a:rPr lang="en"/>
              <a:t>ỉnh anh/em với nó, tìm đường đi trong mê cung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BFS: duyệt theo thứ tự kh</a:t>
            </a:r>
            <a:r>
              <a:rPr lang="en"/>
              <a:t>oảng cách từ gốc,</a:t>
            </a:r>
            <a:r>
              <a:rPr lang="en"/>
              <a:t> tìm đường ngắn nhất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9718b77f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9718b77f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d9d0d2d3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d9d0d2d3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66e671e6f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66e671e6f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d9d0d2d3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d9d0d2d3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9718b77f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19718b77f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19718b77f6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19718b77f6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9718b77f6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19718b77f6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rgbClr val="EBF0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eetcode.com/problems/binary-tree-postorder-traversal/" TargetMode="External"/><Relationship Id="rId4" Type="http://schemas.openxmlformats.org/officeDocument/2006/relationships/hyperlink" Target="https://leetcode.com/problems/binary-tree-level-order-traversal/" TargetMode="External"/><Relationship Id="rId5" Type="http://schemas.openxmlformats.org/officeDocument/2006/relationships/hyperlink" Target="https://leetcode.com/problems/binary-tree-right-side-view/" TargetMode="External"/><Relationship Id="rId6" Type="http://schemas.openxmlformats.org/officeDocument/2006/relationships/hyperlink" Target="https://leetcode.com/problems/symmetric-tree/" TargetMode="External"/><Relationship Id="rId7" Type="http://schemas.openxmlformats.org/officeDocument/2006/relationships/hyperlink" Target="https://leetcode.com/problems/count-univalue-subtrees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eetcode.com/problems/diameter-of-binary-tree/" TargetMode="External"/><Relationship Id="rId4" Type="http://schemas.openxmlformats.org/officeDocument/2006/relationships/hyperlink" Target="https://leetcode.com/problems/binary-tree-zigzag-level-order-traversal/" TargetMode="External"/><Relationship Id="rId5" Type="http://schemas.openxmlformats.org/officeDocument/2006/relationships/hyperlink" Target="https://leetcode.com/problems/time-needed-to-inform-all-employe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/>
        </p:nvSpPr>
        <p:spPr>
          <a:xfrm>
            <a:off x="1321500" y="2171550"/>
            <a:ext cx="661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90F8"/>
                </a:solidFill>
                <a:latin typeface="Mulish Black"/>
                <a:ea typeface="Mulish Black"/>
                <a:cs typeface="Mulish Black"/>
                <a:sym typeface="Mulish Black"/>
              </a:rPr>
              <a:t>Cây</a:t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905350" y="4337750"/>
            <a:ext cx="3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3092550" y="14839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Future Software Engineers - FSE k04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4572000" y="0"/>
            <a:ext cx="4724100" cy="5143500"/>
          </a:xfrm>
          <a:prstGeom prst="rect">
            <a:avLst/>
          </a:prstGeom>
          <a:solidFill>
            <a:srgbClr val="0B3E6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Content</a:t>
            </a:r>
            <a:endParaRPr b="0" sz="32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76" name="Google Shape;76;p14"/>
          <p:cNvSpPr txBox="1"/>
          <p:nvPr>
            <p:ph idx="2" type="body"/>
          </p:nvPr>
        </p:nvSpPr>
        <p:spPr>
          <a:xfrm>
            <a:off x="4572000" y="724200"/>
            <a:ext cx="4572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Cây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DFS/BFS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Cây nhị phân tìm kiếm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Livecoding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Bài tập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2259600" y="1925250"/>
            <a:ext cx="4624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 Cây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Tree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1.1. Cây là gì?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266325"/>
            <a:ext cx="4401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Là tập hợp các nút (</a:t>
            </a:r>
            <a:r>
              <a:rPr b="1" lang="en">
                <a:solidFill>
                  <a:srgbClr val="0B3E64"/>
                </a:solidFill>
              </a:rPr>
              <a:t>node</a:t>
            </a:r>
            <a:r>
              <a:rPr lang="en">
                <a:solidFill>
                  <a:srgbClr val="0B3E64"/>
                </a:solidFill>
              </a:rPr>
              <a:t>), giữa các node có có quan hệ phân cấp cha-con. Mỗi </a:t>
            </a:r>
            <a:r>
              <a:rPr b="1" lang="en">
                <a:solidFill>
                  <a:srgbClr val="0B3E64"/>
                </a:solidFill>
              </a:rPr>
              <a:t>node</a:t>
            </a:r>
            <a:r>
              <a:rPr lang="en">
                <a:solidFill>
                  <a:srgbClr val="0B3E64"/>
                </a:solidFill>
              </a:rPr>
              <a:t> có thể chứa các trường thông tin, và danh sách các </a:t>
            </a:r>
            <a:r>
              <a:rPr b="1" lang="en">
                <a:solidFill>
                  <a:srgbClr val="0B3E64"/>
                </a:solidFill>
              </a:rPr>
              <a:t>node con của nó. </a:t>
            </a:r>
            <a:r>
              <a:rPr lang="en">
                <a:solidFill>
                  <a:srgbClr val="0B3E64"/>
                </a:solidFill>
              </a:rPr>
              <a:t>Thông thường, mỗi nút chứa thông tin gọi là khóa (</a:t>
            </a:r>
            <a:r>
              <a:rPr b="1" lang="en">
                <a:solidFill>
                  <a:srgbClr val="0B3E64"/>
                </a:solidFill>
              </a:rPr>
              <a:t>key</a:t>
            </a:r>
            <a:r>
              <a:rPr lang="en">
                <a:solidFill>
                  <a:srgbClr val="0B3E64"/>
                </a:solidFill>
              </a:rPr>
              <a:t>).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Cây được xác định bởi một nút đặc biệt gọi là gốc (</a:t>
            </a:r>
            <a:r>
              <a:rPr b="1" lang="en">
                <a:solidFill>
                  <a:srgbClr val="0B3E64"/>
                </a:solidFill>
              </a:rPr>
              <a:t>root</a:t>
            </a:r>
            <a:r>
              <a:rPr lang="en">
                <a:solidFill>
                  <a:srgbClr val="0B3E64"/>
                </a:solidFill>
              </a:rPr>
              <a:t>). 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425" y="1266325"/>
            <a:ext cx="3683800" cy="24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Ví dụ về cây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266325"/>
            <a:ext cx="4401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Cây thư mục trên máy tính. Node là các </a:t>
            </a:r>
            <a:r>
              <a:rPr b="1" lang="en">
                <a:solidFill>
                  <a:srgbClr val="0B3E64"/>
                </a:solidFill>
              </a:rPr>
              <a:t>thư mục</a:t>
            </a:r>
            <a:r>
              <a:rPr lang="en">
                <a:solidFill>
                  <a:srgbClr val="0B3E64"/>
                </a:solidFill>
              </a:rPr>
              <a:t>.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Mục lục của một cuốn sách. Node là các </a:t>
            </a:r>
            <a:r>
              <a:rPr b="1" lang="en">
                <a:solidFill>
                  <a:srgbClr val="0B3E64"/>
                </a:solidFill>
              </a:rPr>
              <a:t>phần/chương/mục</a:t>
            </a:r>
            <a:r>
              <a:rPr lang="en">
                <a:solidFill>
                  <a:srgbClr val="0B3E64"/>
                </a:solidFill>
              </a:rPr>
              <a:t>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Biểu thức số học gồm các phép toán cộng, trừ, nhân chia. Node là </a:t>
            </a:r>
            <a:r>
              <a:rPr b="1" lang="en">
                <a:solidFill>
                  <a:srgbClr val="0B3E64"/>
                </a:solidFill>
              </a:rPr>
              <a:t>[?]</a:t>
            </a:r>
            <a:r>
              <a:rPr lang="en">
                <a:solidFill>
                  <a:srgbClr val="0B3E64"/>
                </a:solidFill>
              </a:rPr>
              <a:t>, quan hệ là </a:t>
            </a:r>
            <a:r>
              <a:rPr b="1" lang="en">
                <a:solidFill>
                  <a:srgbClr val="0B3E64"/>
                </a:solidFill>
              </a:rPr>
              <a:t>[?]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000" y="1152425"/>
            <a:ext cx="4239275" cy="27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Các khái niệm cơ bản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266325"/>
            <a:ext cx="4671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Nếu có dãy (A1,.., An) sao cho A_i là cha của A_{i + 1}, thì A_i được gọi là tiền bối (</a:t>
            </a:r>
            <a:r>
              <a:rPr b="1" lang="en">
                <a:solidFill>
                  <a:srgbClr val="0B3E64"/>
                </a:solidFill>
              </a:rPr>
              <a:t>ancestor</a:t>
            </a:r>
            <a:r>
              <a:rPr lang="en">
                <a:solidFill>
                  <a:srgbClr val="0B3E64"/>
                </a:solidFill>
              </a:rPr>
              <a:t>) của A_j nếu i &lt; j. Ngược lại, A_j được gọi là hậu duệ (</a:t>
            </a:r>
            <a:r>
              <a:rPr b="1" lang="en">
                <a:solidFill>
                  <a:srgbClr val="0B3E64"/>
                </a:solidFill>
              </a:rPr>
              <a:t>descendant</a:t>
            </a:r>
            <a:r>
              <a:rPr lang="en">
                <a:solidFill>
                  <a:srgbClr val="0B3E64"/>
                </a:solidFill>
              </a:rPr>
              <a:t>) của A_i</a:t>
            </a:r>
            <a:endParaRPr>
              <a:solidFill>
                <a:srgbClr val="0B3E64"/>
              </a:solidFill>
            </a:endParaRPr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Node không có con gọi là lá (</a:t>
            </a:r>
            <a:r>
              <a:rPr b="1" lang="en">
                <a:solidFill>
                  <a:srgbClr val="0B3E64"/>
                </a:solidFill>
              </a:rPr>
              <a:t>leaf</a:t>
            </a:r>
            <a:r>
              <a:rPr lang="en">
                <a:solidFill>
                  <a:srgbClr val="0B3E64"/>
                </a:solidFill>
              </a:rPr>
              <a:t>)</a:t>
            </a:r>
            <a:endParaRPr>
              <a:solidFill>
                <a:srgbClr val="0B3E64"/>
              </a:solidFill>
            </a:endParaRPr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Độ cao (</a:t>
            </a:r>
            <a:r>
              <a:rPr b="1" lang="en">
                <a:solidFill>
                  <a:srgbClr val="0B3E64"/>
                </a:solidFill>
              </a:rPr>
              <a:t>height</a:t>
            </a:r>
            <a:r>
              <a:rPr lang="en">
                <a:solidFill>
                  <a:srgbClr val="0B3E64"/>
                </a:solidFill>
              </a:rPr>
              <a:t>) của một node là độ dài đường đi  dài nhất đến một node hậu duệ của nó. Độ cao của cây là độ cao của nút gốc.</a:t>
            </a:r>
            <a:endParaRPr>
              <a:solidFill>
                <a:srgbClr val="0B3E64"/>
              </a:solidFill>
            </a:endParaRPr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Độ sâu (</a:t>
            </a:r>
            <a:r>
              <a:rPr b="1" lang="en">
                <a:solidFill>
                  <a:srgbClr val="0B3E64"/>
                </a:solidFill>
              </a:rPr>
              <a:t>depth</a:t>
            </a:r>
            <a:r>
              <a:rPr lang="en">
                <a:solidFill>
                  <a:srgbClr val="0B3E64"/>
                </a:solidFill>
              </a:rPr>
              <a:t>) của một node là độ dài đường đi duy nhất từ gốc đến node đó.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425" y="1266325"/>
            <a:ext cx="32480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Biểu diễn cây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775" y="1543050"/>
            <a:ext cx="30670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850" y="1152425"/>
            <a:ext cx="3692148" cy="35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1.2. Cây nhị phân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549310" cy="3205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Một số loại cây nhị phân đặc biệt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266325"/>
            <a:ext cx="8669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Char char="●"/>
            </a:pPr>
            <a:r>
              <a:rPr lang="en" sz="1600">
                <a:solidFill>
                  <a:srgbClr val="0B3E64"/>
                </a:solidFill>
              </a:rPr>
              <a:t>Cây nhị phân (</a:t>
            </a:r>
            <a:r>
              <a:rPr b="1" lang="en" sz="1600">
                <a:solidFill>
                  <a:srgbClr val="0B3E64"/>
                </a:solidFill>
              </a:rPr>
              <a:t>binary tree</a:t>
            </a:r>
            <a:r>
              <a:rPr lang="en" sz="1600">
                <a:solidFill>
                  <a:srgbClr val="0B3E64"/>
                </a:solidFill>
              </a:rPr>
              <a:t>) là cây mà mỗi node có tối đa </a:t>
            </a:r>
            <a:r>
              <a:rPr b="1" lang="en" sz="1600">
                <a:solidFill>
                  <a:srgbClr val="0B3E64"/>
                </a:solidFill>
              </a:rPr>
              <a:t>hai </a:t>
            </a:r>
            <a:r>
              <a:rPr lang="en" sz="1600">
                <a:solidFill>
                  <a:srgbClr val="0B3E64"/>
                </a:solidFill>
              </a:rPr>
              <a:t>node con. Hai node con này được gọi là con </a:t>
            </a:r>
            <a:r>
              <a:rPr b="1" lang="en" sz="1600">
                <a:solidFill>
                  <a:srgbClr val="0B3E64"/>
                </a:solidFill>
              </a:rPr>
              <a:t>trái</a:t>
            </a:r>
            <a:r>
              <a:rPr lang="en" sz="1600">
                <a:solidFill>
                  <a:srgbClr val="0B3E64"/>
                </a:solidFill>
              </a:rPr>
              <a:t> và con </a:t>
            </a:r>
            <a:r>
              <a:rPr b="1" lang="en" sz="1600">
                <a:solidFill>
                  <a:srgbClr val="0B3E64"/>
                </a:solidFill>
              </a:rPr>
              <a:t>phải.</a:t>
            </a:r>
            <a:endParaRPr b="1" sz="1600">
              <a:solidFill>
                <a:srgbClr val="0B3E64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Char char="●"/>
            </a:pPr>
            <a:r>
              <a:rPr b="1" lang="en" sz="1600">
                <a:solidFill>
                  <a:srgbClr val="0B3E64"/>
                </a:solidFill>
              </a:rPr>
              <a:t>Complete binary tree: </a:t>
            </a:r>
            <a:r>
              <a:rPr lang="en" sz="1600">
                <a:solidFill>
                  <a:srgbClr val="0B3E64"/>
                </a:solidFill>
              </a:rPr>
              <a:t>là cây được điền đầy (theo thứ tự ưu tiên) từ trên xuống dưới, từ trái sang phải.</a:t>
            </a:r>
            <a:endParaRPr sz="1600">
              <a:solidFill>
                <a:srgbClr val="0B3E64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Char char="●"/>
            </a:pPr>
            <a:r>
              <a:rPr b="1" lang="en" sz="1600">
                <a:solidFill>
                  <a:srgbClr val="0B3E64"/>
                </a:solidFill>
              </a:rPr>
              <a:t>Full binary tree: </a:t>
            </a:r>
            <a:r>
              <a:rPr lang="en" sz="1600">
                <a:solidFill>
                  <a:srgbClr val="0B3E64"/>
                </a:solidFill>
              </a:rPr>
              <a:t>là cây mà mỗi node có 0 hoặc 2 nút con.</a:t>
            </a:r>
            <a:endParaRPr sz="1600">
              <a:solidFill>
                <a:srgbClr val="0B3E64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Char char="●"/>
            </a:pPr>
            <a:r>
              <a:rPr b="1" lang="en" sz="1600">
                <a:solidFill>
                  <a:srgbClr val="0B3E64"/>
                </a:solidFill>
              </a:rPr>
              <a:t>Perfect binary tree</a:t>
            </a:r>
            <a:r>
              <a:rPr lang="en" sz="1600">
                <a:solidFill>
                  <a:srgbClr val="0B3E64"/>
                </a:solidFill>
              </a:rPr>
              <a:t>:  là cây mà mỗi node không phải lá có đúng 2 node con, và tất cả các lá có cùng độ sâu.</a:t>
            </a:r>
            <a:endParaRPr sz="1600">
              <a:solidFill>
                <a:srgbClr val="0B3E64"/>
              </a:solidFill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325" y="3198025"/>
            <a:ext cx="4570824" cy="1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Duyệt cây nhị phân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aphicFrame>
        <p:nvGraphicFramePr>
          <p:cNvPr id="153" name="Google Shape;153;p22"/>
          <p:cNvGraphicFramePr/>
          <p:nvPr/>
        </p:nvGraphicFramePr>
        <p:xfrm>
          <a:off x="472800" y="1367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{C91B2214-597D-481F-8840-E9CB59871F4C}</a:tableStyleId>
              </a:tblPr>
              <a:tblGrid>
                <a:gridCol w="1203475"/>
                <a:gridCol w="1612075"/>
                <a:gridCol w="928075"/>
                <a:gridCol w="1745350"/>
              </a:tblGrid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Tên gọi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Thứ tự ưu tiên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Kỹ thuật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Ví dụ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Inorder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Trái &gt; Cha &gt; Phải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ABCDEFGHI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Preorder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 &gt; Trái &gt; Phải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FBADCEGIH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Postorder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Trái &gt; Phải &gt; Cha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ACEDBHIGF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8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Level-order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Từ trên xuống dưới, từ trái sang phải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BFS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FBGADICEH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650" y="2361950"/>
            <a:ext cx="28575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1652325" y="1925250"/>
            <a:ext cx="5889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DFS/BFS 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Tìm kiếm theo chiều sâu</a:t>
            </a:r>
            <a:endParaRPr sz="24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Tìm kiếm theo chiều rộng</a:t>
            </a:r>
            <a:endParaRPr sz="24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2.1. Depth-First Search (DFS)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311700" y="1266325"/>
            <a:ext cx="5009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3E64"/>
                </a:solidFill>
              </a:rPr>
              <a:t>Ví dụ: </a:t>
            </a:r>
            <a:r>
              <a:rPr lang="en">
                <a:solidFill>
                  <a:srgbClr val="0B3E64"/>
                </a:solidFill>
              </a:rPr>
              <a:t>(Preorder Traversal)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F. Thăm tất cả các con của F (B, G).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Duyệt B. Thăm tất cả các con của B</a:t>
            </a:r>
            <a:endParaRPr>
              <a:solidFill>
                <a:srgbClr val="0B3E64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romanLcPeriod"/>
            </a:pPr>
            <a:r>
              <a:rPr lang="en">
                <a:solidFill>
                  <a:srgbClr val="0B3E64"/>
                </a:solidFill>
              </a:rPr>
              <a:t>Duyệt A</a:t>
            </a:r>
            <a:endParaRPr>
              <a:solidFill>
                <a:srgbClr val="0B3E64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romanLcPeriod"/>
            </a:pPr>
            <a:r>
              <a:rPr lang="en">
                <a:solidFill>
                  <a:srgbClr val="0B3E64"/>
                </a:solidFill>
              </a:rPr>
              <a:t>Duyệt D. Thăm tất cả các con của D.</a:t>
            </a:r>
            <a:endParaRPr>
              <a:solidFill>
                <a:srgbClr val="0B3E64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C</a:t>
            </a:r>
            <a:endParaRPr>
              <a:solidFill>
                <a:srgbClr val="0B3E64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E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Duyệt G. Thăm tất cả các con của G</a:t>
            </a:r>
            <a:endParaRPr>
              <a:solidFill>
                <a:srgbClr val="0B3E64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romanLcPeriod"/>
            </a:pPr>
            <a:r>
              <a:rPr lang="en">
                <a:solidFill>
                  <a:srgbClr val="0B3E64"/>
                </a:solidFill>
              </a:rPr>
              <a:t>Duyệt I</a:t>
            </a:r>
            <a:endParaRPr>
              <a:solidFill>
                <a:srgbClr val="0B3E64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H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452563"/>
            <a:ext cx="28575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2.1. Depth-First Search (DFS)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311700" y="1266325"/>
            <a:ext cx="5009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3E64"/>
                </a:solidFill>
              </a:rPr>
              <a:t>Ví dụ: </a:t>
            </a:r>
            <a:r>
              <a:rPr lang="en">
                <a:solidFill>
                  <a:srgbClr val="0B3E64"/>
                </a:solidFill>
              </a:rPr>
              <a:t>(Inorder Traversal) </a:t>
            </a:r>
            <a:r>
              <a:rPr b="1" lang="en">
                <a:solidFill>
                  <a:srgbClr val="0B3E64"/>
                </a:solidFill>
              </a:rPr>
              <a:t>(Trái &gt; Cha &gt; Phải</a:t>
            </a:r>
            <a:r>
              <a:rPr lang="en">
                <a:solidFill>
                  <a:srgbClr val="0B3E64"/>
                </a:solidFill>
              </a:rPr>
              <a:t>)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Dãy: A, B, C, D, E, F, G, H, I.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5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452563"/>
            <a:ext cx="28575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2.1. Depth-First Search (DFS)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311700" y="1266325"/>
            <a:ext cx="5009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3E64"/>
                </a:solidFill>
              </a:rPr>
              <a:t>Ví dụ: </a:t>
            </a:r>
            <a:r>
              <a:rPr lang="en">
                <a:solidFill>
                  <a:srgbClr val="0B3E64"/>
                </a:solidFill>
              </a:rPr>
              <a:t>(Postorder Traversal) </a:t>
            </a:r>
            <a:r>
              <a:rPr b="1" lang="en">
                <a:solidFill>
                  <a:srgbClr val="0B3E64"/>
                </a:solidFill>
              </a:rPr>
              <a:t>(Trái &gt; Phải &gt; Cha</a:t>
            </a:r>
            <a:r>
              <a:rPr lang="en">
                <a:solidFill>
                  <a:srgbClr val="0B3E64"/>
                </a:solidFill>
              </a:rPr>
              <a:t>)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Dãy: A, C, E, D, B, H, I, G, F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90" name="Google Shape;1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452563"/>
            <a:ext cx="28575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2.1. Breadth-First Search (BFS)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96" name="Google Shape;196;p27"/>
          <p:cNvSpPr txBox="1"/>
          <p:nvPr>
            <p:ph idx="1" type="body"/>
          </p:nvPr>
        </p:nvSpPr>
        <p:spPr>
          <a:xfrm>
            <a:off x="311700" y="1266325"/>
            <a:ext cx="5009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Queue = [F]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F. Đưa các con của F vào queue. Queue = [</a:t>
            </a:r>
            <a:r>
              <a:rPr b="1" lang="en">
                <a:solidFill>
                  <a:srgbClr val="0B3E64"/>
                </a:solidFill>
              </a:rPr>
              <a:t>B</a:t>
            </a:r>
            <a:r>
              <a:rPr lang="en">
                <a:solidFill>
                  <a:srgbClr val="0B3E64"/>
                </a:solidFill>
              </a:rPr>
              <a:t>, G]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B. Đưa các con của B vào queue. Queue = [</a:t>
            </a:r>
            <a:r>
              <a:rPr b="1" lang="en">
                <a:solidFill>
                  <a:srgbClr val="0B3E64"/>
                </a:solidFill>
              </a:rPr>
              <a:t>G</a:t>
            </a:r>
            <a:r>
              <a:rPr lang="en">
                <a:solidFill>
                  <a:srgbClr val="0B3E64"/>
                </a:solidFill>
              </a:rPr>
              <a:t>, A, D]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G. Đưa các con của G vào queue. Queue = [</a:t>
            </a:r>
            <a:r>
              <a:rPr b="1" lang="en">
                <a:solidFill>
                  <a:srgbClr val="0B3E64"/>
                </a:solidFill>
              </a:rPr>
              <a:t>A</a:t>
            </a:r>
            <a:r>
              <a:rPr lang="en">
                <a:solidFill>
                  <a:srgbClr val="0B3E64"/>
                </a:solidFill>
              </a:rPr>
              <a:t>, D, I]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A. Queue = [</a:t>
            </a:r>
            <a:r>
              <a:rPr b="1" lang="en">
                <a:solidFill>
                  <a:srgbClr val="0B3E64"/>
                </a:solidFill>
              </a:rPr>
              <a:t>D, </a:t>
            </a:r>
            <a:r>
              <a:rPr lang="en">
                <a:solidFill>
                  <a:srgbClr val="0B3E64"/>
                </a:solidFill>
              </a:rPr>
              <a:t>I]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D. Queue = [</a:t>
            </a:r>
            <a:r>
              <a:rPr b="1" lang="en">
                <a:solidFill>
                  <a:srgbClr val="0B3E64"/>
                </a:solidFill>
              </a:rPr>
              <a:t>I, </a:t>
            </a:r>
            <a:r>
              <a:rPr lang="en">
                <a:solidFill>
                  <a:srgbClr val="0B3E64"/>
                </a:solidFill>
              </a:rPr>
              <a:t>C, E]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I. Queue = [</a:t>
            </a:r>
            <a:r>
              <a:rPr b="1" lang="en">
                <a:solidFill>
                  <a:srgbClr val="0B3E64"/>
                </a:solidFill>
              </a:rPr>
              <a:t>C</a:t>
            </a:r>
            <a:r>
              <a:rPr lang="en">
                <a:solidFill>
                  <a:srgbClr val="0B3E64"/>
                </a:solidFill>
              </a:rPr>
              <a:t>, E, H].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C. Queue = [</a:t>
            </a:r>
            <a:r>
              <a:rPr b="1" lang="en">
                <a:solidFill>
                  <a:srgbClr val="0B3E64"/>
                </a:solidFill>
              </a:rPr>
              <a:t>E, </a:t>
            </a:r>
            <a:r>
              <a:rPr lang="en">
                <a:solidFill>
                  <a:srgbClr val="0B3E64"/>
                </a:solidFill>
              </a:rPr>
              <a:t>H].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E. Queue = [</a:t>
            </a:r>
            <a:r>
              <a:rPr b="1" lang="en">
                <a:solidFill>
                  <a:srgbClr val="0B3E64"/>
                </a:solidFill>
              </a:rPr>
              <a:t>H</a:t>
            </a:r>
            <a:r>
              <a:rPr lang="en">
                <a:solidFill>
                  <a:srgbClr val="0B3E64"/>
                </a:solidFill>
              </a:rPr>
              <a:t>]</a:t>
            </a:r>
            <a:endParaRPr>
              <a:solidFill>
                <a:srgbClr val="0B3E64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AutoNum type="arabicPeriod"/>
            </a:pPr>
            <a:r>
              <a:rPr lang="en">
                <a:solidFill>
                  <a:srgbClr val="0B3E64"/>
                </a:solidFill>
              </a:rPr>
              <a:t>Duyệt H.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452563"/>
            <a:ext cx="28575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Livecoding: DFS + BFS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311700" y="1266325"/>
            <a:ext cx="8369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https://leetcode.com/problems/binary-tree-postorder-traversal/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https://leetcode.com/problems/binary-tree-level-order-traversal/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https://leetcode.com/problems/binary-tree-right-side-view/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https://leetcode.com/problems/symmetric-tree/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https://leetcode.com/problems/count-univalue-subtrees/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/>
        </p:nvSpPr>
        <p:spPr>
          <a:xfrm>
            <a:off x="2259600" y="2156475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311700" y="1266325"/>
            <a:ext cx="8431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</a:rPr>
              <a:t>1.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https://leetcode.com/problems/diameter-of-binary-tree/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</a:rPr>
              <a:t>2.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https://leetcode.com/problems/binary-tree-zigzag-level-order-traversal/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3.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https://leetcode.com/problems/time-needed-to-inform-all-employees/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0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Cây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