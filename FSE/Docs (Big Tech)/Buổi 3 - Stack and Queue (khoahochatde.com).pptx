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Mulish"/>
      <p:regular r:id="rId39"/>
      <p:bold r:id="rId40"/>
      <p:italic r:id="rId41"/>
      <p:boldItalic r:id="rId42"/>
    </p:embeddedFont>
    <p:embeddedFont>
      <p:font typeface="PT Sans Narrow"/>
      <p:regular r:id="rId43"/>
      <p:bold r:id="rId44"/>
    </p:embeddedFont>
    <p:embeddedFont>
      <p:font typeface="Mulish ExtraBold"/>
      <p:bold r:id="rId45"/>
      <p:boldItalic r:id="rId46"/>
    </p:embeddedFont>
    <p:embeddedFont>
      <p:font typeface="Mulish Black"/>
      <p:bold r:id="rId47"/>
      <p:boldItalic r:id="rId48"/>
    </p:embeddedFont>
    <p:embeddedFont>
      <p:font typeface="Mulish Medium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4473DB-57C2-4AB3-AE9D-1AB3E1AF3303}">
  <a:tblStyle styleId="{894473DB-57C2-4AB3-AE9D-1AB3E1AF33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ulish-bold.fntdata"/><Relationship Id="rId42" Type="http://schemas.openxmlformats.org/officeDocument/2006/relationships/font" Target="fonts/Mulish-boldItalic.fntdata"/><Relationship Id="rId41" Type="http://schemas.openxmlformats.org/officeDocument/2006/relationships/font" Target="fonts/Mulish-italic.fntdata"/><Relationship Id="rId44" Type="http://schemas.openxmlformats.org/officeDocument/2006/relationships/font" Target="fonts/PTSansNarrow-bold.fntdata"/><Relationship Id="rId43" Type="http://schemas.openxmlformats.org/officeDocument/2006/relationships/font" Target="fonts/PTSansNarrow-regular.fntdata"/><Relationship Id="rId46" Type="http://schemas.openxmlformats.org/officeDocument/2006/relationships/font" Target="fonts/MulishExtraBold-boldItalic.fntdata"/><Relationship Id="rId45" Type="http://schemas.openxmlformats.org/officeDocument/2006/relationships/font" Target="fonts/Mulish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ulishBlack-boldItalic.fntdata"/><Relationship Id="rId47" Type="http://schemas.openxmlformats.org/officeDocument/2006/relationships/font" Target="fonts/MulishBlack-bold.fntdata"/><Relationship Id="rId49" Type="http://schemas.openxmlformats.org/officeDocument/2006/relationships/font" Target="fonts/Mulish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Mulish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ulishMedium-italic.fntdata"/><Relationship Id="rId50" Type="http://schemas.openxmlformats.org/officeDocument/2006/relationships/font" Target="fonts/MulishMedium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Mulish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OpenSans-italic.fntdata"/><Relationship Id="rId10" Type="http://schemas.openxmlformats.org/officeDocument/2006/relationships/slide" Target="slides/slide4.xml"/><Relationship Id="rId54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ackoverflow.com/questions/6256983/how-are-deques-in-python-implemented-and-when-are-they-worse-than-lists/6257048#6257048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5a1e507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5a1e50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Một trong những CTDL cơ bản, hay được h</a:t>
            </a:r>
            <a:r>
              <a:rPr lang="en"/>
              <a:t>ỏi nhất trong interview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Là tiền đề cho nhiều thuật toán cơ bản và nâng cao sau này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a1e507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5a1e507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ecde8b696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ecde8b696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Đặt tấm vải m</a:t>
            </a:r>
            <a:r>
              <a:rPr lang="en"/>
              <a:t>ới lên trên/ </a:t>
            </a:r>
            <a:r>
              <a:rPr lang="en"/>
              <a:t>Lấy tấm vải ở trên trước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04d82c70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04d82c70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7ead979a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7ead979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7ead979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7ead979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issue: pop when empty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7ead979a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7ead979a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7ead979a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17ead979a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not any particular programming language, treat this as pseudocode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Assumption: push is void function and pop return top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7ead979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7ead979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Tuyệt đại đa số trường hợp: sử dụng Python l</a:t>
            </a:r>
            <a:r>
              <a:rPr lang="en"/>
              <a:t>ist (trừ khi có yêu cầu đặc biệt, chẳng hạn thêm/xóa phần tử ở vị trí cụ thể trong O(1)).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17ead979a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17ead979a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trong Python: dynamic array, add and pop at the end: O(1) ammortized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7ead979a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7ead979a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Đó là trên lý thuyết. Nếu sử dụng Python l</a:t>
            </a:r>
            <a:r>
              <a:rPr lang="en"/>
              <a:t>ist để cài stack thì vẫn ok.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7ead979a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7ead979a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Livecoding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7ead979a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7ead979a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Livecoding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7ead979a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7ead979a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Livecoding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5a1e5077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5a1e5077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7ead979a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17ead979a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Hàng đợi: đi vào trước thì đi ra trước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Mục tiêu: các thao tác enqu</a:t>
            </a:r>
            <a:r>
              <a:rPr lang="en"/>
              <a:t>eue(), deque(), peek() đều trong O(1)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7ead979a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7ead979a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7ead979a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7ead979a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7ead979a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7ead979a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issue: dequeue when empty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17ead979a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17ead979a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7ead979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17ead979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not any particular programming language, treat this as pseudocode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7ead979a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7ead979a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not any particular programming language, treat this as pseudocode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7ead979a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7ead979a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Có thể sử dụng stack để impl</a:t>
            </a:r>
            <a:r>
              <a:rPr lang="en"/>
              <a:t>ement queue (bài tập)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Doubly Linked List: cho phép access cả hai đầu của list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7ead979a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7ead979a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17ead979a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17ead979a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Not a problem with dequ</a:t>
            </a:r>
            <a:r>
              <a:rPr lang="en"/>
              <a:t>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https://stackoverflow.com/questions/6256983/how-are-deques-in-python-implemented-and-when-are-they-worse-than-lists/6257048#6257048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Python deque is implemented as doubly linked list of blocks of elements. </a:t>
            </a:r>
            <a:r>
              <a:rPr lang="en"/>
              <a:t>Random</a:t>
            </a:r>
            <a:r>
              <a:rPr lang="en"/>
              <a:t> access: technically O(N)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7ead979a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7ead979a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7ead979a4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7ead979a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Livecoding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33c7971ff7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33c7971ff7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</a:t>
            </a:r>
            <a:r>
              <a:rPr lang="en"/>
              <a:t>of thumbs: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Cần chỉ stack: Dùng list (vì có hỗ trợ random access)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Cần queue hoặc cả queue lẫn stack: Dùng deque. Lưu ý: ko hỗ trợ random access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5a1e5077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5a1e5077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ecde8b696e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ecde8b696e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33d65e38a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33d65e38a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valid-parenthese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min-stack/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eetcode.com/problems/number-of-recent-calls/" TargetMode="External"/><Relationship Id="rId4" Type="http://schemas.openxmlformats.org/officeDocument/2006/relationships/hyperlink" Target="https://leetcode.com/problems/reveal-cards-in-increasing-order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eetcode.com/problems/implement-stack-using-queues/" TargetMode="External"/><Relationship Id="rId4" Type="http://schemas.openxmlformats.org/officeDocument/2006/relationships/hyperlink" Target="https://leetcode.com/problems/implement-queue-using-stacks/" TargetMode="External"/><Relationship Id="rId5" Type="http://schemas.openxmlformats.org/officeDocument/2006/relationships/hyperlink" Target="https://leetcode.com/problems/design-circular-queue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pastebin.pl/view/0382d33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1321500" y="2171550"/>
            <a:ext cx="661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Stack and Queue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Content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572000" y="1192250"/>
            <a:ext cx="4533000" cy="303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Stack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	1.1-1.5. Lý thuyết chung về Stack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	1.6. Livecoding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Queue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	2</a:t>
            </a:r>
            <a:r>
              <a:rPr lang="en" sz="1600">
                <a:latin typeface="Mulish"/>
                <a:ea typeface="Mulish"/>
                <a:cs typeface="Mulish"/>
                <a:sym typeface="Mulish"/>
              </a:rPr>
              <a:t>.1-2.5. Lý thuyết chung về Queue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	2.6. Livecoding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Homework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2259600" y="22023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 Stack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1.1. Stack là gì?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Stack là cấu trúc dữ liệu </a:t>
            </a:r>
            <a:r>
              <a:rPr b="1" lang="en">
                <a:solidFill>
                  <a:srgbClr val="0B3E64"/>
                </a:solidFill>
              </a:rPr>
              <a:t>Last In First Out (LIFO)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Ý nghĩa: các phần tử được truy cập theo chiều ngược với thứ tự được thêm vào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Người dùng stack chỉ có thể </a:t>
            </a:r>
            <a:r>
              <a:rPr b="1" lang="en">
                <a:solidFill>
                  <a:srgbClr val="0B3E64"/>
                </a:solidFill>
              </a:rPr>
              <a:t>push </a:t>
            </a:r>
            <a:r>
              <a:rPr lang="en">
                <a:solidFill>
                  <a:srgbClr val="0B3E64"/>
                </a:solidFill>
              </a:rPr>
              <a:t>1 phần tử mới hoặc </a:t>
            </a:r>
            <a:r>
              <a:rPr b="1" lang="en">
                <a:solidFill>
                  <a:srgbClr val="0B3E64"/>
                </a:solidFill>
              </a:rPr>
              <a:t>pop</a:t>
            </a:r>
            <a:r>
              <a:rPr lang="en">
                <a:solidFill>
                  <a:srgbClr val="0B3E64"/>
                </a:solidFill>
              </a:rPr>
              <a:t>/</a:t>
            </a:r>
            <a:r>
              <a:rPr b="1" lang="en">
                <a:solidFill>
                  <a:srgbClr val="0B3E64"/>
                </a:solidFill>
              </a:rPr>
              <a:t>peek</a:t>
            </a:r>
            <a:r>
              <a:rPr lang="en">
                <a:solidFill>
                  <a:srgbClr val="0B3E64"/>
                </a:solidFill>
              </a:rPr>
              <a:t> phần tử cuối cùng mới được thêm vào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Các thao tác cơ bản: push(), pop(), peek(), isEmpty(), isFull()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401" y="1340075"/>
            <a:ext cx="3424052" cy="2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647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Thao tác trên Stack: PEEK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Kiểm tra giá trị của phần tử trên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top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của stack trong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dụ: PEEK returns 100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463" y="2155375"/>
            <a:ext cx="2089075" cy="21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Stack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PUSH - O(1)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Thêm 1 phần tử mới vào top của stack trong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: PUSH(5)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538" y="2259250"/>
            <a:ext cx="4922925" cy="24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Stack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POP - O(1)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266325"/>
            <a:ext cx="4759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Xoá bỏ phần tử trên top của stack trong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: POP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sẽ xoá bỏ phần tử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100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và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cập nhật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top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pointer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 1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POP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có thể hoặc không trả lại giá trị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(100 in this case)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phụ thuộc vào cách cài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197" y="1749846"/>
            <a:ext cx="3949949" cy="164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Stack: Other operations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IS_EMPTY: kiểm tra stack có rỗng không trong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SIZE: return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số phần tử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t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stack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trong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Stack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Quiz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66325"/>
            <a:ext cx="4260300" cy="3622500"/>
          </a:xfrm>
          <a:prstGeom prst="rect">
            <a:avLst/>
          </a:prstGeom>
          <a:ln cap="flat" cmpd="sng" w="9525">
            <a:solidFill>
              <a:srgbClr val="2D3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Những giá trị sẽ được in ra là gì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?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Init new stack S                        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S.push(11)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S.push(2)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S.push(6)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S.pop()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S.push(7)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S.pop()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S.peek()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S.size()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5346950" y="1586113"/>
            <a:ext cx="3062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A.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11, 2, 6, 7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B. 6, 7, 2, 2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C. 11, 2, 6, 2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D. None of the above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1.3. Stack implementation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Sử dụng dynamic array (list trong Python)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Sử dụng linked list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1.4. Built-in stack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trong các ngôn ngữ lập trình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Python: list, queue.LifoQueue, collections.deque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C++: stack (from &lt;stack&gt; header)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Java: java.util.Stack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1.5.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Hạn chế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của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stack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ct val="1000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Stack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không phải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một cấu trúc dữ liệu cho phép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random access,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một vòng for đơn thuần dựa vào index sẽ không được phép khi duyệt stack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range(stack.size()): 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# do something with stack[i]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# this is wrong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rgbClr val="0B3E64"/>
              </a:buClr>
              <a:buSzPct val="1000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Thay vào đó chúng ta truy ta truy cập từng phần tử một 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		</a:t>
            </a:r>
            <a:r>
              <a:rPr lang="en">
                <a:solidFill>
                  <a:schemeClr val="accent5"/>
                </a:solidFill>
                <a:latin typeface="Mulish"/>
                <a:ea typeface="Mulish"/>
                <a:cs typeface="Mulish"/>
                <a:sym typeface="Mulish"/>
              </a:rPr>
              <a:t>while not stack.isEmpty():</a:t>
            </a:r>
            <a:endParaRPr>
              <a:solidFill>
                <a:schemeClr val="accent5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Mulish"/>
                <a:ea typeface="Mulish"/>
                <a:cs typeface="Mulish"/>
                <a:sym typeface="Mulish"/>
              </a:rPr>
              <a:t>	// do something with stack.pop()</a:t>
            </a:r>
            <a:endParaRPr>
              <a:solidFill>
                <a:schemeClr val="accent5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1.6.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Valid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Parentheses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3"/>
              </a:rPr>
              <a:t>https://leetcode.com/problems/valid-parentheses/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Given a string consisting of just characters '(', ')', '[', ']', '{', '}'. Determine whether the string is valid 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dụ: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Font typeface="Mulish"/>
              <a:buChar char="○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{[()]}[] -&gt; true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Font typeface="Mulish"/>
              <a:buChar char="○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{{{{]]]] -&gt; false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1.6. Livecoding: Min Stack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3"/>
              </a:rPr>
              <a:t>https://leetcode.com/problems/min-stack/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Problem statement: Implement a stack of integers supporting additional operation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min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, which returns the current minimum item in the stack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Example: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min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will return 1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463" y="2713300"/>
            <a:ext cx="2089075" cy="21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1.7.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Tổng kết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Stack là cấu trúc dữ liệu LIFO 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Các thao tác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952500" y="221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{894473DB-57C2-4AB3-AE9D-1AB3E1AF3303}</a:tableStyleId>
              </a:tblPr>
              <a:tblGrid>
                <a:gridCol w="1693675"/>
                <a:gridCol w="5545325"/>
              </a:tblGrid>
              <a:tr h="30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thêm phần tử lên top của stack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xoá</a:t>
                      </a:r>
                      <a:r>
                        <a:rPr lang="en"/>
                        <a:t> </a:t>
                      </a:r>
                      <a:r>
                        <a:rPr lang="en"/>
                        <a:t>phần tử</a:t>
                      </a:r>
                      <a:r>
                        <a:rPr lang="en"/>
                        <a:t> </a:t>
                      </a:r>
                      <a:r>
                        <a:rPr lang="en"/>
                        <a:t>khỏi</a:t>
                      </a:r>
                      <a:r>
                        <a:rPr lang="en"/>
                        <a:t> top </a:t>
                      </a:r>
                      <a:r>
                        <a:rPr lang="en"/>
                        <a:t>của</a:t>
                      </a:r>
                      <a:r>
                        <a:rPr lang="en"/>
                        <a:t> stack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PEEK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kiểm tra giá trị phần tử trên top của stack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IS_EMPTY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kiểm tra nếu stack rỗng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trả về số phần tử hiện tại trong stack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1597350" y="2202300"/>
            <a:ext cx="594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 Queue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Queue là gì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Queue</a:t>
            </a:r>
            <a:r>
              <a:rPr lang="en">
                <a:solidFill>
                  <a:srgbClr val="0B3E64"/>
                </a:solidFill>
              </a:rPr>
              <a:t> </a:t>
            </a:r>
            <a:r>
              <a:rPr lang="en">
                <a:solidFill>
                  <a:srgbClr val="0B3E64"/>
                </a:solidFill>
              </a:rPr>
              <a:t>là cấu trúc dữ liệu</a:t>
            </a:r>
            <a:r>
              <a:rPr lang="en">
                <a:solidFill>
                  <a:srgbClr val="0B3E64"/>
                </a:solidFill>
              </a:rPr>
              <a:t> </a:t>
            </a:r>
            <a:r>
              <a:rPr b="1" lang="en">
                <a:solidFill>
                  <a:srgbClr val="0B3E64"/>
                </a:solidFill>
              </a:rPr>
              <a:t>First</a:t>
            </a:r>
            <a:r>
              <a:rPr b="1" lang="en">
                <a:solidFill>
                  <a:srgbClr val="0B3E64"/>
                </a:solidFill>
              </a:rPr>
              <a:t> In First Out (FIFO)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Ý nghĩa</a:t>
            </a:r>
            <a:r>
              <a:rPr lang="en">
                <a:solidFill>
                  <a:srgbClr val="0B3E64"/>
                </a:solidFill>
              </a:rPr>
              <a:t>: </a:t>
            </a:r>
            <a:r>
              <a:rPr lang="en">
                <a:solidFill>
                  <a:srgbClr val="0B3E64"/>
                </a:solidFill>
              </a:rPr>
              <a:t>các phần tử được truy cập theo thứ tự được thêm vào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</a:rPr>
              <a:t>Người dùng</a:t>
            </a:r>
            <a:r>
              <a:rPr lang="en">
                <a:solidFill>
                  <a:srgbClr val="0B3E64"/>
                </a:solidFill>
              </a:rPr>
              <a:t> queue </a:t>
            </a:r>
            <a:r>
              <a:rPr lang="en">
                <a:solidFill>
                  <a:srgbClr val="0B3E64"/>
                </a:solidFill>
              </a:rPr>
              <a:t>chỉ có thể</a:t>
            </a:r>
            <a:r>
              <a:rPr lang="en">
                <a:solidFill>
                  <a:srgbClr val="0B3E64"/>
                </a:solidFill>
              </a:rPr>
              <a:t> </a:t>
            </a:r>
            <a:r>
              <a:rPr b="1" lang="en">
                <a:solidFill>
                  <a:srgbClr val="0B3E64"/>
                </a:solidFill>
              </a:rPr>
              <a:t>enqueue</a:t>
            </a:r>
            <a:r>
              <a:rPr b="1" lang="en">
                <a:solidFill>
                  <a:srgbClr val="0B3E64"/>
                </a:solidFill>
              </a:rPr>
              <a:t> </a:t>
            </a:r>
            <a:r>
              <a:rPr lang="en">
                <a:solidFill>
                  <a:srgbClr val="0B3E64"/>
                </a:solidFill>
              </a:rPr>
              <a:t>1 phần tử mới</a:t>
            </a:r>
            <a:r>
              <a:rPr b="1" lang="en">
                <a:solidFill>
                  <a:srgbClr val="0B3E64"/>
                </a:solidFill>
              </a:rPr>
              <a:t> </a:t>
            </a:r>
            <a:r>
              <a:rPr lang="en">
                <a:solidFill>
                  <a:srgbClr val="0B3E64"/>
                </a:solidFill>
              </a:rPr>
              <a:t>hoặc</a:t>
            </a:r>
            <a:r>
              <a:rPr lang="en">
                <a:solidFill>
                  <a:srgbClr val="0B3E64"/>
                </a:solidFill>
              </a:rPr>
              <a:t> </a:t>
            </a:r>
            <a:r>
              <a:rPr b="1" lang="en">
                <a:solidFill>
                  <a:srgbClr val="0B3E64"/>
                </a:solidFill>
              </a:rPr>
              <a:t>dequeue</a:t>
            </a:r>
            <a:r>
              <a:rPr lang="en">
                <a:solidFill>
                  <a:srgbClr val="0B3E64"/>
                </a:solidFill>
              </a:rPr>
              <a:t>/</a:t>
            </a:r>
            <a:r>
              <a:rPr b="1" lang="en">
                <a:solidFill>
                  <a:srgbClr val="0B3E64"/>
                </a:solidFill>
              </a:rPr>
              <a:t>peek</a:t>
            </a:r>
            <a:r>
              <a:rPr lang="en">
                <a:solidFill>
                  <a:srgbClr val="0B3E64"/>
                </a:solidFill>
              </a:rPr>
              <a:t> </a:t>
            </a:r>
            <a:r>
              <a:rPr lang="en">
                <a:solidFill>
                  <a:srgbClr val="0B3E64"/>
                </a:solidFill>
              </a:rPr>
              <a:t>phần tử đầu tiên được add vào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000" y="1531488"/>
            <a:ext cx="4161050" cy="20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4647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PEEK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Kiểm tra giá trị phần tử ở phía trước của queue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: PEEK returns 26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26" name="Google Shape;2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050" y="2407200"/>
            <a:ext cx="3377875" cy="15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ENQUEUE - O(1)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32" name="Google Shape;232;p31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Thêm 1 phần tử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vào phía sau của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queue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: ENQUEUE(100)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376" y="2173300"/>
            <a:ext cx="2866250" cy="23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DEQUEUE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311700" y="1266325"/>
            <a:ext cx="6115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Xoá bỏ phần tử ở phía trước của queue trong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Ví dụ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: DEQUEUE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sẽ xoá bỏ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26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và cập nhật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front pointer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tới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3</a:t>
            </a:r>
            <a:endParaRPr b="1"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DEQUEUE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có thể hoặc không trả lại giá trị tuỳ thuộc vào cách implement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2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46" name="Google Shape;2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300" y="1152425"/>
            <a:ext cx="2417749" cy="24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Other operations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IS_EMPTY: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kiểm tra queue có rỗng không trong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SIZE: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trả về số phần tử trong queue trong O(1)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Quiz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311700" y="1266325"/>
            <a:ext cx="4260300" cy="3622500"/>
          </a:xfrm>
          <a:prstGeom prst="rect">
            <a:avLst/>
          </a:prstGeom>
          <a:ln cap="flat" cmpd="sng" w="9525">
            <a:solidFill>
              <a:srgbClr val="2D3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Kết quả được in ra là gì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?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Init new queue Q                        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Q.enqueue(11) [11]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Q.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enqueue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(2)  [11, 2]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Q.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enqueue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(6)  [11, 2, 6]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Q.dequeue() #11, [2, 6]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Q.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enqueue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(7)  [2, 6, 7]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Q.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dequeue</a:t>
            </a: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() #2, [6, 7]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Q.peek() #6, [6, 7]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Q.size() #2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5346950" y="1586113"/>
            <a:ext cx="3062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A. 11, 2, 6, 7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B. 6, 7, 2, 2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C. 11, 2, 6, 2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D. None of the above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Thao tác trên Queue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: Another Quiz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311700" y="1266325"/>
            <a:ext cx="4260300" cy="3622500"/>
          </a:xfrm>
          <a:prstGeom prst="rect">
            <a:avLst/>
          </a:prstGeom>
          <a:ln cap="flat" cmpd="sng" w="9525">
            <a:solidFill>
              <a:srgbClr val="2D3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Kết quả được in ra là gì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?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Init new queue Q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For i from 1 to 4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Q.enqueue(i)     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#[1, 2, 3, 4]                   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For i from 0 to Q.size() - 1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	print Q.peek()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	Q.dequeue()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#1, [2, 3, 4], 2, [3, 4], 3, [4], 4, []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print Q.size()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#0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B3E64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200">
              <a:solidFill>
                <a:srgbClr val="0B3E6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5346950" y="1586113"/>
            <a:ext cx="3062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A. 1,2,2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B. 1,2,3,4,0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C. 4,3,2,1,0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D. None of the above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.3. Queue implementation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81" name="Google Shape;281;p3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Sử dụng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dynamic array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Sử dụng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linked list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.4. Built-in queue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trong các ngôn ngữ lập trình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7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Python: collections.deque (recommended), queue.Queue (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support multithreading)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C++: queue (from &lt;queue&gt; header)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Java: java.util.Queue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.5.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Hạn chế của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queue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38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Tương tự như stack, queue không support random access (không chỉ trên lí thuyết)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Queue cần được duyệt theo từng phần tử một</a:t>
            </a:r>
            <a:endParaRPr>
              <a:solidFill>
                <a:schemeClr val="accent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.6.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39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3"/>
              </a:rPr>
              <a:t>https://leetcode.com/problems/number-of-recent-calls/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4"/>
              </a:rPr>
              <a:t>https://leetcode.com/problems/reveal-cards-in-increasing-order/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.7.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Tổng kết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40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Queue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là cấu trúc dữ liệu</a:t>
            </a: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 FIFO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Các thao tác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321" name="Google Shape;321;p40"/>
          <p:cNvGraphicFramePr/>
          <p:nvPr/>
        </p:nvGraphicFramePr>
        <p:xfrm>
          <a:off x="952500" y="221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{894473DB-57C2-4AB3-AE9D-1AB3E1AF3303}</a:tableStyleId>
              </a:tblPr>
              <a:tblGrid>
                <a:gridCol w="1693675"/>
                <a:gridCol w="5545325"/>
              </a:tblGrid>
              <a:tr h="30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ENQUEUE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thêm 1 phần tử vào phía sau của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DEQUEUE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xoá</a:t>
                      </a:r>
                      <a:r>
                        <a:rPr lang="en"/>
                        <a:t> 1 phần tử ở phía trước của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PEEK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</a:t>
                      </a:r>
                      <a:r>
                        <a:rPr lang="en"/>
                        <a:t>gía trị phần tử ở phía trước của</a:t>
                      </a:r>
                      <a:r>
                        <a:rPr lang="en"/>
                        <a:t>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IS_EMPTY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kiểm tra nếu queue rỗng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số phần tử trong queue hiện tại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2.7. Tổng kết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27" name="Google Shape;327;p4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1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Queue là cấu trúc dữ liệu FIFO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Font typeface="Mulish"/>
              <a:buChar char="●"/>
            </a:pPr>
            <a:r>
              <a:rPr lang="en">
                <a:solidFill>
                  <a:srgbClr val="0B3E64"/>
                </a:solidFill>
                <a:latin typeface="Mulish"/>
                <a:ea typeface="Mulish"/>
                <a:cs typeface="Mulish"/>
                <a:sym typeface="Mulish"/>
              </a:rPr>
              <a:t>Các thao tác</a:t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aphicFrame>
        <p:nvGraphicFramePr>
          <p:cNvPr id="331" name="Google Shape;331;p41"/>
          <p:cNvGraphicFramePr/>
          <p:nvPr/>
        </p:nvGraphicFramePr>
        <p:xfrm>
          <a:off x="952500" y="221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{894473DB-57C2-4AB3-AE9D-1AB3E1AF3303}</a:tableStyleId>
              </a:tblPr>
              <a:tblGrid>
                <a:gridCol w="1693675"/>
                <a:gridCol w="5545325"/>
              </a:tblGrid>
              <a:tr h="30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ENQUEUE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thêm 1 phần tử vào phía sau của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DEQUEUE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xoá 1 phần tử ở phía trước của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PEEK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gía trị phần tử ở phía trước của queue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IS_EMPTY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kiểm tra nếu queue rỗng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số phần tử trong queue hiện tại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 txBox="1"/>
          <p:nvPr/>
        </p:nvSpPr>
        <p:spPr>
          <a:xfrm>
            <a:off x="1094850" y="1925250"/>
            <a:ext cx="69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 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37" name="Google Shape;33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B3E64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 for practice</a:t>
            </a:r>
            <a:endParaRPr b="0" sz="2000">
              <a:solidFill>
                <a:srgbClr val="0B3E64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https://leetcode.com/problems/implement-stack-using-queues/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https://leetcode.com/problems/implement-queue-using-stacks/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https://leetcode.com/problems/design-circular-queue/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Git: https://classroom.github.com/a/xZshIBrn</a:t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43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B3E64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Source code:</a:t>
            </a:r>
            <a:endParaRPr b="0" sz="2000">
              <a:solidFill>
                <a:srgbClr val="0B3E64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52" name="Google Shape;352;p4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Coding: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https://pastebin.pl/view/0382d33b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Homework: https://pastebin.com/sKtq5UhK</a:t>
            </a:r>
            <a:endParaRPr/>
          </a:p>
        </p:txBody>
      </p:sp>
      <p:sp>
        <p:nvSpPr>
          <p:cNvPr id="353" name="Google Shape;353;p4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4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Stack and Queue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