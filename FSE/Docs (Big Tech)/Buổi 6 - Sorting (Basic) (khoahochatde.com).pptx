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Mulish"/>
      <p:regular r:id="rId33"/>
      <p:bold r:id="rId34"/>
      <p:italic r:id="rId35"/>
      <p:boldItalic r:id="rId36"/>
    </p:embeddedFont>
    <p:embeddedFont>
      <p:font typeface="Roboto"/>
      <p:regular r:id="rId37"/>
      <p:bold r:id="rId38"/>
      <p:italic r:id="rId39"/>
      <p:boldItalic r:id="rId40"/>
    </p:embeddedFont>
    <p:embeddedFont>
      <p:font typeface="PT Sans Narrow"/>
      <p:regular r:id="rId41"/>
      <p:bold r:id="rId42"/>
    </p:embeddedFont>
    <p:embeddedFont>
      <p:font typeface="Mulish ExtraBold"/>
      <p:bold r:id="rId43"/>
      <p:boldItalic r:id="rId44"/>
    </p:embeddedFont>
    <p:embeddedFont>
      <p:font typeface="Mulish Black"/>
      <p:bold r:id="rId45"/>
      <p:boldItalic r:id="rId46"/>
    </p:embeddedFont>
    <p:embeddedFont>
      <p:font typeface="Mulish Medium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974B74-E5A0-4A25-818D-C90C90B60A41}">
  <a:tblStyle styleId="{09974B74-E5A0-4A25-818D-C90C90B60A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PTSansNarrow-bold.fntdata"/><Relationship Id="rId41" Type="http://schemas.openxmlformats.org/officeDocument/2006/relationships/font" Target="fonts/PTSansNarrow-regular.fntdata"/><Relationship Id="rId44" Type="http://schemas.openxmlformats.org/officeDocument/2006/relationships/font" Target="fonts/MulishExtraBold-boldItalic.fntdata"/><Relationship Id="rId43" Type="http://schemas.openxmlformats.org/officeDocument/2006/relationships/font" Target="fonts/MulishExtraBold-bold.fntdata"/><Relationship Id="rId46" Type="http://schemas.openxmlformats.org/officeDocument/2006/relationships/font" Target="fonts/MulishBlack-boldItalic.fntdata"/><Relationship Id="rId45" Type="http://schemas.openxmlformats.org/officeDocument/2006/relationships/font" Target="fonts/Mulish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ulishMedium-bold.fntdata"/><Relationship Id="rId47" Type="http://schemas.openxmlformats.org/officeDocument/2006/relationships/font" Target="fonts/MulishMedium-regular.fntdata"/><Relationship Id="rId49" Type="http://schemas.openxmlformats.org/officeDocument/2006/relationships/font" Target="fonts/MulishMedium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Mulish-regular.fntdata"/><Relationship Id="rId32" Type="http://schemas.openxmlformats.org/officeDocument/2006/relationships/slide" Target="slides/slide26.xml"/><Relationship Id="rId35" Type="http://schemas.openxmlformats.org/officeDocument/2006/relationships/font" Target="fonts/Mulish-italic.fntdata"/><Relationship Id="rId34" Type="http://schemas.openxmlformats.org/officeDocument/2006/relationships/font" Target="fonts/Mulish-bold.fntdata"/><Relationship Id="rId37" Type="http://schemas.openxmlformats.org/officeDocument/2006/relationships/font" Target="fonts/Roboto-regular.fntdata"/><Relationship Id="rId36" Type="http://schemas.openxmlformats.org/officeDocument/2006/relationships/font" Target="fonts/Mulish-boldItalic.fntdata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regular.fntdata"/><Relationship Id="rId50" Type="http://schemas.openxmlformats.org/officeDocument/2006/relationships/font" Target="fonts/MulishMedium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eetcode.com/problems/count-of-smaller-numbers-after-self/description/" TargetMode="External"/><Relationship Id="rId3" Type="http://schemas.openxmlformats.org/officeDocument/2006/relationships/hyperlink" Target="https://leetcode.com/problems/merge-k-sorted-lists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eetcode.com/problems/kth-largest-element-in-an-array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15a1e507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15a1e507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ecde8b696e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ecde8b696e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15a1e5077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15a1e5077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9de4602c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9de4602c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coding here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62a1cc62e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62a1cc62e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Notes: Dijkstra </a:t>
            </a:r>
            <a:r>
              <a:rPr lang="en"/>
              <a:t>cũng follow cái tư tưởng này.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19de4602c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19de4602c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62a1cc62e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62a1cc62e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19de4602c4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19de4602c4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73E8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https://leetcode.com/problems/count-of-smaller-numbers-after-self/description/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73E8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https://leetcode.com/problems/merge-k-sorted-lists/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19de4602c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19de4602c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fbc6458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fbc6458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19de4602c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19de4602c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9de4602c4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19de4602c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19de4602c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119de4602c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9de4602c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19de4602c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19de4602c4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119de4602c4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9de4602c4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19de4602c4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19de4602c4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19de4602c4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19de4602c4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19de4602c4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Merge sort and Quick sort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https://leetcode.com/playground/73n28geF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9de4602c4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19de4602c4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A73E8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https://leetcode.com/problems/kth-largest-element-in-an-array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19718b77f6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19718b77f6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19de4602c4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19de4602c4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64f014863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64f01486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19de4602c4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19de4602c4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Lưu ý: Khi mình dùng 1 bulit-in sort trong 1 bài toán cụ thể mà ko cần yêu cầu code lại 1 thuật toán cụ thể, có thể assume sort là thuật toán O(nlogn)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62a1cc62eb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62a1cc62eb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19de4602c4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19de4602c4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19718b77f6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19718b77f6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rgbClr val="EBF0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eetcode.com/problems/pancake-sorting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eetcode.com/problems/merge-sorted-array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etcode.com/problems/sort-an-array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eetcode.com/problems/sort-color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leetcode.com/problems/largest-number/" TargetMode="External"/><Relationship Id="rId4" Type="http://schemas.openxmlformats.org/officeDocument/2006/relationships/hyperlink" Target="https://leetcode.com/problems/merge-sorted-array/" TargetMode="External"/><Relationship Id="rId5" Type="http://schemas.openxmlformats.org/officeDocument/2006/relationships/hyperlink" Target="https://leetcode.com/problems/sort-characters-by-frequency/" TargetMode="External"/><Relationship Id="rId6" Type="http://schemas.openxmlformats.org/officeDocument/2006/relationships/hyperlink" Target="https://leetcode.com/problems/sort-list/" TargetMode="External"/><Relationship Id="rId7" Type="http://schemas.openxmlformats.org/officeDocument/2006/relationships/hyperlink" Target="https://leetcode.com/problems/merge-interv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6F6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/>
        </p:nvSpPr>
        <p:spPr>
          <a:xfrm>
            <a:off x="1321500" y="2171550"/>
            <a:ext cx="6614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90F8"/>
                </a:solidFill>
                <a:latin typeface="Mulish Black"/>
                <a:ea typeface="Mulish Black"/>
                <a:cs typeface="Mulish Black"/>
                <a:sym typeface="Mulish Black"/>
              </a:rPr>
              <a:t>Sorting - basic</a:t>
            </a:r>
            <a:endParaRPr sz="4000">
              <a:solidFill>
                <a:srgbClr val="0090F8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905350" y="4337750"/>
            <a:ext cx="333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3E64"/>
              </a:solidFill>
              <a:latin typeface="Mulish Medium"/>
              <a:ea typeface="Mulish Medium"/>
              <a:cs typeface="Mulish Medium"/>
              <a:sym typeface="Mulish Medium"/>
            </a:endParaRPr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092550" y="1483975"/>
            <a:ext cx="295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ulish"/>
                <a:ea typeface="Mulish"/>
                <a:cs typeface="Mulish"/>
                <a:sym typeface="Mulish"/>
              </a:rPr>
              <a:t>Future Software Engineers</a:t>
            </a:r>
            <a:endParaRPr sz="1200"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4572000" y="0"/>
            <a:ext cx="4724100" cy="5143500"/>
          </a:xfrm>
          <a:prstGeom prst="rect">
            <a:avLst/>
          </a:prstGeom>
          <a:solidFill>
            <a:srgbClr val="0B3E6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Content</a:t>
            </a:r>
            <a:endParaRPr b="0" sz="32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76" name="Google Shape;76;p14"/>
          <p:cNvSpPr txBox="1"/>
          <p:nvPr>
            <p:ph idx="2" type="body"/>
          </p:nvPr>
        </p:nvSpPr>
        <p:spPr>
          <a:xfrm>
            <a:off x="4572000" y="724200"/>
            <a:ext cx="4572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Selection sort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Merge sort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Quick sort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Live coding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"/>
              <a:buAutoNum type="arabicPeriod"/>
            </a:pPr>
            <a:r>
              <a:rPr lang="en" sz="1600">
                <a:latin typeface="Mulish"/>
                <a:ea typeface="Mulish"/>
                <a:cs typeface="Mulish"/>
                <a:sym typeface="Mulish"/>
              </a:rPr>
              <a:t>Homework</a:t>
            </a:r>
            <a:endParaRPr sz="1600"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7209150" y="65375"/>
            <a:ext cx="1812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E9E9E"/>
                </a:solidFill>
                <a:latin typeface="Mulish"/>
                <a:ea typeface="Mulish"/>
                <a:cs typeface="Mulish"/>
                <a:sym typeface="Mulish"/>
              </a:rPr>
              <a:t>Sorting-basic</a:t>
            </a:r>
            <a:endParaRPr sz="1000">
              <a:solidFill>
                <a:srgbClr val="9E9E9E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1977150" y="616250"/>
            <a:ext cx="5189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Bài toán: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Cho 1 dãy số nguyên, hãy sắp xếp dãy đó theo thứ tự không giảm.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Selection sort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408100" y="1077975"/>
            <a:ext cx="484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Open Sans"/>
                <a:ea typeface="Open Sans"/>
                <a:cs typeface="Open Sans"/>
                <a:sym typeface="Open Sans"/>
              </a:rPr>
              <a:t>Ý tưởng: Tìm phần tử nhỏ nhất của dãy, và ném phần tử đó về đầu dãy.</a:t>
            </a:r>
            <a:endParaRPr b="1" sz="1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523600" y="2255675"/>
            <a:ext cx="3857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Khởi tạo giá trị current_index là 0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Iterate qua array, tìm phần tử nhỏ nhất, giả sử phần tử đó ở vị trí min_index.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Swap 2 phần tử ở vị trí current_index và 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min_index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Tăng current_index lên 1.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Lặp lại cho đến khi dãy được sort.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700" y="908575"/>
            <a:ext cx="3488600" cy="399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 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311700" y="1232000"/>
            <a:ext cx="718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hlink"/>
                </a:solidFill>
                <a:hlinkClick r:id="rId3"/>
              </a:rPr>
              <a:t>https://leetcode.com/problems/pancake-sorting/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11700" y="1266325"/>
            <a:ext cx="4506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Ý tưởng: sort các dãy con và merge chúng lại.</a:t>
            </a:r>
            <a:endParaRPr b="1"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Chia đôi list cần sort thành 2 phần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Sort mỗi phần dùng recursion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Merge 2 phần đã sort lại</a:t>
            </a:r>
            <a:endParaRPr>
              <a:solidFill>
                <a:srgbClr val="0B3E6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Bài toán cơ bản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266325"/>
            <a:ext cx="8359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https://leetcode.com/problems/merge-sorted-array/</a:t>
            </a:r>
            <a:endParaRPr>
              <a:solidFill>
                <a:srgbClr val="0B3E6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Sort: Ví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dụ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038" y="1403375"/>
            <a:ext cx="62579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Sort: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Ví dụ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13" y="1347650"/>
            <a:ext cx="67341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 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66325"/>
            <a:ext cx="8359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https://leetcode.com/problems/sort-an-array/</a:t>
            </a:r>
            <a:endParaRPr>
              <a:solidFill>
                <a:srgbClr val="0B3E6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/>
          <p:nvPr/>
        </p:nvSpPr>
        <p:spPr>
          <a:xfrm>
            <a:off x="847400" y="1734200"/>
            <a:ext cx="7725000" cy="89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Sort: Time Complexity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453250" y="1172550"/>
            <a:ext cx="83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53250" y="1256475"/>
            <a:ext cx="8379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Gọi T(n) là số phép tính để giải bài toán size n, khi đó T(n) &lt;= 2T(n/2) + cn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54" name="Google Shape;154;p23"/>
          <p:cNvSpPr/>
          <p:nvPr/>
        </p:nvSpPr>
        <p:spPr>
          <a:xfrm>
            <a:off x="2831175" y="26249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5475850" y="26249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4217575" y="19156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/>
              <a:t>n</a:t>
            </a: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4791375" y="350650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6105850" y="350650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3461175" y="35858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1935125" y="35858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cxnSp>
        <p:nvCxnSpPr>
          <p:cNvPr id="161" name="Google Shape;161;p23"/>
          <p:cNvCxnSpPr>
            <a:stCxn id="156" idx="4"/>
            <a:endCxn id="154" idx="6"/>
          </p:cNvCxnSpPr>
          <p:nvPr/>
        </p:nvCxnSpPr>
        <p:spPr>
          <a:xfrm flipH="1">
            <a:off x="3461275" y="2571750"/>
            <a:ext cx="10713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>
            <a:stCxn id="156" idx="4"/>
            <a:endCxn id="155" idx="2"/>
          </p:cNvCxnSpPr>
          <p:nvPr/>
        </p:nvCxnSpPr>
        <p:spPr>
          <a:xfrm>
            <a:off x="4532575" y="2571750"/>
            <a:ext cx="9432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3"/>
          <p:cNvCxnSpPr>
            <a:stCxn id="154" idx="4"/>
            <a:endCxn id="160" idx="7"/>
          </p:cNvCxnSpPr>
          <p:nvPr/>
        </p:nvCxnSpPr>
        <p:spPr>
          <a:xfrm flipH="1">
            <a:off x="2472975" y="3281050"/>
            <a:ext cx="673200" cy="4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3"/>
          <p:cNvCxnSpPr>
            <a:stCxn id="154" idx="4"/>
            <a:endCxn id="159" idx="0"/>
          </p:cNvCxnSpPr>
          <p:nvPr/>
        </p:nvCxnSpPr>
        <p:spPr>
          <a:xfrm>
            <a:off x="3146175" y="3281050"/>
            <a:ext cx="6300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3"/>
          <p:cNvCxnSpPr>
            <a:stCxn id="155" idx="4"/>
            <a:endCxn id="157" idx="7"/>
          </p:cNvCxnSpPr>
          <p:nvPr/>
        </p:nvCxnSpPr>
        <p:spPr>
          <a:xfrm flipH="1">
            <a:off x="5329150" y="3281050"/>
            <a:ext cx="461700" cy="3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3"/>
          <p:cNvCxnSpPr>
            <a:stCxn id="155" idx="4"/>
            <a:endCxn id="158" idx="0"/>
          </p:cNvCxnSpPr>
          <p:nvPr/>
        </p:nvCxnSpPr>
        <p:spPr>
          <a:xfrm>
            <a:off x="5790850" y="3281050"/>
            <a:ext cx="630000" cy="2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23"/>
          <p:cNvSpPr txBox="1"/>
          <p:nvPr/>
        </p:nvSpPr>
        <p:spPr>
          <a:xfrm>
            <a:off x="6735850" y="1979450"/>
            <a:ext cx="102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Tầng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1: cn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/>
          <p:nvPr/>
        </p:nvSpPr>
        <p:spPr>
          <a:xfrm>
            <a:off x="817825" y="2571750"/>
            <a:ext cx="8060100" cy="89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Sort: Time Complexity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4"/>
          <p:cNvSpPr txBox="1"/>
          <p:nvPr/>
        </p:nvSpPr>
        <p:spPr>
          <a:xfrm>
            <a:off x="453250" y="1172550"/>
            <a:ext cx="83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453250" y="1256475"/>
            <a:ext cx="8379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Gọi T(n) là số phép tính để giải bài toán size n, khi đó T(n) &lt;= 2T(n/2) + cn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2831175" y="26249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5475850" y="26249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4217575" y="19156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n</a:t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4791375" y="350650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6105850" y="350650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3461175" y="35858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1935125" y="35858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cxnSp>
        <p:nvCxnSpPr>
          <p:cNvPr id="185" name="Google Shape;185;p24"/>
          <p:cNvCxnSpPr>
            <a:stCxn id="180" idx="4"/>
            <a:endCxn id="178" idx="6"/>
          </p:cNvCxnSpPr>
          <p:nvPr/>
        </p:nvCxnSpPr>
        <p:spPr>
          <a:xfrm flipH="1">
            <a:off x="3461275" y="2571750"/>
            <a:ext cx="10713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4"/>
          <p:cNvCxnSpPr>
            <a:stCxn id="180" idx="4"/>
            <a:endCxn id="179" idx="2"/>
          </p:cNvCxnSpPr>
          <p:nvPr/>
        </p:nvCxnSpPr>
        <p:spPr>
          <a:xfrm>
            <a:off x="4532575" y="2571750"/>
            <a:ext cx="9432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4"/>
          <p:cNvCxnSpPr>
            <a:stCxn id="178" idx="4"/>
            <a:endCxn id="184" idx="7"/>
          </p:cNvCxnSpPr>
          <p:nvPr/>
        </p:nvCxnSpPr>
        <p:spPr>
          <a:xfrm flipH="1">
            <a:off x="2472975" y="3281050"/>
            <a:ext cx="673200" cy="4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4"/>
          <p:cNvCxnSpPr>
            <a:stCxn id="178" idx="4"/>
            <a:endCxn id="183" idx="0"/>
          </p:cNvCxnSpPr>
          <p:nvPr/>
        </p:nvCxnSpPr>
        <p:spPr>
          <a:xfrm>
            <a:off x="3146175" y="3281050"/>
            <a:ext cx="6300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4"/>
          <p:cNvCxnSpPr>
            <a:stCxn id="179" idx="4"/>
            <a:endCxn id="181" idx="7"/>
          </p:cNvCxnSpPr>
          <p:nvPr/>
        </p:nvCxnSpPr>
        <p:spPr>
          <a:xfrm flipH="1">
            <a:off x="5329150" y="3281050"/>
            <a:ext cx="461700" cy="3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4"/>
          <p:cNvCxnSpPr>
            <a:stCxn id="179" idx="4"/>
            <a:endCxn id="182" idx="0"/>
          </p:cNvCxnSpPr>
          <p:nvPr/>
        </p:nvCxnSpPr>
        <p:spPr>
          <a:xfrm>
            <a:off x="5790850" y="3281050"/>
            <a:ext cx="630000" cy="2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4"/>
          <p:cNvSpPr txBox="1"/>
          <p:nvPr/>
        </p:nvSpPr>
        <p:spPr>
          <a:xfrm>
            <a:off x="6735850" y="2878700"/>
            <a:ext cx="21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Tầng 2: cn/2 * 2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= cn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/>
          <p:nvPr/>
        </p:nvSpPr>
        <p:spPr>
          <a:xfrm>
            <a:off x="772200" y="3468538"/>
            <a:ext cx="8060100" cy="89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Sort: Time Complexity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/>
        </p:nvSpPr>
        <p:spPr>
          <a:xfrm>
            <a:off x="453250" y="1172550"/>
            <a:ext cx="83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453250" y="1256475"/>
            <a:ext cx="8379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3E64"/>
                </a:solidFill>
              </a:rPr>
              <a:t>Gọi T(n) là số phép tính để giải bài toán size n, khi đó T(n) &lt;= 2T(n/2) + cn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2831175" y="26249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5475850" y="26249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4217575" y="19156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n</a:t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4791375" y="350650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6105850" y="350650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3461175" y="35858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1935125" y="3585850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/4</a:t>
            </a:r>
            <a:endParaRPr/>
          </a:p>
        </p:txBody>
      </p:sp>
      <p:cxnSp>
        <p:nvCxnSpPr>
          <p:cNvPr id="209" name="Google Shape;209;p25"/>
          <p:cNvCxnSpPr>
            <a:stCxn id="204" idx="4"/>
            <a:endCxn id="202" idx="6"/>
          </p:cNvCxnSpPr>
          <p:nvPr/>
        </p:nvCxnSpPr>
        <p:spPr>
          <a:xfrm flipH="1">
            <a:off x="3461275" y="2571750"/>
            <a:ext cx="10713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5"/>
          <p:cNvCxnSpPr>
            <a:stCxn id="204" idx="4"/>
            <a:endCxn id="203" idx="2"/>
          </p:cNvCxnSpPr>
          <p:nvPr/>
        </p:nvCxnSpPr>
        <p:spPr>
          <a:xfrm>
            <a:off x="4532575" y="2571750"/>
            <a:ext cx="9432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5"/>
          <p:cNvCxnSpPr>
            <a:stCxn id="202" idx="4"/>
            <a:endCxn id="208" idx="7"/>
          </p:cNvCxnSpPr>
          <p:nvPr/>
        </p:nvCxnSpPr>
        <p:spPr>
          <a:xfrm flipH="1">
            <a:off x="2472975" y="3281050"/>
            <a:ext cx="673200" cy="4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5"/>
          <p:cNvCxnSpPr>
            <a:stCxn id="202" idx="4"/>
            <a:endCxn id="207" idx="0"/>
          </p:cNvCxnSpPr>
          <p:nvPr/>
        </p:nvCxnSpPr>
        <p:spPr>
          <a:xfrm>
            <a:off x="3146175" y="3281050"/>
            <a:ext cx="6300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5"/>
          <p:cNvCxnSpPr>
            <a:stCxn id="203" idx="4"/>
            <a:endCxn id="205" idx="7"/>
          </p:cNvCxnSpPr>
          <p:nvPr/>
        </p:nvCxnSpPr>
        <p:spPr>
          <a:xfrm flipH="1">
            <a:off x="5329150" y="3281050"/>
            <a:ext cx="461700" cy="3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5"/>
          <p:cNvCxnSpPr>
            <a:stCxn id="203" idx="4"/>
            <a:endCxn id="206" idx="0"/>
          </p:cNvCxnSpPr>
          <p:nvPr/>
        </p:nvCxnSpPr>
        <p:spPr>
          <a:xfrm>
            <a:off x="5790850" y="3281050"/>
            <a:ext cx="630000" cy="2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25"/>
          <p:cNvSpPr txBox="1"/>
          <p:nvPr/>
        </p:nvSpPr>
        <p:spPr>
          <a:xfrm>
            <a:off x="6794975" y="3634450"/>
            <a:ext cx="19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Tầng 3: cn/4 * 4= cn 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Merge Sort: Time Complexity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453250" y="1172550"/>
            <a:ext cx="830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453250" y="1433850"/>
            <a:ext cx="4779000" cy="3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Gọi T(n) là số phép tính để giải bài toán size n, khi đó T(n) &lt;= 2T(n/2) + cn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Khi đó mỗi tầng đóng góp ~cn phép tính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Có log(n) tầng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b="1" lang="en">
                <a:solidFill>
                  <a:srgbClr val="0B3E64"/>
                </a:solidFill>
              </a:rPr>
              <a:t>T(n) ~ cnlog(n) = O(nlogn)</a:t>
            </a:r>
            <a:endParaRPr b="1"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5176300" y="262788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7820975" y="262788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n/2</a:t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6562700" y="191858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n</a:t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7136500" y="350943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>
            <a:off x="8450975" y="350943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>
            <a:off x="5806300" y="358878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n/4</a:t>
            </a:r>
            <a:endParaRPr/>
          </a:p>
        </p:txBody>
      </p:sp>
      <p:sp>
        <p:nvSpPr>
          <p:cNvPr id="231" name="Google Shape;231;p26"/>
          <p:cNvSpPr/>
          <p:nvPr/>
        </p:nvSpPr>
        <p:spPr>
          <a:xfrm>
            <a:off x="4280250" y="3588788"/>
            <a:ext cx="630000" cy="65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/4</a:t>
            </a:r>
            <a:endParaRPr/>
          </a:p>
        </p:txBody>
      </p:sp>
      <p:cxnSp>
        <p:nvCxnSpPr>
          <p:cNvPr id="232" name="Google Shape;232;p26"/>
          <p:cNvCxnSpPr>
            <a:stCxn id="227" idx="4"/>
            <a:endCxn id="225" idx="6"/>
          </p:cNvCxnSpPr>
          <p:nvPr/>
        </p:nvCxnSpPr>
        <p:spPr>
          <a:xfrm flipH="1">
            <a:off x="5806400" y="2574688"/>
            <a:ext cx="10713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6"/>
          <p:cNvCxnSpPr>
            <a:stCxn id="227" idx="4"/>
            <a:endCxn id="226" idx="2"/>
          </p:cNvCxnSpPr>
          <p:nvPr/>
        </p:nvCxnSpPr>
        <p:spPr>
          <a:xfrm>
            <a:off x="6877700" y="2574688"/>
            <a:ext cx="943200" cy="38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6"/>
          <p:cNvCxnSpPr>
            <a:stCxn id="225" idx="4"/>
            <a:endCxn id="231" idx="7"/>
          </p:cNvCxnSpPr>
          <p:nvPr/>
        </p:nvCxnSpPr>
        <p:spPr>
          <a:xfrm flipH="1">
            <a:off x="4818100" y="3283988"/>
            <a:ext cx="673200" cy="4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6"/>
          <p:cNvCxnSpPr>
            <a:stCxn id="225" idx="4"/>
            <a:endCxn id="230" idx="0"/>
          </p:cNvCxnSpPr>
          <p:nvPr/>
        </p:nvCxnSpPr>
        <p:spPr>
          <a:xfrm>
            <a:off x="5491300" y="3283988"/>
            <a:ext cx="6300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26"/>
          <p:cNvCxnSpPr>
            <a:stCxn id="226" idx="4"/>
            <a:endCxn id="228" idx="7"/>
          </p:cNvCxnSpPr>
          <p:nvPr/>
        </p:nvCxnSpPr>
        <p:spPr>
          <a:xfrm flipH="1">
            <a:off x="7674275" y="3283988"/>
            <a:ext cx="461700" cy="3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6"/>
          <p:cNvCxnSpPr>
            <a:stCxn id="226" idx="4"/>
            <a:endCxn id="229" idx="0"/>
          </p:cNvCxnSpPr>
          <p:nvPr/>
        </p:nvCxnSpPr>
        <p:spPr>
          <a:xfrm>
            <a:off x="8135975" y="3283988"/>
            <a:ext cx="630000" cy="2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Quick Sort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43" name="Google Shape;243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3E64"/>
                </a:solidFill>
              </a:rPr>
              <a:t>Ý tưởng: Đưa phần tử về đúng vị trí của nó.</a:t>
            </a:r>
            <a:endParaRPr b="1"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Ở mỗi bước, chọn một số k bất kì trong arr, có thể là số cuối cùng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Đặt số đó vào đúng vị trí như trong dãy đã sort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Khi đó bên trái k là các số nhỏ hơn k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Bên phải k là các số lớn hơn k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Sort các số bên trái k + Sort các số bên phải k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Quick Sort: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Ví dụ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275" y="1035325"/>
            <a:ext cx="5089601" cy="37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Quick Sort: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Time Complexity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311700" y="1266325"/>
            <a:ext cx="3629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3E64"/>
                </a:solidFill>
              </a:rPr>
              <a:t>Ở mỗi bước của quicksort, bài toán con có thể có size không đều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60" name="Google Shape;260;p29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800" y="1047175"/>
            <a:ext cx="4791826" cy="38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Quick Sort: Time Complexity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68" name="Google Shape;268;p30"/>
          <p:cNvSpPr txBox="1"/>
          <p:nvPr>
            <p:ph idx="1" type="body"/>
          </p:nvPr>
        </p:nvSpPr>
        <p:spPr>
          <a:xfrm>
            <a:off x="311700" y="1266325"/>
            <a:ext cx="3629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3E64"/>
                </a:solidFill>
              </a:rPr>
              <a:t>Với worst case, khi mà tất cả các lần chọn pivot đều chọn số nhỏ nhất/lớn nhất thì time complexity là O(n^2)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475" y="1140763"/>
            <a:ext cx="4907663" cy="35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Livecoding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77" name="Google Shape;277;p31"/>
          <p:cNvSpPr txBox="1"/>
          <p:nvPr>
            <p:ph idx="1" type="body"/>
          </p:nvPr>
        </p:nvSpPr>
        <p:spPr>
          <a:xfrm>
            <a:off x="311700" y="1266325"/>
            <a:ext cx="837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https://leetcode.com/problems/sort-colors/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/>
          <p:nvPr/>
        </p:nvSpPr>
        <p:spPr>
          <a:xfrm>
            <a:off x="2259600" y="2156475"/>
            <a:ext cx="4624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Một số thuật toán sort khác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85" name="Google Shape;28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Sort </a:t>
            </a: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dùng data structure đặc biệt: Heap Sort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291" name="Google Shape;291;p33"/>
          <p:cNvSpPr txBox="1"/>
          <p:nvPr>
            <p:ph idx="1" type="body"/>
          </p:nvPr>
        </p:nvSpPr>
        <p:spPr>
          <a:xfrm>
            <a:off x="29350" y="1254050"/>
            <a:ext cx="5653800" cy="31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Bài giảng chi tiết về Heap sẽ có 1 buổi riêng</a:t>
            </a:r>
            <a:r>
              <a:rPr lang="en">
                <a:solidFill>
                  <a:srgbClr val="0B3E64"/>
                </a:solidFill>
              </a:rPr>
              <a:t> 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Các thao tác trên heap: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Kiểm tra phần tử có ưu tiên cao nhất: O(1)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Thêm 1 phần tử vào heap: O(logn)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Bỏ phần tử có ưu tiên cao nhất: O(logn)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Xây dựng 1 heap từ n phần tử: O(nlogn)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Sort dùng heap: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Bước 1: Xây dựng min heap từ n số cho trước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Bước 2: Lần lượt pop phần tử nhỏ nhất từ heap ra đến khi heap rỗng</a:t>
            </a:r>
            <a:endParaRPr>
              <a:solidFill>
                <a:srgbClr val="0B3E6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400"/>
              <a:buAutoNum type="alphaLcPeriod"/>
            </a:pPr>
            <a:r>
              <a:rPr lang="en">
                <a:solidFill>
                  <a:srgbClr val="0B3E64"/>
                </a:solidFill>
              </a:rPr>
              <a:t>Complexity: O(nlogn)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4" name="Google Shape;2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175" y="1304825"/>
            <a:ext cx="3387425" cy="29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Heap sort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00" name="Google Shape;300;p34"/>
          <p:cNvSpPr txBox="1"/>
          <p:nvPr>
            <p:ph idx="1" type="body"/>
          </p:nvPr>
        </p:nvSpPr>
        <p:spPr>
          <a:xfrm>
            <a:off x="29350" y="1254050"/>
            <a:ext cx="5653800" cy="31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3" name="Google Shape;3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50" y="1055900"/>
            <a:ext cx="8296775" cy="37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Tổng kết về sorting algorithms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11" name="Google Shape;311;p35"/>
          <p:cNvGraphicFramePr/>
          <p:nvPr/>
        </p:nvGraphicFramePr>
        <p:xfrm>
          <a:off x="408000" y="94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{09974B74-E5A0-4A25-818D-C90C90B60A41}</a:tableStyleId>
              </a:tblPr>
              <a:tblGrid>
                <a:gridCol w="1665600"/>
                <a:gridCol w="1665600"/>
                <a:gridCol w="1665600"/>
                <a:gridCol w="1665600"/>
                <a:gridCol w="1665600"/>
              </a:tblGrid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in Average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in Best case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in Worst case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Selection</a:t>
                      </a:r>
                      <a:r>
                        <a:rPr lang="en"/>
                        <a:t>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O(n^2)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O(n^2)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O(n^2)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O(1)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2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Merge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0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Quick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O(n^2) (có thể randomly select pivot để cải thiện)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O(logn)</a:t>
                      </a:r>
                      <a:r>
                        <a:rPr lang="en"/>
                        <a:t>. Worst case la O(n)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03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Heap 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O(nlogn)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O(n) </a:t>
                      </a:r>
                      <a:r>
                        <a:rPr lang="en"/>
                        <a:t>hoặc O(1) nếu dùng chính array ban đầu làm heap??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Tổng kết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17" name="Google Shape;317;p36"/>
          <p:cNvSpPr txBox="1"/>
          <p:nvPr>
            <p:ph idx="1" type="body"/>
          </p:nvPr>
        </p:nvSpPr>
        <p:spPr>
          <a:xfrm>
            <a:off x="311700" y="1256475"/>
            <a:ext cx="8379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Ý tưởng đưa phần tử nhỏ nhất/lớn nhất về đầu/cuối dãy (selection sort).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Sort các dãy con và merge chúng lại (merge sort).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>
                <a:solidFill>
                  <a:srgbClr val="0B3E64"/>
                </a:solidFill>
              </a:rPr>
              <a:t>Đưa phần tử về đúng vị trí của nó (quick sort).</a:t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318" name="Google Shape;318;p36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0F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"/>
          <p:cNvSpPr txBox="1"/>
          <p:nvPr/>
        </p:nvSpPr>
        <p:spPr>
          <a:xfrm>
            <a:off x="2259600" y="2156475"/>
            <a:ext cx="4624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sz="3600">
              <a:solidFill>
                <a:schemeClr val="lt1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25" name="Google Shape;3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EBF0F3"/>
                </a:solidFill>
              </a:rPr>
              <a:t>‹#›</a:t>
            </a:fld>
            <a:endParaRPr>
              <a:solidFill>
                <a:srgbClr val="EBF0F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/>
          <p:nvPr>
            <p:ph idx="1" type="body"/>
          </p:nvPr>
        </p:nvSpPr>
        <p:spPr>
          <a:xfrm>
            <a:off x="311700" y="1342525"/>
            <a:ext cx="8431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https://leetcode.com/problems/largest-number/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https://leetcode.com/problems/merge-sorted-array/</a:t>
            </a:r>
            <a:r>
              <a:rPr lang="en"/>
              <a:t> (with O(1) space)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https://leetcode.com/problems/sort-characters-by-frequency/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https://leetcode.com/problems/sort-list/</a:t>
            </a:r>
            <a:endParaRPr>
              <a:solidFill>
                <a:srgbClr val="0B3E6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B3E64"/>
              </a:buClr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https://leetcode.com/problems/merge-intervals/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(optional)</a:t>
            </a:r>
            <a:endParaRPr>
              <a:solidFill>
                <a:srgbClr val="0B3E64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B3E64"/>
              </a:solidFill>
            </a:endParaRPr>
          </a:p>
        </p:txBody>
      </p:sp>
      <p:sp>
        <p:nvSpPr>
          <p:cNvPr id="331" name="Google Shape;331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rgbClr val="0090F8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Homework</a:t>
            </a:r>
            <a:endParaRPr b="0" sz="2400">
              <a:solidFill>
                <a:srgbClr val="0090F8"/>
              </a:solidFill>
              <a:latin typeface="Mulish ExtraBold"/>
              <a:ea typeface="Mulish ExtraBold"/>
              <a:cs typeface="Mulish ExtraBold"/>
              <a:sym typeface="Mulish ExtraBold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0" y="5011050"/>
            <a:ext cx="9144000" cy="133800"/>
          </a:xfrm>
          <a:prstGeom prst="rect">
            <a:avLst/>
          </a:prstGeom>
          <a:solidFill>
            <a:srgbClr val="0090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