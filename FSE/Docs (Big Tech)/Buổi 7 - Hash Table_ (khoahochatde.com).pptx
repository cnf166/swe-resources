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Mulish"/>
      <p:regular r:id="rId18"/>
      <p:bold r:id="rId19"/>
      <p:italic r:id="rId20"/>
      <p:boldItalic r:id="rId21"/>
    </p:embeddedFont>
    <p:embeddedFont>
      <p:font typeface="Mulish ExtraBold"/>
      <p:bold r:id="rId22"/>
      <p:boldItalic r:id="rId23"/>
    </p:embeddedFont>
    <p:embeddedFont>
      <p:font typeface="Mulish Black"/>
      <p:bold r:id="rId24"/>
      <p:boldItalic r:id="rId25"/>
    </p:embeddedFont>
    <p:embeddedFont>
      <p:font typeface="Mulish Medium"/>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ulish-italic.fntdata"/><Relationship Id="rId22" Type="http://schemas.openxmlformats.org/officeDocument/2006/relationships/font" Target="fonts/MulishExtraBold-bold.fntdata"/><Relationship Id="rId21" Type="http://schemas.openxmlformats.org/officeDocument/2006/relationships/font" Target="fonts/Mulish-boldItalic.fntdata"/><Relationship Id="rId24" Type="http://schemas.openxmlformats.org/officeDocument/2006/relationships/font" Target="fonts/MulishBlack-bold.fntdata"/><Relationship Id="rId23" Type="http://schemas.openxmlformats.org/officeDocument/2006/relationships/font" Target="fonts/MulishExtraBold-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ulishMedium-regular.fntdata"/><Relationship Id="rId25" Type="http://schemas.openxmlformats.org/officeDocument/2006/relationships/font" Target="fonts/MulishBlack-boldItalic.fntdata"/><Relationship Id="rId28" Type="http://schemas.openxmlformats.org/officeDocument/2006/relationships/font" Target="fonts/MulishMedium-italic.fntdata"/><Relationship Id="rId27" Type="http://schemas.openxmlformats.org/officeDocument/2006/relationships/font" Target="fonts/MulishMedium-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ulishMedium-boldItalic.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Mulish-bold.fntdata"/><Relationship Id="rId18" Type="http://schemas.openxmlformats.org/officeDocument/2006/relationships/font" Target="fonts/Mulish-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leetcode.com/problems/design-hashmap"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11648d68c0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11648d68c0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11648d68c0e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11648d68c0e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11648d68c0e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11648d68c0e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11648d68c0e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11648d68c0e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11648d68c0e_1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11648d68c0e_1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1174cdcef6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1174cdcef6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117dbfe5dc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117dbfe5dc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117dbfe5dca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117dbfe5dca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1174cdcef62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1174cdcef62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1174cdcef62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1174cdcef62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Nên bổ sung thêm bài này: </a:t>
            </a:r>
            <a:r>
              <a:rPr lang="en" u="sng">
                <a:solidFill>
                  <a:schemeClr val="hlink"/>
                </a:solidFill>
                <a:hlinkClick r:id="rId2"/>
              </a:rPr>
              <a:t>https://leetcode.com/problems/design-hashmap</a:t>
            </a:r>
            <a:r>
              <a:rPr lang="en"/>
              <a:t>  (Hiep Mai Thanh)</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1174cdcef62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1174cdcef62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1174cdcef62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1174cdcef62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leetcode.com/problems/design-hashmap" TargetMode="External"/><Relationship Id="rId4" Type="http://schemas.openxmlformats.org/officeDocument/2006/relationships/hyperlink" Target="https://leetcode.com/problems/max-number-of-k-sum-pairs/" TargetMode="External"/><Relationship Id="rId5" Type="http://schemas.openxmlformats.org/officeDocument/2006/relationships/hyperlink" Target="https://leetcode.com/problems/group-anagrams/" TargetMode="External"/><Relationship Id="rId6" Type="http://schemas.openxmlformats.org/officeDocument/2006/relationships/hyperlink" Target="https://leetcode.com/problems/continuous-subarray-sum/"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leetcode.com/problems/subarray-sum-equals-k/" TargetMode="External"/><Relationship Id="rId4" Type="http://schemas.openxmlformats.org/officeDocument/2006/relationships/hyperlink" Target="https://leetcode.com/problems/intervals-between-identical-elements/submissions/" TargetMode="External"/><Relationship Id="rId5" Type="http://schemas.openxmlformats.org/officeDocument/2006/relationships/hyperlink" Target="https://leetcode.com/problems/valid-anagra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53" name="Shape 53"/>
        <p:cNvGrpSpPr/>
        <p:nvPr/>
      </p:nvGrpSpPr>
      <p:grpSpPr>
        <a:xfrm>
          <a:off x="0" y="0"/>
          <a:ext cx="0" cy="0"/>
          <a:chOff x="0" y="0"/>
          <a:chExt cx="0" cy="0"/>
        </a:xfrm>
      </p:grpSpPr>
      <p:sp>
        <p:nvSpPr>
          <p:cNvPr id="54" name="Google Shape;54;p13"/>
          <p:cNvSpPr txBox="1"/>
          <p:nvPr/>
        </p:nvSpPr>
        <p:spPr>
          <a:xfrm>
            <a:off x="1321500" y="2171550"/>
            <a:ext cx="66144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4000">
                <a:solidFill>
                  <a:srgbClr val="0090F8"/>
                </a:solidFill>
                <a:latin typeface="Mulish Black"/>
                <a:ea typeface="Mulish Black"/>
                <a:cs typeface="Mulish Black"/>
                <a:sym typeface="Mulish Black"/>
              </a:rPr>
              <a:t> Hash Table </a:t>
            </a:r>
            <a:endParaRPr sz="4000">
              <a:solidFill>
                <a:srgbClr val="0090F8"/>
              </a:solidFill>
              <a:latin typeface="Mulish Black"/>
              <a:ea typeface="Mulish Black"/>
              <a:cs typeface="Mulish Black"/>
              <a:sym typeface="Mulish Black"/>
            </a:endParaRPr>
          </a:p>
        </p:txBody>
      </p:sp>
      <p:sp>
        <p:nvSpPr>
          <p:cNvPr id="55" name="Google Shape;55;p13"/>
          <p:cNvSpPr txBox="1"/>
          <p:nvPr/>
        </p:nvSpPr>
        <p:spPr>
          <a:xfrm>
            <a:off x="2905350" y="4337750"/>
            <a:ext cx="3333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0B3E64"/>
                </a:solidFill>
                <a:latin typeface="Mulish Medium"/>
                <a:ea typeface="Mulish Medium"/>
                <a:cs typeface="Mulish Medium"/>
                <a:sym typeface="Mulish Medium"/>
              </a:rPr>
              <a:t>Pham Ngoc Lam</a:t>
            </a:r>
            <a:r>
              <a:rPr lang="en">
                <a:solidFill>
                  <a:srgbClr val="0B3E64"/>
                </a:solidFill>
                <a:latin typeface="Mulish Medium"/>
                <a:ea typeface="Mulish Medium"/>
                <a:cs typeface="Mulish Medium"/>
                <a:sym typeface="Mulish Medium"/>
              </a:rPr>
              <a:t>, 2022.</a:t>
            </a:r>
            <a:endParaRPr>
              <a:solidFill>
                <a:srgbClr val="0B3E64"/>
              </a:solidFill>
              <a:latin typeface="Mulish Medium"/>
              <a:ea typeface="Mulish Medium"/>
              <a:cs typeface="Mulish Medium"/>
              <a:sym typeface="Mulish Medium"/>
            </a:endParaRPr>
          </a:p>
        </p:txBody>
      </p:sp>
      <p:sp>
        <p:nvSpPr>
          <p:cNvPr id="56" name="Google Shape;56;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7" name="Google Shape;57;p13"/>
          <p:cNvSpPr txBox="1"/>
          <p:nvPr/>
        </p:nvSpPr>
        <p:spPr>
          <a:xfrm>
            <a:off x="3092550" y="1483975"/>
            <a:ext cx="29589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latin typeface="Mulish"/>
                <a:ea typeface="Mulish"/>
                <a:cs typeface="Mulish"/>
                <a:sym typeface="Mulish"/>
              </a:rPr>
              <a:t>Future Software Engineers - FSE K04</a:t>
            </a:r>
            <a:endParaRPr sz="1200">
              <a:latin typeface="Mulish"/>
              <a:ea typeface="Mulish"/>
              <a:cs typeface="Mulish"/>
              <a:sym typeface="Mulish"/>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p:nvPr/>
        </p:nvSpPr>
        <p:spPr>
          <a:xfrm>
            <a:off x="4572000" y="0"/>
            <a:ext cx="4724100" cy="5143500"/>
          </a:xfrm>
          <a:prstGeom prst="rect">
            <a:avLst/>
          </a:prstGeom>
          <a:solidFill>
            <a:srgbClr val="0B3E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4"/>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0" lang="en" sz="3200">
                <a:solidFill>
                  <a:srgbClr val="0090F8"/>
                </a:solidFill>
                <a:latin typeface="Mulish ExtraBold"/>
                <a:ea typeface="Mulish ExtraBold"/>
                <a:cs typeface="Mulish ExtraBold"/>
                <a:sym typeface="Mulish ExtraBold"/>
              </a:rPr>
              <a:t>Contents</a:t>
            </a:r>
            <a:endParaRPr b="0" sz="3200">
              <a:solidFill>
                <a:srgbClr val="0090F8"/>
              </a:solidFill>
              <a:latin typeface="Mulish ExtraBold"/>
              <a:ea typeface="Mulish ExtraBold"/>
              <a:cs typeface="Mulish ExtraBold"/>
              <a:sym typeface="Mulish ExtraBold"/>
            </a:endParaRPr>
          </a:p>
        </p:txBody>
      </p:sp>
      <p:sp>
        <p:nvSpPr>
          <p:cNvPr id="64" name="Google Shape;64;p14"/>
          <p:cNvSpPr txBox="1"/>
          <p:nvPr>
            <p:ph idx="2" type="body"/>
          </p:nvPr>
        </p:nvSpPr>
        <p:spPr>
          <a:xfrm>
            <a:off x="4572000" y="724200"/>
            <a:ext cx="4533000" cy="3695100"/>
          </a:xfrm>
          <a:prstGeom prst="rect">
            <a:avLst/>
          </a:prstGeom>
        </p:spPr>
        <p:txBody>
          <a:bodyPr anchorCtr="0" anchor="ctr" bIns="91425" lIns="91425" spcFirstLastPara="1" rIns="91425" wrap="square" tIns="91425">
            <a:normAutofit/>
          </a:bodyPr>
          <a:lstStyle/>
          <a:p>
            <a:pPr indent="-330200" lvl="0" marL="457200" rtl="0" algn="l">
              <a:lnSpc>
                <a:spcPct val="150000"/>
              </a:lnSpc>
              <a:spcBef>
                <a:spcPts val="0"/>
              </a:spcBef>
              <a:spcAft>
                <a:spcPts val="0"/>
              </a:spcAft>
              <a:buClr>
                <a:schemeClr val="lt1"/>
              </a:buClr>
              <a:buSzPts val="1600"/>
              <a:buFont typeface="Mulish"/>
              <a:buAutoNum type="arabicPeriod"/>
            </a:pPr>
            <a:r>
              <a:rPr lang="en" sz="1600">
                <a:solidFill>
                  <a:schemeClr val="lt1"/>
                </a:solidFill>
                <a:latin typeface="Mulish"/>
                <a:ea typeface="Mulish"/>
                <a:cs typeface="Mulish"/>
                <a:sym typeface="Mulish"/>
              </a:rPr>
              <a:t>Hash là gì?</a:t>
            </a:r>
            <a:endParaRPr sz="1600">
              <a:solidFill>
                <a:schemeClr val="lt1"/>
              </a:solidFill>
              <a:latin typeface="Mulish"/>
              <a:ea typeface="Mulish"/>
              <a:cs typeface="Mulish"/>
              <a:sym typeface="Mulish"/>
            </a:endParaRPr>
          </a:p>
          <a:p>
            <a:pPr indent="-330200" lvl="0" marL="457200" rtl="0" algn="l">
              <a:lnSpc>
                <a:spcPct val="150000"/>
              </a:lnSpc>
              <a:spcBef>
                <a:spcPts val="0"/>
              </a:spcBef>
              <a:spcAft>
                <a:spcPts val="0"/>
              </a:spcAft>
              <a:buClr>
                <a:schemeClr val="lt1"/>
              </a:buClr>
              <a:buSzPts val="1600"/>
              <a:buFont typeface="Mulish"/>
              <a:buAutoNum type="arabicPeriod"/>
            </a:pPr>
            <a:r>
              <a:rPr lang="en" sz="1600">
                <a:solidFill>
                  <a:schemeClr val="lt1"/>
                </a:solidFill>
                <a:latin typeface="Mulish"/>
                <a:ea typeface="Mulish"/>
                <a:cs typeface="Mulish"/>
                <a:sym typeface="Mulish"/>
              </a:rPr>
              <a:t>Hash table </a:t>
            </a:r>
            <a:endParaRPr sz="1600">
              <a:solidFill>
                <a:schemeClr val="lt1"/>
              </a:solidFill>
              <a:latin typeface="Mulish"/>
              <a:ea typeface="Mulish"/>
              <a:cs typeface="Mulish"/>
              <a:sym typeface="Mulish"/>
            </a:endParaRPr>
          </a:p>
          <a:p>
            <a:pPr indent="-330200" lvl="0" marL="457200" rtl="0" algn="l">
              <a:lnSpc>
                <a:spcPct val="150000"/>
              </a:lnSpc>
              <a:spcBef>
                <a:spcPts val="0"/>
              </a:spcBef>
              <a:spcAft>
                <a:spcPts val="0"/>
              </a:spcAft>
              <a:buClr>
                <a:schemeClr val="lt1"/>
              </a:buClr>
              <a:buSzPts val="1600"/>
              <a:buFont typeface="Mulish"/>
              <a:buAutoNum type="arabicPeriod"/>
            </a:pPr>
            <a:r>
              <a:rPr lang="en" sz="1600">
                <a:solidFill>
                  <a:schemeClr val="lt1"/>
                </a:solidFill>
                <a:latin typeface="Mulish"/>
                <a:ea typeface="Mulish"/>
                <a:cs typeface="Mulish"/>
                <a:sym typeface="Mulish"/>
              </a:rPr>
              <a:t>Livecoding: Examples</a:t>
            </a:r>
            <a:endParaRPr sz="1600">
              <a:solidFill>
                <a:schemeClr val="lt1"/>
              </a:solidFill>
              <a:latin typeface="Mulish"/>
              <a:ea typeface="Mulish"/>
              <a:cs typeface="Mulish"/>
              <a:sym typeface="Mulish"/>
            </a:endParaRPr>
          </a:p>
          <a:p>
            <a:pPr indent="-330200" lvl="0" marL="457200" rtl="0" algn="l">
              <a:lnSpc>
                <a:spcPct val="150000"/>
              </a:lnSpc>
              <a:spcBef>
                <a:spcPts val="0"/>
              </a:spcBef>
              <a:spcAft>
                <a:spcPts val="0"/>
              </a:spcAft>
              <a:buClr>
                <a:schemeClr val="lt1"/>
              </a:buClr>
              <a:buSzPts val="1600"/>
              <a:buFont typeface="Mulish"/>
              <a:buAutoNum type="arabicPeriod"/>
            </a:pPr>
            <a:r>
              <a:rPr lang="en" sz="1600">
                <a:solidFill>
                  <a:schemeClr val="lt1"/>
                </a:solidFill>
                <a:latin typeface="Mulish"/>
                <a:ea typeface="Mulish"/>
                <a:cs typeface="Mulish"/>
                <a:sym typeface="Mulish"/>
              </a:rPr>
              <a:t>Homework </a:t>
            </a:r>
            <a:endParaRPr sz="1600">
              <a:solidFill>
                <a:schemeClr val="lt1"/>
              </a:solidFill>
              <a:latin typeface="Mulish"/>
              <a:ea typeface="Mulish"/>
              <a:cs typeface="Mulish"/>
              <a:sym typeface="Mulish"/>
            </a:endParaRPr>
          </a:p>
        </p:txBody>
      </p:sp>
      <p:sp>
        <p:nvSpPr>
          <p:cNvPr id="65" name="Google Shape;65;p14"/>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
        <p:nvSpPr>
          <p:cNvPr id="66" name="Google Shape;66;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7" name="Google Shape;67;p14"/>
          <p:cNvSpPr txBox="1"/>
          <p:nvPr/>
        </p:nvSpPr>
        <p:spPr>
          <a:xfrm>
            <a:off x="7209150" y="65375"/>
            <a:ext cx="1812000" cy="338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000">
                <a:solidFill>
                  <a:srgbClr val="9E9E9E"/>
                </a:solidFill>
                <a:latin typeface="Mulish"/>
                <a:ea typeface="Mulish"/>
                <a:cs typeface="Mulish"/>
                <a:sym typeface="Mulish"/>
              </a:rPr>
              <a:t>[FSE]  </a:t>
            </a:r>
            <a:r>
              <a:rPr lang="en" sz="1000">
                <a:solidFill>
                  <a:srgbClr val="9E9E9E"/>
                </a:solidFill>
                <a:latin typeface="Mulish"/>
                <a:ea typeface="Mulish"/>
                <a:cs typeface="Mulish"/>
                <a:sym typeface="Mulish"/>
              </a:rPr>
              <a:t>Hash table</a:t>
            </a:r>
            <a:endParaRPr sz="1000">
              <a:solidFill>
                <a:srgbClr val="9E9E9E"/>
              </a:solidFill>
              <a:latin typeface="Mulish"/>
              <a:ea typeface="Mulish"/>
              <a:cs typeface="Mulish"/>
              <a:sym typeface="Mulish"/>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
                                            <p:txEl>
                                              <p:pRg end="0" st="0"/>
                                            </p:txEl>
                                          </p:spTgt>
                                        </p:tgtEl>
                                        <p:attrNameLst>
                                          <p:attrName>style.visibility</p:attrName>
                                        </p:attrNameLst>
                                      </p:cBhvr>
                                      <p:to>
                                        <p:strVal val="visible"/>
                                      </p:to>
                                    </p:set>
                                    <p:animEffect filter="fade" transition="in">
                                      <p:cBhvr>
                                        <p:cTn dur="1000"/>
                                        <p:tgtEl>
                                          <p:spTgt spid="6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
                                            <p:txEl>
                                              <p:pRg end="1" st="1"/>
                                            </p:txEl>
                                          </p:spTgt>
                                        </p:tgtEl>
                                        <p:attrNameLst>
                                          <p:attrName>style.visibility</p:attrName>
                                        </p:attrNameLst>
                                      </p:cBhvr>
                                      <p:to>
                                        <p:strVal val="visible"/>
                                      </p:to>
                                    </p:set>
                                    <p:animEffect filter="fade" transition="in">
                                      <p:cBhvr>
                                        <p:cTn dur="1000"/>
                                        <p:tgtEl>
                                          <p:spTgt spid="6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
                                            <p:txEl>
                                              <p:pRg end="2" st="2"/>
                                            </p:txEl>
                                          </p:spTgt>
                                        </p:tgtEl>
                                        <p:attrNameLst>
                                          <p:attrName>style.visibility</p:attrName>
                                        </p:attrNameLst>
                                      </p:cBhvr>
                                      <p:to>
                                        <p:strVal val="visible"/>
                                      </p:to>
                                    </p:set>
                                    <p:animEffect filter="fade" transition="in">
                                      <p:cBhvr>
                                        <p:cTn dur="1000"/>
                                        <p:tgtEl>
                                          <p:spTgt spid="6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
                                            <p:txEl>
                                              <p:pRg end="3" st="3"/>
                                            </p:txEl>
                                          </p:spTgt>
                                        </p:tgtEl>
                                        <p:attrNameLst>
                                          <p:attrName>style.visibility</p:attrName>
                                        </p:attrNameLst>
                                      </p:cBhvr>
                                      <p:to>
                                        <p:strVal val="visible"/>
                                      </p:to>
                                    </p:set>
                                    <p:animEffect filter="fade" transition="in">
                                      <p:cBhvr>
                                        <p:cTn dur="1000"/>
                                        <p:tgtEl>
                                          <p:spTgt spid="64">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0F8"/>
        </a:solidFill>
      </p:bgPr>
    </p:bg>
    <p:spTree>
      <p:nvGrpSpPr>
        <p:cNvPr id="71" name="Shape 71"/>
        <p:cNvGrpSpPr/>
        <p:nvPr/>
      </p:nvGrpSpPr>
      <p:grpSpPr>
        <a:xfrm>
          <a:off x="0" y="0"/>
          <a:ext cx="0" cy="0"/>
          <a:chOff x="0" y="0"/>
          <a:chExt cx="0" cy="0"/>
        </a:xfrm>
      </p:grpSpPr>
      <p:sp>
        <p:nvSpPr>
          <p:cNvPr id="72" name="Google Shape;72;p15"/>
          <p:cNvSpPr txBox="1"/>
          <p:nvPr/>
        </p:nvSpPr>
        <p:spPr>
          <a:xfrm>
            <a:off x="2259600" y="2202300"/>
            <a:ext cx="46248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600">
                <a:solidFill>
                  <a:schemeClr val="lt1"/>
                </a:solidFill>
                <a:latin typeface="Mulish ExtraBold"/>
                <a:ea typeface="Mulish ExtraBold"/>
                <a:cs typeface="Mulish ExtraBold"/>
                <a:sym typeface="Mulish ExtraBold"/>
              </a:rPr>
              <a:t>1.   </a:t>
            </a:r>
            <a:r>
              <a:rPr lang="en" sz="3600">
                <a:solidFill>
                  <a:schemeClr val="lt1"/>
                </a:solidFill>
                <a:latin typeface="Mulish ExtraBold"/>
                <a:ea typeface="Mulish ExtraBold"/>
                <a:cs typeface="Mulish ExtraBold"/>
                <a:sym typeface="Mulish ExtraBold"/>
              </a:rPr>
              <a:t>Hash là gì?</a:t>
            </a:r>
            <a:endParaRPr sz="3600">
              <a:solidFill>
                <a:schemeClr val="lt1"/>
              </a:solidFill>
              <a:latin typeface="Mulish ExtraBold"/>
              <a:ea typeface="Mulish ExtraBold"/>
              <a:cs typeface="Mulish ExtraBold"/>
              <a:sym typeface="Mulish ExtraBold"/>
            </a:endParaRPr>
          </a:p>
        </p:txBody>
      </p:sp>
      <p:sp>
        <p:nvSpPr>
          <p:cNvPr id="73" name="Google Shape;73;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0" lang="en" sz="2400">
                <a:solidFill>
                  <a:srgbClr val="0090F8"/>
                </a:solidFill>
                <a:latin typeface="Mulish ExtraBold"/>
                <a:ea typeface="Mulish ExtraBold"/>
                <a:cs typeface="Mulish ExtraBold"/>
                <a:sym typeface="Mulish ExtraBold"/>
              </a:rPr>
              <a:t>1.1. </a:t>
            </a:r>
            <a:r>
              <a:rPr lang="en" sz="2400">
                <a:solidFill>
                  <a:srgbClr val="0090F8"/>
                </a:solidFill>
                <a:latin typeface="Mulish ExtraBold"/>
                <a:ea typeface="Mulish ExtraBold"/>
                <a:cs typeface="Mulish ExtraBold"/>
                <a:sym typeface="Mulish ExtraBold"/>
              </a:rPr>
              <a:t> Khái niệm về Hash </a:t>
            </a:r>
            <a:endParaRPr b="0" sz="2400">
              <a:solidFill>
                <a:srgbClr val="0090F8"/>
              </a:solidFill>
              <a:latin typeface="Mulish ExtraBold"/>
              <a:ea typeface="Mulish ExtraBold"/>
              <a:cs typeface="Mulish ExtraBold"/>
              <a:sym typeface="Mulish ExtraBold"/>
            </a:endParaRPr>
          </a:p>
        </p:txBody>
      </p:sp>
      <p:sp>
        <p:nvSpPr>
          <p:cNvPr id="79" name="Google Shape;79;p16"/>
          <p:cNvSpPr txBox="1"/>
          <p:nvPr>
            <p:ph idx="1" type="body"/>
          </p:nvPr>
        </p:nvSpPr>
        <p:spPr>
          <a:xfrm>
            <a:off x="311700" y="1266325"/>
            <a:ext cx="8466300" cy="33027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Clr>
                <a:srgbClr val="0B3E64"/>
              </a:buClr>
              <a:buSzPts val="1400"/>
              <a:buChar char="-"/>
            </a:pPr>
            <a:r>
              <a:rPr lang="en" sz="1200">
                <a:solidFill>
                  <a:srgbClr val="333333"/>
                </a:solidFill>
                <a:highlight>
                  <a:srgbClr val="FFFFFF"/>
                </a:highlight>
              </a:rPr>
              <a:t>Hashing là quá trình biến đầu vào là một nội dung có kích thước, độ dài bất kỳ rồi sử dụng những thuật toán, công thức toán học để biến thành đầu ra tiêu chuẩn có độ dài nhất định. Quá trình đó sử dụng những Hàm băm (Hash function).</a:t>
            </a:r>
            <a:endParaRPr sz="1200">
              <a:solidFill>
                <a:srgbClr val="333333"/>
              </a:solidFill>
              <a:highlight>
                <a:srgbClr val="FFFFFF"/>
              </a:highlight>
            </a:endParaRPr>
          </a:p>
          <a:p>
            <a:pPr indent="-304800" lvl="0" marL="457200" rtl="0" algn="l">
              <a:spcBef>
                <a:spcPts val="0"/>
              </a:spcBef>
              <a:spcAft>
                <a:spcPts val="0"/>
              </a:spcAft>
              <a:buClr>
                <a:srgbClr val="333333"/>
              </a:buClr>
              <a:buSzPts val="1200"/>
              <a:buChar char="-"/>
            </a:pPr>
            <a:r>
              <a:rPr lang="en" sz="1200">
                <a:solidFill>
                  <a:srgbClr val="333333"/>
                </a:solidFill>
                <a:highlight>
                  <a:srgbClr val="FFFFFF"/>
                </a:highlight>
              </a:rPr>
              <a:t>Ví dụ: hàm băm f(x) = x ** 2. Với key = 1, f(1) = 1</a:t>
            </a:r>
            <a:endParaRPr sz="1200">
              <a:solidFill>
                <a:srgbClr val="333333"/>
              </a:solidFill>
              <a:highlight>
                <a:srgbClr val="FFFFFF"/>
              </a:highlight>
            </a:endParaRPr>
          </a:p>
          <a:p>
            <a:pPr indent="-304800" lvl="0" marL="457200" rtl="0" algn="l">
              <a:spcBef>
                <a:spcPts val="0"/>
              </a:spcBef>
              <a:spcAft>
                <a:spcPts val="0"/>
              </a:spcAft>
              <a:buClr>
                <a:srgbClr val="333333"/>
              </a:buClr>
              <a:buSzPts val="1200"/>
              <a:buChar char="-"/>
            </a:pPr>
            <a:r>
              <a:rPr lang="en" sz="1200">
                <a:solidFill>
                  <a:srgbClr val="333333"/>
                </a:solidFill>
                <a:highlight>
                  <a:srgbClr val="FFFFFF"/>
                </a:highlight>
              </a:rPr>
              <a:t>Ví dụ: nếu sử dụng hàm băm MD5, với key = “apple” thì kết quả băm là “</a:t>
            </a:r>
            <a:r>
              <a:rPr lang="en" sz="1100">
                <a:solidFill>
                  <a:schemeClr val="dk1"/>
                </a:solidFill>
                <a:highlight>
                  <a:srgbClr val="FFFFFF"/>
                </a:highlight>
              </a:rPr>
              <a:t>1f3870be274f6c49b3e31a0c6728957f”</a:t>
            </a:r>
            <a:endParaRPr sz="1200">
              <a:solidFill>
                <a:srgbClr val="333333"/>
              </a:solidFill>
              <a:highlight>
                <a:srgbClr val="FFFFFF"/>
              </a:highlight>
            </a:endParaRPr>
          </a:p>
        </p:txBody>
      </p:sp>
      <p:sp>
        <p:nvSpPr>
          <p:cNvPr id="80" name="Google Shape;80;p16"/>
          <p:cNvSpPr/>
          <p:nvPr/>
        </p:nvSpPr>
        <p:spPr>
          <a:xfrm>
            <a:off x="0" y="5011050"/>
            <a:ext cx="9144000" cy="133800"/>
          </a:xfrm>
          <a:prstGeom prst="rect">
            <a:avLst/>
          </a:prstGeom>
          <a:solidFill>
            <a:srgbClr val="0090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82" name="Google Shape;82;p16"/>
          <p:cNvSpPr txBox="1"/>
          <p:nvPr/>
        </p:nvSpPr>
        <p:spPr>
          <a:xfrm>
            <a:off x="7209150" y="65375"/>
            <a:ext cx="1812000" cy="8004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Clr>
                <a:schemeClr val="dk1"/>
              </a:buClr>
              <a:buSzPts val="1100"/>
              <a:buFont typeface="Arial"/>
              <a:buNone/>
            </a:pPr>
            <a:r>
              <a:rPr lang="en" sz="1000">
                <a:solidFill>
                  <a:srgbClr val="9E9E9E"/>
                </a:solidFill>
                <a:latin typeface="Mulish"/>
                <a:ea typeface="Mulish"/>
                <a:cs typeface="Mulish"/>
                <a:sym typeface="Mulish"/>
              </a:rPr>
              <a:t>[FSE]  Hash table</a:t>
            </a:r>
            <a:endParaRPr sz="1000">
              <a:solidFill>
                <a:srgbClr val="9E9E9E"/>
              </a:solidFill>
              <a:latin typeface="Mulish"/>
              <a:ea typeface="Mulish"/>
              <a:cs typeface="Mulish"/>
              <a:sym typeface="Mulish"/>
            </a:endParaRPr>
          </a:p>
          <a:p>
            <a:pPr indent="0" lvl="0" marL="0" rtl="0" algn="r">
              <a:spcBef>
                <a:spcPts val="0"/>
              </a:spcBef>
              <a:spcAft>
                <a:spcPts val="0"/>
              </a:spcAft>
              <a:buClr>
                <a:schemeClr val="dk1"/>
              </a:buClr>
              <a:buSzPts val="1100"/>
              <a:buFont typeface="Arial"/>
              <a:buNone/>
            </a:pPr>
            <a:r>
              <a:t/>
            </a:r>
            <a:endParaRPr sz="1000">
              <a:solidFill>
                <a:srgbClr val="9E9E9E"/>
              </a:solidFill>
              <a:latin typeface="Mulish"/>
              <a:ea typeface="Mulish"/>
              <a:cs typeface="Mulish"/>
              <a:sym typeface="Mulish"/>
            </a:endParaRPr>
          </a:p>
          <a:p>
            <a:pPr indent="0" lvl="0" marL="0" rtl="0" algn="r">
              <a:spcBef>
                <a:spcPts val="0"/>
              </a:spcBef>
              <a:spcAft>
                <a:spcPts val="0"/>
              </a:spcAft>
              <a:buClr>
                <a:schemeClr val="dk1"/>
              </a:buClr>
              <a:buSzPts val="1100"/>
              <a:buFont typeface="Arial"/>
              <a:buNone/>
            </a:pPr>
            <a:r>
              <a:t/>
            </a:r>
            <a:endParaRPr sz="1000">
              <a:solidFill>
                <a:srgbClr val="9E9E9E"/>
              </a:solidFill>
              <a:latin typeface="Mulish"/>
              <a:ea typeface="Mulish"/>
              <a:cs typeface="Mulish"/>
              <a:sym typeface="Mulish"/>
            </a:endParaRPr>
          </a:p>
          <a:p>
            <a:pPr indent="0" lvl="0" marL="0" rtl="0" algn="r">
              <a:spcBef>
                <a:spcPts val="0"/>
              </a:spcBef>
              <a:spcAft>
                <a:spcPts val="0"/>
              </a:spcAft>
              <a:buNone/>
            </a:pPr>
            <a:r>
              <a:t/>
            </a:r>
            <a:endParaRPr sz="1000">
              <a:solidFill>
                <a:srgbClr val="9E9E9E"/>
              </a:solidFill>
              <a:latin typeface="Mulish"/>
              <a:ea typeface="Mulish"/>
              <a:cs typeface="Mulish"/>
              <a:sym typeface="Mulish"/>
            </a:endParaRPr>
          </a:p>
        </p:txBody>
      </p:sp>
      <p:pic>
        <p:nvPicPr>
          <p:cNvPr id="83" name="Google Shape;83;p16"/>
          <p:cNvPicPr preferRelativeResize="0"/>
          <p:nvPr/>
        </p:nvPicPr>
        <p:blipFill>
          <a:blip r:embed="rId3">
            <a:alphaModFix/>
          </a:blip>
          <a:stretch>
            <a:fillRect/>
          </a:stretch>
        </p:blipFill>
        <p:spPr>
          <a:xfrm>
            <a:off x="3128950" y="2789875"/>
            <a:ext cx="2886075" cy="15811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
                                            <p:txEl>
                                              <p:pRg end="0" st="0"/>
                                            </p:txEl>
                                          </p:spTgt>
                                        </p:tgtEl>
                                        <p:attrNameLst>
                                          <p:attrName>style.visibility</p:attrName>
                                        </p:attrNameLst>
                                      </p:cBhvr>
                                      <p:to>
                                        <p:strVal val="visible"/>
                                      </p:to>
                                    </p:set>
                                    <p:animEffect filter="fade" transition="in">
                                      <p:cBhvr>
                                        <p:cTn dur="1000"/>
                                        <p:tgtEl>
                                          <p:spTgt spid="7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
                                            <p:txEl>
                                              <p:pRg end="1" st="1"/>
                                            </p:txEl>
                                          </p:spTgt>
                                        </p:tgtEl>
                                        <p:attrNameLst>
                                          <p:attrName>style.visibility</p:attrName>
                                        </p:attrNameLst>
                                      </p:cBhvr>
                                      <p:to>
                                        <p:strVal val="visible"/>
                                      </p:to>
                                    </p:set>
                                    <p:animEffect filter="fade" transition="in">
                                      <p:cBhvr>
                                        <p:cTn dur="1000"/>
                                        <p:tgtEl>
                                          <p:spTgt spid="7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
                                            <p:txEl>
                                              <p:pRg end="2" st="2"/>
                                            </p:txEl>
                                          </p:spTgt>
                                        </p:tgtEl>
                                        <p:attrNameLst>
                                          <p:attrName>style.visibility</p:attrName>
                                        </p:attrNameLst>
                                      </p:cBhvr>
                                      <p:to>
                                        <p:strVal val="visible"/>
                                      </p:to>
                                    </p:set>
                                    <p:animEffect filter="fade" transition="in">
                                      <p:cBhvr>
                                        <p:cTn dur="1000"/>
                                        <p:tgtEl>
                                          <p:spTgt spid="79">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0F8"/>
        </a:solidFill>
      </p:bgPr>
    </p:bg>
    <p:spTree>
      <p:nvGrpSpPr>
        <p:cNvPr id="87" name="Shape 87"/>
        <p:cNvGrpSpPr/>
        <p:nvPr/>
      </p:nvGrpSpPr>
      <p:grpSpPr>
        <a:xfrm>
          <a:off x="0" y="0"/>
          <a:ext cx="0" cy="0"/>
          <a:chOff x="0" y="0"/>
          <a:chExt cx="0" cy="0"/>
        </a:xfrm>
      </p:grpSpPr>
      <p:sp>
        <p:nvSpPr>
          <p:cNvPr id="88" name="Google Shape;88;p17"/>
          <p:cNvSpPr txBox="1"/>
          <p:nvPr/>
        </p:nvSpPr>
        <p:spPr>
          <a:xfrm>
            <a:off x="2259600" y="2202300"/>
            <a:ext cx="46248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600">
                <a:solidFill>
                  <a:schemeClr val="lt1"/>
                </a:solidFill>
                <a:latin typeface="Mulish ExtraBold"/>
                <a:ea typeface="Mulish ExtraBold"/>
                <a:cs typeface="Mulish ExtraBold"/>
                <a:sym typeface="Mulish ExtraBold"/>
              </a:rPr>
              <a:t>2</a:t>
            </a:r>
            <a:r>
              <a:rPr lang="en" sz="3600">
                <a:solidFill>
                  <a:schemeClr val="lt1"/>
                </a:solidFill>
                <a:latin typeface="Mulish ExtraBold"/>
                <a:ea typeface="Mulish ExtraBold"/>
                <a:cs typeface="Mulish ExtraBold"/>
                <a:sym typeface="Mulish ExtraBold"/>
              </a:rPr>
              <a:t>. </a:t>
            </a:r>
            <a:r>
              <a:rPr lang="en" sz="3600">
                <a:solidFill>
                  <a:schemeClr val="lt1"/>
                </a:solidFill>
                <a:latin typeface="Mulish ExtraBold"/>
                <a:ea typeface="Mulish ExtraBold"/>
                <a:cs typeface="Mulish ExtraBold"/>
                <a:sym typeface="Mulish ExtraBold"/>
              </a:rPr>
              <a:t>Hash table </a:t>
            </a:r>
            <a:endParaRPr sz="3600">
              <a:solidFill>
                <a:schemeClr val="lt1"/>
              </a:solidFill>
              <a:latin typeface="Mulish ExtraBold"/>
              <a:ea typeface="Mulish ExtraBold"/>
              <a:cs typeface="Mulish ExtraBold"/>
              <a:sym typeface="Mulish ExtraBold"/>
            </a:endParaRPr>
          </a:p>
        </p:txBody>
      </p:sp>
      <p:sp>
        <p:nvSpPr>
          <p:cNvPr id="89" name="Google Shape;89;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400">
                <a:solidFill>
                  <a:srgbClr val="0090F8"/>
                </a:solidFill>
                <a:latin typeface="Mulish ExtraBold"/>
                <a:ea typeface="Mulish ExtraBold"/>
                <a:cs typeface="Mulish ExtraBold"/>
                <a:sym typeface="Mulish ExtraBold"/>
              </a:rPr>
              <a:t>2</a:t>
            </a:r>
            <a:r>
              <a:rPr b="0" lang="en" sz="2400">
                <a:solidFill>
                  <a:srgbClr val="0090F8"/>
                </a:solidFill>
                <a:latin typeface="Mulish ExtraBold"/>
                <a:ea typeface="Mulish ExtraBold"/>
                <a:cs typeface="Mulish ExtraBold"/>
                <a:sym typeface="Mulish ExtraBold"/>
              </a:rPr>
              <a:t>.1.1 </a:t>
            </a:r>
            <a:r>
              <a:rPr lang="en" sz="2400">
                <a:solidFill>
                  <a:srgbClr val="0090F8"/>
                </a:solidFill>
                <a:latin typeface="Mulish ExtraBold"/>
                <a:ea typeface="Mulish ExtraBold"/>
                <a:cs typeface="Mulish ExtraBold"/>
                <a:sym typeface="Mulish ExtraBold"/>
              </a:rPr>
              <a:t>Hash table là gì</a:t>
            </a:r>
            <a:r>
              <a:rPr lang="en" sz="2400">
                <a:solidFill>
                  <a:srgbClr val="0090F8"/>
                </a:solidFill>
                <a:latin typeface="Mulish ExtraBold"/>
                <a:ea typeface="Mulish ExtraBold"/>
                <a:cs typeface="Mulish ExtraBold"/>
                <a:sym typeface="Mulish ExtraBold"/>
              </a:rPr>
              <a:t>?</a:t>
            </a:r>
            <a:endParaRPr b="0" sz="2400">
              <a:solidFill>
                <a:srgbClr val="0090F8"/>
              </a:solidFill>
              <a:latin typeface="Mulish ExtraBold"/>
              <a:ea typeface="Mulish ExtraBold"/>
              <a:cs typeface="Mulish ExtraBold"/>
              <a:sym typeface="Mulish ExtraBold"/>
            </a:endParaRPr>
          </a:p>
        </p:txBody>
      </p:sp>
      <p:sp>
        <p:nvSpPr>
          <p:cNvPr id="95" name="Google Shape;95;p18"/>
          <p:cNvSpPr txBox="1"/>
          <p:nvPr>
            <p:ph idx="1" type="body"/>
          </p:nvPr>
        </p:nvSpPr>
        <p:spPr>
          <a:xfrm>
            <a:off x="311700" y="1266325"/>
            <a:ext cx="7833000" cy="3302700"/>
          </a:xfrm>
          <a:prstGeom prst="rect">
            <a:avLst/>
          </a:prstGeom>
        </p:spPr>
        <p:txBody>
          <a:bodyPr anchorCtr="0" anchor="t" bIns="91425" lIns="91425" spcFirstLastPara="1" rIns="91425" wrap="square" tIns="91425">
            <a:normAutofit/>
          </a:bodyPr>
          <a:lstStyle/>
          <a:p>
            <a:pPr indent="-314325" lvl="0" marL="457200" rtl="0" algn="l">
              <a:spcBef>
                <a:spcPts val="0"/>
              </a:spcBef>
              <a:spcAft>
                <a:spcPts val="0"/>
              </a:spcAft>
              <a:buClr>
                <a:schemeClr val="dk1"/>
              </a:buClr>
              <a:buSzPts val="1350"/>
              <a:buChar char="-"/>
            </a:pPr>
            <a:r>
              <a:rPr lang="en" sz="1350">
                <a:solidFill>
                  <a:srgbClr val="1B1B1B"/>
                </a:solidFill>
                <a:highlight>
                  <a:srgbClr val="FFFFFF"/>
                </a:highlight>
              </a:rPr>
              <a:t>Là một cấu trúc dữ liệu dùng để lưu theo các cặp key value, nó dùng hash function để tính toán tới một index, nơi lưu trữ một bucket các giá trị rồi từ đó sẽ retrieve ra value, mục tiêu là để độ phức tạp ở mức</a:t>
            </a:r>
            <a:endParaRPr sz="1350">
              <a:solidFill>
                <a:schemeClr val="dk1"/>
              </a:solidFill>
              <a:highlight>
                <a:srgbClr val="FFFFFF"/>
              </a:highlight>
            </a:endParaRPr>
          </a:p>
        </p:txBody>
      </p:sp>
      <p:sp>
        <p:nvSpPr>
          <p:cNvPr id="96" name="Google Shape;96;p18"/>
          <p:cNvSpPr/>
          <p:nvPr/>
        </p:nvSpPr>
        <p:spPr>
          <a:xfrm>
            <a:off x="0" y="5011050"/>
            <a:ext cx="9144000" cy="133800"/>
          </a:xfrm>
          <a:prstGeom prst="rect">
            <a:avLst/>
          </a:prstGeom>
          <a:solidFill>
            <a:srgbClr val="0090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98" name="Google Shape;98;p18"/>
          <p:cNvSpPr txBox="1"/>
          <p:nvPr/>
        </p:nvSpPr>
        <p:spPr>
          <a:xfrm>
            <a:off x="7209150" y="65375"/>
            <a:ext cx="1812000" cy="8004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Clr>
                <a:schemeClr val="dk1"/>
              </a:buClr>
              <a:buSzPts val="1100"/>
              <a:buFont typeface="Arial"/>
              <a:buNone/>
            </a:pPr>
            <a:r>
              <a:rPr lang="en" sz="1000">
                <a:solidFill>
                  <a:srgbClr val="9E9E9E"/>
                </a:solidFill>
                <a:latin typeface="Mulish"/>
                <a:ea typeface="Mulish"/>
                <a:cs typeface="Mulish"/>
                <a:sym typeface="Mulish"/>
              </a:rPr>
              <a:t>[FSE]  Hash table</a:t>
            </a:r>
            <a:endParaRPr sz="1000">
              <a:solidFill>
                <a:srgbClr val="9E9E9E"/>
              </a:solidFill>
              <a:latin typeface="Mulish"/>
              <a:ea typeface="Mulish"/>
              <a:cs typeface="Mulish"/>
              <a:sym typeface="Mulish"/>
            </a:endParaRPr>
          </a:p>
          <a:p>
            <a:pPr indent="0" lvl="0" marL="0" rtl="0" algn="r">
              <a:spcBef>
                <a:spcPts val="0"/>
              </a:spcBef>
              <a:spcAft>
                <a:spcPts val="0"/>
              </a:spcAft>
              <a:buClr>
                <a:schemeClr val="dk1"/>
              </a:buClr>
              <a:buSzPts val="1100"/>
              <a:buFont typeface="Arial"/>
              <a:buNone/>
            </a:pPr>
            <a:r>
              <a:t/>
            </a:r>
            <a:endParaRPr sz="1000">
              <a:solidFill>
                <a:srgbClr val="9E9E9E"/>
              </a:solidFill>
              <a:latin typeface="Mulish"/>
              <a:ea typeface="Mulish"/>
              <a:cs typeface="Mulish"/>
              <a:sym typeface="Mulish"/>
            </a:endParaRPr>
          </a:p>
          <a:p>
            <a:pPr indent="0" lvl="0" marL="0" rtl="0" algn="r">
              <a:spcBef>
                <a:spcPts val="0"/>
              </a:spcBef>
              <a:spcAft>
                <a:spcPts val="0"/>
              </a:spcAft>
              <a:buClr>
                <a:schemeClr val="dk1"/>
              </a:buClr>
              <a:buSzPts val="1100"/>
              <a:buFont typeface="Arial"/>
              <a:buNone/>
            </a:pPr>
            <a:r>
              <a:t/>
            </a:r>
            <a:endParaRPr sz="1000">
              <a:solidFill>
                <a:srgbClr val="9E9E9E"/>
              </a:solidFill>
              <a:latin typeface="Mulish"/>
              <a:ea typeface="Mulish"/>
              <a:cs typeface="Mulish"/>
              <a:sym typeface="Mulish"/>
            </a:endParaRPr>
          </a:p>
          <a:p>
            <a:pPr indent="0" lvl="0" marL="0" rtl="0" algn="r">
              <a:spcBef>
                <a:spcPts val="0"/>
              </a:spcBef>
              <a:spcAft>
                <a:spcPts val="0"/>
              </a:spcAft>
              <a:buNone/>
            </a:pPr>
            <a:r>
              <a:t/>
            </a:r>
            <a:endParaRPr sz="1000">
              <a:solidFill>
                <a:srgbClr val="9E9E9E"/>
              </a:solidFill>
              <a:latin typeface="Mulish"/>
              <a:ea typeface="Mulish"/>
              <a:cs typeface="Mulish"/>
              <a:sym typeface="Mulish"/>
            </a:endParaRPr>
          </a:p>
        </p:txBody>
      </p:sp>
      <p:pic>
        <p:nvPicPr>
          <p:cNvPr id="99" name="Google Shape;99;p18"/>
          <p:cNvPicPr preferRelativeResize="0"/>
          <p:nvPr/>
        </p:nvPicPr>
        <p:blipFill>
          <a:blip r:embed="rId3">
            <a:alphaModFix/>
          </a:blip>
          <a:stretch>
            <a:fillRect/>
          </a:stretch>
        </p:blipFill>
        <p:spPr>
          <a:xfrm>
            <a:off x="3116075" y="2050725"/>
            <a:ext cx="4762500" cy="27612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
                                            <p:txEl>
                                              <p:pRg end="0" st="0"/>
                                            </p:txEl>
                                          </p:spTgt>
                                        </p:tgtEl>
                                        <p:attrNameLst>
                                          <p:attrName>style.visibility</p:attrName>
                                        </p:attrNameLst>
                                      </p:cBhvr>
                                      <p:to>
                                        <p:strVal val="visible"/>
                                      </p:to>
                                    </p:set>
                                    <p:animEffect filter="fade" transition="in">
                                      <p:cBhvr>
                                        <p:cTn dur="1000"/>
                                        <p:tgtEl>
                                          <p:spTgt spid="95">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400">
                <a:solidFill>
                  <a:srgbClr val="0090F8"/>
                </a:solidFill>
                <a:latin typeface="Mulish ExtraBold"/>
                <a:ea typeface="Mulish ExtraBold"/>
                <a:cs typeface="Mulish ExtraBold"/>
                <a:sym typeface="Mulish ExtraBold"/>
              </a:rPr>
              <a:t>2</a:t>
            </a:r>
            <a:r>
              <a:rPr b="0" lang="en" sz="2400">
                <a:solidFill>
                  <a:srgbClr val="0090F8"/>
                </a:solidFill>
                <a:latin typeface="Mulish ExtraBold"/>
                <a:ea typeface="Mulish ExtraBold"/>
                <a:cs typeface="Mulish ExtraBold"/>
                <a:sym typeface="Mulish ExtraBold"/>
              </a:rPr>
              <a:t>.1.</a:t>
            </a:r>
            <a:r>
              <a:rPr lang="en" sz="2400">
                <a:solidFill>
                  <a:srgbClr val="0090F8"/>
                </a:solidFill>
                <a:latin typeface="Mulish ExtraBold"/>
                <a:ea typeface="Mulish ExtraBold"/>
                <a:cs typeface="Mulish ExtraBold"/>
                <a:sym typeface="Mulish ExtraBold"/>
              </a:rPr>
              <a:t>2 Collision</a:t>
            </a:r>
            <a:endParaRPr b="0" sz="2400">
              <a:solidFill>
                <a:srgbClr val="0090F8"/>
              </a:solidFill>
              <a:latin typeface="Mulish ExtraBold"/>
              <a:ea typeface="Mulish ExtraBold"/>
              <a:cs typeface="Mulish ExtraBold"/>
              <a:sym typeface="Mulish ExtraBold"/>
            </a:endParaRPr>
          </a:p>
        </p:txBody>
      </p:sp>
      <p:sp>
        <p:nvSpPr>
          <p:cNvPr id="105" name="Google Shape;105;p19"/>
          <p:cNvSpPr txBox="1"/>
          <p:nvPr>
            <p:ph idx="1" type="body"/>
          </p:nvPr>
        </p:nvSpPr>
        <p:spPr>
          <a:xfrm>
            <a:off x="311700" y="1266325"/>
            <a:ext cx="7833000" cy="3302700"/>
          </a:xfrm>
          <a:prstGeom prst="rect">
            <a:avLst/>
          </a:prstGeom>
        </p:spPr>
        <p:txBody>
          <a:bodyPr anchorCtr="0" anchor="t" bIns="91425" lIns="91425" spcFirstLastPara="1" rIns="91425" wrap="square" tIns="91425">
            <a:normAutofit/>
          </a:bodyPr>
          <a:lstStyle/>
          <a:p>
            <a:pPr indent="-314325" lvl="0" marL="457200" rtl="0" algn="l">
              <a:spcBef>
                <a:spcPts val="0"/>
              </a:spcBef>
              <a:spcAft>
                <a:spcPts val="0"/>
              </a:spcAft>
              <a:buClr>
                <a:schemeClr val="dk1"/>
              </a:buClr>
              <a:buSzPts val="1350"/>
              <a:buChar char="-"/>
            </a:pPr>
            <a:r>
              <a:rPr lang="en" sz="1350">
                <a:solidFill>
                  <a:schemeClr val="dk1"/>
                </a:solidFill>
                <a:highlight>
                  <a:srgbClr val="FFFFFF"/>
                </a:highlight>
              </a:rPr>
              <a:t>Thuật toán hash không bao giờ là hoàn hảo nên vẫn có thể từ 2 unique object sinh ra cùng 1 hash value với cùng 1 hash function.</a:t>
            </a:r>
            <a:endParaRPr sz="1350">
              <a:solidFill>
                <a:schemeClr val="dk1"/>
              </a:solidFill>
              <a:highlight>
                <a:srgbClr val="FFFFFF"/>
              </a:highlight>
            </a:endParaRPr>
          </a:p>
          <a:p>
            <a:pPr indent="0" lvl="0" marL="457200" rtl="0" algn="l">
              <a:spcBef>
                <a:spcPts val="1000"/>
              </a:spcBef>
              <a:spcAft>
                <a:spcPts val="1000"/>
              </a:spcAft>
              <a:buNone/>
            </a:pPr>
            <a:r>
              <a:t/>
            </a:r>
            <a:endParaRPr sz="1350">
              <a:solidFill>
                <a:schemeClr val="dk1"/>
              </a:solidFill>
              <a:highlight>
                <a:srgbClr val="FFFFFF"/>
              </a:highlight>
            </a:endParaRPr>
          </a:p>
        </p:txBody>
      </p:sp>
      <p:sp>
        <p:nvSpPr>
          <p:cNvPr id="106" name="Google Shape;106;p19"/>
          <p:cNvSpPr/>
          <p:nvPr/>
        </p:nvSpPr>
        <p:spPr>
          <a:xfrm>
            <a:off x="0" y="5011050"/>
            <a:ext cx="9144000" cy="133800"/>
          </a:xfrm>
          <a:prstGeom prst="rect">
            <a:avLst/>
          </a:prstGeom>
          <a:solidFill>
            <a:srgbClr val="0090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08" name="Google Shape;108;p19"/>
          <p:cNvSpPr txBox="1"/>
          <p:nvPr/>
        </p:nvSpPr>
        <p:spPr>
          <a:xfrm>
            <a:off x="7209150" y="65375"/>
            <a:ext cx="1812000" cy="4926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Clr>
                <a:schemeClr val="dk1"/>
              </a:buClr>
              <a:buSzPts val="1100"/>
              <a:buFont typeface="Arial"/>
              <a:buNone/>
            </a:pPr>
            <a:r>
              <a:rPr lang="en" sz="1000">
                <a:solidFill>
                  <a:srgbClr val="9E9E9E"/>
                </a:solidFill>
                <a:latin typeface="Mulish"/>
                <a:ea typeface="Mulish"/>
                <a:cs typeface="Mulish"/>
                <a:sym typeface="Mulish"/>
              </a:rPr>
              <a:t>[FSE]  Hash table</a:t>
            </a:r>
            <a:endParaRPr sz="1000">
              <a:solidFill>
                <a:srgbClr val="9E9E9E"/>
              </a:solidFill>
              <a:latin typeface="Mulish"/>
              <a:ea typeface="Mulish"/>
              <a:cs typeface="Mulish"/>
              <a:sym typeface="Mulish"/>
            </a:endParaRPr>
          </a:p>
          <a:p>
            <a:pPr indent="0" lvl="0" marL="0" rtl="0" algn="r">
              <a:spcBef>
                <a:spcPts val="0"/>
              </a:spcBef>
              <a:spcAft>
                <a:spcPts val="0"/>
              </a:spcAft>
              <a:buNone/>
            </a:pPr>
            <a:r>
              <a:t/>
            </a:r>
            <a:endParaRPr sz="1000">
              <a:solidFill>
                <a:srgbClr val="9E9E9E"/>
              </a:solidFill>
              <a:latin typeface="Mulish"/>
              <a:ea typeface="Mulish"/>
              <a:cs typeface="Mulish"/>
              <a:sym typeface="Mulish"/>
            </a:endParaRPr>
          </a:p>
        </p:txBody>
      </p:sp>
      <p:pic>
        <p:nvPicPr>
          <p:cNvPr id="109" name="Google Shape;109;p19"/>
          <p:cNvPicPr preferRelativeResize="0"/>
          <p:nvPr/>
        </p:nvPicPr>
        <p:blipFill>
          <a:blip r:embed="rId3">
            <a:alphaModFix/>
          </a:blip>
          <a:stretch>
            <a:fillRect/>
          </a:stretch>
        </p:blipFill>
        <p:spPr>
          <a:xfrm>
            <a:off x="900100" y="2134075"/>
            <a:ext cx="7143750" cy="2301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0" st="0"/>
                                            </p:txEl>
                                          </p:spTgt>
                                        </p:tgtEl>
                                        <p:attrNameLst>
                                          <p:attrName>style.visibility</p:attrName>
                                        </p:attrNameLst>
                                      </p:cBhvr>
                                      <p:to>
                                        <p:strVal val="visible"/>
                                      </p:to>
                                    </p:set>
                                    <p:animEffect filter="fade" transition="in">
                                      <p:cBhvr>
                                        <p:cTn dur="1000"/>
                                        <p:tgtEl>
                                          <p:spTgt spid="10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1" st="1"/>
                                            </p:txEl>
                                          </p:spTgt>
                                        </p:tgtEl>
                                        <p:attrNameLst>
                                          <p:attrName>style.visibility</p:attrName>
                                        </p:attrNameLst>
                                      </p:cBhvr>
                                      <p:to>
                                        <p:strVal val="visible"/>
                                      </p:to>
                                    </p:set>
                                    <p:animEffect filter="fade" transition="in">
                                      <p:cBhvr>
                                        <p:cTn dur="1000"/>
                                        <p:tgtEl>
                                          <p:spTgt spid="105">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400">
                <a:solidFill>
                  <a:srgbClr val="0090F8"/>
                </a:solidFill>
                <a:latin typeface="Mulish ExtraBold"/>
                <a:ea typeface="Mulish ExtraBold"/>
                <a:cs typeface="Mulish ExtraBold"/>
                <a:sym typeface="Mulish ExtraBold"/>
              </a:rPr>
              <a:t>2</a:t>
            </a:r>
            <a:r>
              <a:rPr b="0" lang="en" sz="2400">
                <a:solidFill>
                  <a:srgbClr val="0090F8"/>
                </a:solidFill>
                <a:latin typeface="Mulish ExtraBold"/>
                <a:ea typeface="Mulish ExtraBold"/>
                <a:cs typeface="Mulish ExtraBold"/>
                <a:sym typeface="Mulish ExtraBold"/>
              </a:rPr>
              <a:t>.1.</a:t>
            </a:r>
            <a:r>
              <a:rPr lang="en" sz="2400">
                <a:solidFill>
                  <a:srgbClr val="0090F8"/>
                </a:solidFill>
                <a:latin typeface="Mulish ExtraBold"/>
                <a:ea typeface="Mulish ExtraBold"/>
                <a:cs typeface="Mulish ExtraBold"/>
                <a:sym typeface="Mulish ExtraBold"/>
              </a:rPr>
              <a:t>3</a:t>
            </a:r>
            <a:r>
              <a:rPr b="0" lang="en" sz="2400">
                <a:solidFill>
                  <a:srgbClr val="0090F8"/>
                </a:solidFill>
                <a:latin typeface="Mulish ExtraBold"/>
                <a:ea typeface="Mulish ExtraBold"/>
                <a:cs typeface="Mulish ExtraBold"/>
                <a:sym typeface="Mulish ExtraBold"/>
              </a:rPr>
              <a:t> 1 </a:t>
            </a:r>
            <a:r>
              <a:rPr lang="en" sz="2400">
                <a:solidFill>
                  <a:srgbClr val="0090F8"/>
                </a:solidFill>
                <a:latin typeface="Mulish ExtraBold"/>
                <a:ea typeface="Mulish ExtraBold"/>
                <a:cs typeface="Mulish ExtraBold"/>
                <a:sym typeface="Mulish ExtraBold"/>
              </a:rPr>
              <a:t>số cách giải quyết collision </a:t>
            </a:r>
            <a:endParaRPr b="0" sz="2400">
              <a:solidFill>
                <a:srgbClr val="0090F8"/>
              </a:solidFill>
              <a:latin typeface="Mulish ExtraBold"/>
              <a:ea typeface="Mulish ExtraBold"/>
              <a:cs typeface="Mulish ExtraBold"/>
              <a:sym typeface="Mulish ExtraBold"/>
            </a:endParaRPr>
          </a:p>
        </p:txBody>
      </p:sp>
      <p:sp>
        <p:nvSpPr>
          <p:cNvPr id="115" name="Google Shape;115;p20"/>
          <p:cNvSpPr txBox="1"/>
          <p:nvPr>
            <p:ph idx="1" type="body"/>
          </p:nvPr>
        </p:nvSpPr>
        <p:spPr>
          <a:xfrm>
            <a:off x="311700" y="1266325"/>
            <a:ext cx="7833000" cy="3302700"/>
          </a:xfrm>
          <a:prstGeom prst="rect">
            <a:avLst/>
          </a:prstGeom>
        </p:spPr>
        <p:txBody>
          <a:bodyPr anchorCtr="0" anchor="t" bIns="91425" lIns="91425" spcFirstLastPara="1" rIns="91425" wrap="square" tIns="91425">
            <a:normAutofit/>
          </a:bodyPr>
          <a:lstStyle/>
          <a:p>
            <a:pPr indent="-314325" lvl="0" marL="457200" rtl="0" algn="l">
              <a:spcBef>
                <a:spcPts val="0"/>
              </a:spcBef>
              <a:spcAft>
                <a:spcPts val="0"/>
              </a:spcAft>
              <a:buClr>
                <a:schemeClr val="dk1"/>
              </a:buClr>
              <a:buSzPts val="1350"/>
              <a:buChar char="-"/>
            </a:pPr>
            <a:r>
              <a:rPr lang="en" sz="1350">
                <a:solidFill>
                  <a:schemeClr val="dk1"/>
                </a:solidFill>
                <a:highlight>
                  <a:srgbClr val="FFFFFF"/>
                </a:highlight>
              </a:rPr>
              <a:t> Các key có cùng giá trị hash có thể được lưu vào trong cùng 1 linked list/array. Điều này dẫn tới việc các thao tác thêm/ sửa/ xoá có thể mất thời gian là tuyến tính.</a:t>
            </a:r>
            <a:endParaRPr sz="1350">
              <a:solidFill>
                <a:schemeClr val="dk1"/>
              </a:solidFill>
              <a:highlight>
                <a:srgbClr val="FFFFFF"/>
              </a:highlight>
            </a:endParaRPr>
          </a:p>
        </p:txBody>
      </p:sp>
      <p:sp>
        <p:nvSpPr>
          <p:cNvPr id="116" name="Google Shape;116;p20"/>
          <p:cNvSpPr/>
          <p:nvPr/>
        </p:nvSpPr>
        <p:spPr>
          <a:xfrm>
            <a:off x="0" y="5011050"/>
            <a:ext cx="9144000" cy="133800"/>
          </a:xfrm>
          <a:prstGeom prst="rect">
            <a:avLst/>
          </a:prstGeom>
          <a:solidFill>
            <a:srgbClr val="0090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18" name="Google Shape;118;p20"/>
          <p:cNvSpPr txBox="1"/>
          <p:nvPr/>
        </p:nvSpPr>
        <p:spPr>
          <a:xfrm>
            <a:off x="7209150" y="65375"/>
            <a:ext cx="1812000" cy="9543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Clr>
                <a:schemeClr val="dk1"/>
              </a:buClr>
              <a:buSzPts val="1100"/>
              <a:buFont typeface="Arial"/>
              <a:buNone/>
            </a:pPr>
            <a:r>
              <a:rPr lang="en" sz="1000">
                <a:solidFill>
                  <a:srgbClr val="9E9E9E"/>
                </a:solidFill>
                <a:latin typeface="Mulish"/>
                <a:ea typeface="Mulish"/>
                <a:cs typeface="Mulish"/>
                <a:sym typeface="Mulish"/>
              </a:rPr>
              <a:t>[FSE]  Hash table</a:t>
            </a:r>
            <a:endParaRPr sz="1000">
              <a:solidFill>
                <a:srgbClr val="9E9E9E"/>
              </a:solidFill>
              <a:latin typeface="Mulish"/>
              <a:ea typeface="Mulish"/>
              <a:cs typeface="Mulish"/>
              <a:sym typeface="Mulish"/>
            </a:endParaRPr>
          </a:p>
          <a:p>
            <a:pPr indent="0" lvl="0" marL="0" rtl="0" algn="r">
              <a:spcBef>
                <a:spcPts val="0"/>
              </a:spcBef>
              <a:spcAft>
                <a:spcPts val="0"/>
              </a:spcAft>
              <a:buClr>
                <a:schemeClr val="dk1"/>
              </a:buClr>
              <a:buSzPts val="1100"/>
              <a:buFont typeface="Arial"/>
              <a:buNone/>
            </a:pPr>
            <a:r>
              <a:t/>
            </a:r>
            <a:endParaRPr sz="1000">
              <a:solidFill>
                <a:srgbClr val="9E9E9E"/>
              </a:solidFill>
              <a:latin typeface="Mulish"/>
              <a:ea typeface="Mulish"/>
              <a:cs typeface="Mulish"/>
              <a:sym typeface="Mulish"/>
            </a:endParaRPr>
          </a:p>
          <a:p>
            <a:pPr indent="0" lvl="0" marL="0" rtl="0" algn="r">
              <a:spcBef>
                <a:spcPts val="0"/>
              </a:spcBef>
              <a:spcAft>
                <a:spcPts val="0"/>
              </a:spcAft>
              <a:buClr>
                <a:schemeClr val="dk1"/>
              </a:buClr>
              <a:buSzPts val="1100"/>
              <a:buFont typeface="Arial"/>
              <a:buNone/>
            </a:pPr>
            <a:r>
              <a:t/>
            </a:r>
            <a:endParaRPr sz="1000">
              <a:solidFill>
                <a:srgbClr val="9E9E9E"/>
              </a:solidFill>
              <a:latin typeface="Mulish"/>
              <a:ea typeface="Mulish"/>
              <a:cs typeface="Mulish"/>
              <a:sym typeface="Mulish"/>
            </a:endParaRPr>
          </a:p>
          <a:p>
            <a:pPr indent="0" lvl="0" marL="0" rtl="0" algn="r">
              <a:spcBef>
                <a:spcPts val="0"/>
              </a:spcBef>
              <a:spcAft>
                <a:spcPts val="0"/>
              </a:spcAft>
              <a:buClr>
                <a:schemeClr val="dk1"/>
              </a:buClr>
              <a:buSzPts val="1100"/>
              <a:buFont typeface="Arial"/>
              <a:buNone/>
            </a:pPr>
            <a:r>
              <a:t/>
            </a:r>
            <a:endParaRPr sz="1000">
              <a:solidFill>
                <a:srgbClr val="9E9E9E"/>
              </a:solidFill>
              <a:latin typeface="Mulish"/>
              <a:ea typeface="Mulish"/>
              <a:cs typeface="Mulish"/>
              <a:sym typeface="Mulish"/>
            </a:endParaRPr>
          </a:p>
          <a:p>
            <a:pPr indent="0" lvl="0" marL="0" rtl="0" algn="r">
              <a:spcBef>
                <a:spcPts val="0"/>
              </a:spcBef>
              <a:spcAft>
                <a:spcPts val="0"/>
              </a:spcAft>
              <a:buNone/>
            </a:pPr>
            <a:r>
              <a:t/>
            </a:r>
            <a:endParaRPr sz="1000">
              <a:solidFill>
                <a:srgbClr val="9E9E9E"/>
              </a:solidFill>
              <a:latin typeface="Mulish"/>
              <a:ea typeface="Mulish"/>
              <a:cs typeface="Mulish"/>
              <a:sym typeface="Mulish"/>
            </a:endParaRPr>
          </a:p>
        </p:txBody>
      </p:sp>
      <p:pic>
        <p:nvPicPr>
          <p:cNvPr id="119" name="Google Shape;119;p20"/>
          <p:cNvPicPr preferRelativeResize="0"/>
          <p:nvPr/>
        </p:nvPicPr>
        <p:blipFill>
          <a:blip r:embed="rId3">
            <a:alphaModFix/>
          </a:blip>
          <a:stretch>
            <a:fillRect/>
          </a:stretch>
        </p:blipFill>
        <p:spPr>
          <a:xfrm>
            <a:off x="2336925" y="1824675"/>
            <a:ext cx="4286250" cy="2952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
                                            <p:txEl>
                                              <p:pRg end="0" st="0"/>
                                            </p:txEl>
                                          </p:spTgt>
                                        </p:tgtEl>
                                        <p:attrNameLst>
                                          <p:attrName>style.visibility</p:attrName>
                                        </p:attrNameLst>
                                      </p:cBhvr>
                                      <p:to>
                                        <p:strVal val="visible"/>
                                      </p:to>
                                    </p:set>
                                    <p:animEffect filter="fade" transition="in">
                                      <p:cBhvr>
                                        <p:cTn dur="1000"/>
                                        <p:tgtEl>
                                          <p:spTgt spid="115">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0F8"/>
        </a:solidFill>
      </p:bgPr>
    </p:bg>
    <p:spTree>
      <p:nvGrpSpPr>
        <p:cNvPr id="123" name="Shape 123"/>
        <p:cNvGrpSpPr/>
        <p:nvPr/>
      </p:nvGrpSpPr>
      <p:grpSpPr>
        <a:xfrm>
          <a:off x="0" y="0"/>
          <a:ext cx="0" cy="0"/>
          <a:chOff x="0" y="0"/>
          <a:chExt cx="0" cy="0"/>
        </a:xfrm>
      </p:grpSpPr>
      <p:sp>
        <p:nvSpPr>
          <p:cNvPr id="124" name="Google Shape;124;p21"/>
          <p:cNvSpPr txBox="1"/>
          <p:nvPr/>
        </p:nvSpPr>
        <p:spPr>
          <a:xfrm>
            <a:off x="2259600" y="2202300"/>
            <a:ext cx="46248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600">
                <a:solidFill>
                  <a:schemeClr val="lt1"/>
                </a:solidFill>
                <a:latin typeface="Mulish ExtraBold"/>
                <a:ea typeface="Mulish ExtraBold"/>
                <a:cs typeface="Mulish ExtraBold"/>
                <a:sym typeface="Mulish ExtraBold"/>
              </a:rPr>
              <a:t>3</a:t>
            </a:r>
            <a:r>
              <a:rPr lang="en" sz="3600">
                <a:solidFill>
                  <a:schemeClr val="lt1"/>
                </a:solidFill>
                <a:latin typeface="Mulish ExtraBold"/>
                <a:ea typeface="Mulish ExtraBold"/>
                <a:cs typeface="Mulish ExtraBold"/>
                <a:sym typeface="Mulish ExtraBold"/>
              </a:rPr>
              <a:t>.  Live Coding</a:t>
            </a:r>
            <a:endParaRPr sz="3600">
              <a:solidFill>
                <a:schemeClr val="lt1"/>
              </a:solidFill>
              <a:latin typeface="Mulish ExtraBold"/>
              <a:ea typeface="Mulish ExtraBold"/>
              <a:cs typeface="Mulish ExtraBold"/>
              <a:sym typeface="Mulish ExtraBold"/>
            </a:endParaRPr>
          </a:p>
        </p:txBody>
      </p:sp>
      <p:sp>
        <p:nvSpPr>
          <p:cNvPr id="125" name="Google Shape;125;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400">
                <a:solidFill>
                  <a:srgbClr val="0090F8"/>
                </a:solidFill>
                <a:latin typeface="Mulish ExtraBold"/>
                <a:ea typeface="Mulish ExtraBold"/>
                <a:cs typeface="Mulish ExtraBold"/>
                <a:sym typeface="Mulish ExtraBold"/>
              </a:rPr>
              <a:t>3.1</a:t>
            </a:r>
            <a:r>
              <a:rPr b="0" lang="en" sz="2400">
                <a:solidFill>
                  <a:srgbClr val="0090F8"/>
                </a:solidFill>
                <a:latin typeface="Mulish ExtraBold"/>
                <a:ea typeface="Mulish ExtraBold"/>
                <a:cs typeface="Mulish ExtraBold"/>
                <a:sym typeface="Mulish ExtraBold"/>
              </a:rPr>
              <a:t>.</a:t>
            </a:r>
            <a:r>
              <a:rPr lang="en" sz="2400">
                <a:solidFill>
                  <a:srgbClr val="0090F8"/>
                </a:solidFill>
                <a:latin typeface="Mulish ExtraBold"/>
                <a:ea typeface="Mulish ExtraBold"/>
                <a:cs typeface="Mulish ExtraBold"/>
                <a:sym typeface="Mulish ExtraBold"/>
              </a:rPr>
              <a:t> Example</a:t>
            </a:r>
            <a:endParaRPr b="0" sz="2400">
              <a:solidFill>
                <a:srgbClr val="0090F8"/>
              </a:solidFill>
              <a:latin typeface="Mulish ExtraBold"/>
              <a:ea typeface="Mulish ExtraBold"/>
              <a:cs typeface="Mulish ExtraBold"/>
              <a:sym typeface="Mulish ExtraBold"/>
            </a:endParaRPr>
          </a:p>
        </p:txBody>
      </p:sp>
      <p:sp>
        <p:nvSpPr>
          <p:cNvPr id="131" name="Google Shape;131;p22"/>
          <p:cNvSpPr txBox="1"/>
          <p:nvPr>
            <p:ph idx="1" type="body"/>
          </p:nvPr>
        </p:nvSpPr>
        <p:spPr>
          <a:xfrm>
            <a:off x="311700" y="1266325"/>
            <a:ext cx="8595600" cy="33027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Clr>
                <a:schemeClr val="dk1"/>
              </a:buClr>
              <a:buSzPts val="1400"/>
              <a:buChar char="-"/>
            </a:pPr>
            <a:r>
              <a:rPr lang="en" u="sng">
                <a:solidFill>
                  <a:schemeClr val="hlink"/>
                </a:solidFill>
                <a:hlinkClick r:id="rId3"/>
              </a:rPr>
              <a:t>https://leetcode.com/problems/design-hashmap</a:t>
            </a:r>
            <a:endParaRPr/>
          </a:p>
          <a:p>
            <a:pPr indent="-317500" lvl="0" marL="457200" rtl="0" algn="l">
              <a:spcBef>
                <a:spcPts val="0"/>
              </a:spcBef>
              <a:spcAft>
                <a:spcPts val="0"/>
              </a:spcAft>
              <a:buClr>
                <a:schemeClr val="dk1"/>
              </a:buClr>
              <a:buSzPts val="1400"/>
              <a:buChar char="-"/>
            </a:pPr>
            <a:r>
              <a:rPr lang="en" u="sng">
                <a:solidFill>
                  <a:schemeClr val="hlink"/>
                </a:solidFill>
                <a:hlinkClick r:id="rId4"/>
              </a:rPr>
              <a:t>https://leetcode.com/problems/max-number-of-k-sum-pairs/</a:t>
            </a:r>
            <a:endParaRPr sz="1400">
              <a:solidFill>
                <a:schemeClr val="dk1"/>
              </a:solidFill>
              <a:highlight>
                <a:srgbClr val="FFFFFF"/>
              </a:highlight>
            </a:endParaRPr>
          </a:p>
          <a:p>
            <a:pPr indent="-317500" lvl="0" marL="457200" rtl="0" algn="l">
              <a:spcBef>
                <a:spcPts val="0"/>
              </a:spcBef>
              <a:spcAft>
                <a:spcPts val="0"/>
              </a:spcAft>
              <a:buClr>
                <a:schemeClr val="dk1"/>
              </a:buClr>
              <a:buSzPts val="1400"/>
              <a:buChar char="-"/>
            </a:pPr>
            <a:r>
              <a:rPr lang="en" u="sng">
                <a:solidFill>
                  <a:schemeClr val="hlink"/>
                </a:solidFill>
                <a:hlinkClick r:id="rId5"/>
              </a:rPr>
              <a:t>https://leetcode.com/problems/group-anagrams/</a:t>
            </a:r>
            <a:endParaRPr/>
          </a:p>
          <a:p>
            <a:pPr indent="-342900" lvl="0" marL="457200" rtl="0" algn="l">
              <a:spcBef>
                <a:spcPts val="0"/>
              </a:spcBef>
              <a:spcAft>
                <a:spcPts val="0"/>
              </a:spcAft>
              <a:buSzPts val="1800"/>
              <a:buChar char="-"/>
            </a:pPr>
            <a:r>
              <a:rPr lang="en" u="sng">
                <a:solidFill>
                  <a:schemeClr val="hlink"/>
                </a:solidFill>
                <a:hlinkClick r:id="rId6"/>
              </a:rPr>
              <a:t>https://leetcode.com/problems/continuous-subarray-sum/</a:t>
            </a:r>
            <a:endParaRPr/>
          </a:p>
          <a:p>
            <a:pPr indent="-342900" lvl="0" marL="457200" rtl="0" algn="l">
              <a:spcBef>
                <a:spcPts val="0"/>
              </a:spcBef>
              <a:spcAft>
                <a:spcPts val="0"/>
              </a:spcAft>
              <a:buSzPts val="1800"/>
              <a:buChar char="-"/>
            </a:pPr>
            <a:r>
              <a:rPr lang="en"/>
              <a:t>Code mau: https://pastebin.pl/view/de4a8bba</a:t>
            </a:r>
            <a:endParaRPr sz="1400">
              <a:solidFill>
                <a:schemeClr val="dk1"/>
              </a:solidFill>
              <a:highlight>
                <a:srgbClr val="FFFFFF"/>
              </a:highlight>
            </a:endParaRPr>
          </a:p>
          <a:p>
            <a:pPr indent="0" lvl="0" marL="457200" rtl="0" algn="l">
              <a:spcBef>
                <a:spcPts val="1200"/>
              </a:spcBef>
              <a:spcAft>
                <a:spcPts val="1200"/>
              </a:spcAft>
              <a:buNone/>
            </a:pPr>
            <a:r>
              <a:t/>
            </a:r>
            <a:endParaRPr sz="1400">
              <a:solidFill>
                <a:schemeClr val="dk1"/>
              </a:solidFill>
              <a:highlight>
                <a:srgbClr val="FFFFFF"/>
              </a:highlight>
            </a:endParaRPr>
          </a:p>
        </p:txBody>
      </p:sp>
      <p:sp>
        <p:nvSpPr>
          <p:cNvPr id="132" name="Google Shape;132;p22"/>
          <p:cNvSpPr/>
          <p:nvPr/>
        </p:nvSpPr>
        <p:spPr>
          <a:xfrm>
            <a:off x="0" y="5011050"/>
            <a:ext cx="9144000" cy="133800"/>
          </a:xfrm>
          <a:prstGeom prst="rect">
            <a:avLst/>
          </a:prstGeom>
          <a:solidFill>
            <a:srgbClr val="0090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34" name="Google Shape;134;p22"/>
          <p:cNvSpPr txBox="1"/>
          <p:nvPr/>
        </p:nvSpPr>
        <p:spPr>
          <a:xfrm>
            <a:off x="7209150" y="65375"/>
            <a:ext cx="1812000" cy="8004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Clr>
                <a:schemeClr val="dk1"/>
              </a:buClr>
              <a:buSzPts val="1100"/>
              <a:buFont typeface="Arial"/>
              <a:buNone/>
            </a:pPr>
            <a:r>
              <a:rPr lang="en" sz="1000">
                <a:solidFill>
                  <a:srgbClr val="9E9E9E"/>
                </a:solidFill>
                <a:latin typeface="Mulish"/>
                <a:ea typeface="Mulish"/>
                <a:cs typeface="Mulish"/>
                <a:sym typeface="Mulish"/>
              </a:rPr>
              <a:t>[FSE]  Hash table</a:t>
            </a:r>
            <a:endParaRPr sz="1000">
              <a:solidFill>
                <a:srgbClr val="9E9E9E"/>
              </a:solidFill>
              <a:latin typeface="Mulish"/>
              <a:ea typeface="Mulish"/>
              <a:cs typeface="Mulish"/>
              <a:sym typeface="Mulish"/>
            </a:endParaRPr>
          </a:p>
          <a:p>
            <a:pPr indent="0" lvl="0" marL="0" rtl="0" algn="r">
              <a:spcBef>
                <a:spcPts val="0"/>
              </a:spcBef>
              <a:spcAft>
                <a:spcPts val="0"/>
              </a:spcAft>
              <a:buClr>
                <a:schemeClr val="dk1"/>
              </a:buClr>
              <a:buSzPts val="1100"/>
              <a:buFont typeface="Arial"/>
              <a:buNone/>
            </a:pPr>
            <a:r>
              <a:t/>
            </a:r>
            <a:endParaRPr sz="1000">
              <a:solidFill>
                <a:srgbClr val="9E9E9E"/>
              </a:solidFill>
              <a:latin typeface="Mulish"/>
              <a:ea typeface="Mulish"/>
              <a:cs typeface="Mulish"/>
              <a:sym typeface="Mulish"/>
            </a:endParaRPr>
          </a:p>
          <a:p>
            <a:pPr indent="0" lvl="0" marL="0" rtl="0" algn="r">
              <a:spcBef>
                <a:spcPts val="0"/>
              </a:spcBef>
              <a:spcAft>
                <a:spcPts val="0"/>
              </a:spcAft>
              <a:buClr>
                <a:schemeClr val="dk1"/>
              </a:buClr>
              <a:buSzPts val="1100"/>
              <a:buFont typeface="Arial"/>
              <a:buNone/>
            </a:pPr>
            <a:r>
              <a:t/>
            </a:r>
            <a:endParaRPr sz="1000">
              <a:solidFill>
                <a:srgbClr val="9E9E9E"/>
              </a:solidFill>
              <a:latin typeface="Mulish"/>
              <a:ea typeface="Mulish"/>
              <a:cs typeface="Mulish"/>
              <a:sym typeface="Mulish"/>
            </a:endParaRPr>
          </a:p>
          <a:p>
            <a:pPr indent="0" lvl="0" marL="0" rtl="0" algn="r">
              <a:spcBef>
                <a:spcPts val="0"/>
              </a:spcBef>
              <a:spcAft>
                <a:spcPts val="0"/>
              </a:spcAft>
              <a:buNone/>
            </a:pPr>
            <a:r>
              <a:t/>
            </a:r>
            <a:endParaRPr sz="1000">
              <a:solidFill>
                <a:srgbClr val="9E9E9E"/>
              </a:solidFill>
              <a:latin typeface="Mulish"/>
              <a:ea typeface="Mulish"/>
              <a:cs typeface="Mulish"/>
              <a:sym typeface="Mulish"/>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
                                            <p:txEl>
                                              <p:pRg end="0" st="0"/>
                                            </p:txEl>
                                          </p:spTgt>
                                        </p:tgtEl>
                                        <p:attrNameLst>
                                          <p:attrName>style.visibility</p:attrName>
                                        </p:attrNameLst>
                                      </p:cBhvr>
                                      <p:to>
                                        <p:strVal val="visible"/>
                                      </p:to>
                                    </p:set>
                                    <p:animEffect filter="fade" transition="in">
                                      <p:cBhvr>
                                        <p:cTn dur="1000"/>
                                        <p:tgtEl>
                                          <p:spTgt spid="13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
                                            <p:txEl>
                                              <p:pRg end="1" st="1"/>
                                            </p:txEl>
                                          </p:spTgt>
                                        </p:tgtEl>
                                        <p:attrNameLst>
                                          <p:attrName>style.visibility</p:attrName>
                                        </p:attrNameLst>
                                      </p:cBhvr>
                                      <p:to>
                                        <p:strVal val="visible"/>
                                      </p:to>
                                    </p:set>
                                    <p:animEffect filter="fade" transition="in">
                                      <p:cBhvr>
                                        <p:cTn dur="1000"/>
                                        <p:tgtEl>
                                          <p:spTgt spid="13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
                                            <p:txEl>
                                              <p:pRg end="2" st="2"/>
                                            </p:txEl>
                                          </p:spTgt>
                                        </p:tgtEl>
                                        <p:attrNameLst>
                                          <p:attrName>style.visibility</p:attrName>
                                        </p:attrNameLst>
                                      </p:cBhvr>
                                      <p:to>
                                        <p:strVal val="visible"/>
                                      </p:to>
                                    </p:set>
                                    <p:animEffect filter="fade" transition="in">
                                      <p:cBhvr>
                                        <p:cTn dur="1000"/>
                                        <p:tgtEl>
                                          <p:spTgt spid="13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
                                            <p:txEl>
                                              <p:pRg end="3" st="3"/>
                                            </p:txEl>
                                          </p:spTgt>
                                        </p:tgtEl>
                                        <p:attrNameLst>
                                          <p:attrName>style.visibility</p:attrName>
                                        </p:attrNameLst>
                                      </p:cBhvr>
                                      <p:to>
                                        <p:strVal val="visible"/>
                                      </p:to>
                                    </p:set>
                                    <p:animEffect filter="fade" transition="in">
                                      <p:cBhvr>
                                        <p:cTn dur="1000"/>
                                        <p:tgtEl>
                                          <p:spTgt spid="13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
                                            <p:txEl>
                                              <p:pRg end="4" st="4"/>
                                            </p:txEl>
                                          </p:spTgt>
                                        </p:tgtEl>
                                        <p:attrNameLst>
                                          <p:attrName>style.visibility</p:attrName>
                                        </p:attrNameLst>
                                      </p:cBhvr>
                                      <p:to>
                                        <p:strVal val="visible"/>
                                      </p:to>
                                    </p:set>
                                    <p:animEffect filter="fade" transition="in">
                                      <p:cBhvr>
                                        <p:cTn dur="1000"/>
                                        <p:tgtEl>
                                          <p:spTgt spid="13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
                                            <p:txEl>
                                              <p:pRg end="5" st="5"/>
                                            </p:txEl>
                                          </p:spTgt>
                                        </p:tgtEl>
                                        <p:attrNameLst>
                                          <p:attrName>style.visibility</p:attrName>
                                        </p:attrNameLst>
                                      </p:cBhvr>
                                      <p:to>
                                        <p:strVal val="visible"/>
                                      </p:to>
                                    </p:set>
                                    <p:animEffect filter="fade" transition="in">
                                      <p:cBhvr>
                                        <p:cTn dur="1000"/>
                                        <p:tgtEl>
                                          <p:spTgt spid="131">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0F8"/>
        </a:solidFill>
      </p:bgPr>
    </p:bg>
    <p:spTree>
      <p:nvGrpSpPr>
        <p:cNvPr id="138" name="Shape 138"/>
        <p:cNvGrpSpPr/>
        <p:nvPr/>
      </p:nvGrpSpPr>
      <p:grpSpPr>
        <a:xfrm>
          <a:off x="0" y="0"/>
          <a:ext cx="0" cy="0"/>
          <a:chOff x="0" y="0"/>
          <a:chExt cx="0" cy="0"/>
        </a:xfrm>
      </p:grpSpPr>
      <p:sp>
        <p:nvSpPr>
          <p:cNvPr id="139" name="Google Shape;139;p23"/>
          <p:cNvSpPr txBox="1"/>
          <p:nvPr/>
        </p:nvSpPr>
        <p:spPr>
          <a:xfrm>
            <a:off x="2259600" y="2202300"/>
            <a:ext cx="46248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600">
                <a:solidFill>
                  <a:schemeClr val="lt1"/>
                </a:solidFill>
                <a:latin typeface="Mulish ExtraBold"/>
                <a:ea typeface="Mulish ExtraBold"/>
                <a:cs typeface="Mulish ExtraBold"/>
                <a:sym typeface="Mulish ExtraBold"/>
              </a:rPr>
              <a:t>4</a:t>
            </a:r>
            <a:r>
              <a:rPr lang="en" sz="3600">
                <a:solidFill>
                  <a:schemeClr val="lt1"/>
                </a:solidFill>
                <a:latin typeface="Mulish ExtraBold"/>
                <a:ea typeface="Mulish ExtraBold"/>
                <a:cs typeface="Mulish ExtraBold"/>
                <a:sym typeface="Mulish ExtraBold"/>
              </a:rPr>
              <a:t>.  </a:t>
            </a:r>
            <a:r>
              <a:rPr lang="en" sz="3600">
                <a:solidFill>
                  <a:schemeClr val="lt1"/>
                </a:solidFill>
                <a:latin typeface="Mulish ExtraBold"/>
                <a:ea typeface="Mulish ExtraBold"/>
                <a:cs typeface="Mulish ExtraBold"/>
                <a:sym typeface="Mulish ExtraBold"/>
              </a:rPr>
              <a:t>Homework</a:t>
            </a:r>
            <a:endParaRPr sz="3600">
              <a:solidFill>
                <a:schemeClr val="lt1"/>
              </a:solidFill>
              <a:latin typeface="Mulish ExtraBold"/>
              <a:ea typeface="Mulish ExtraBold"/>
              <a:cs typeface="Mulish ExtraBold"/>
              <a:sym typeface="Mulish ExtraBold"/>
            </a:endParaRPr>
          </a:p>
        </p:txBody>
      </p:sp>
      <p:sp>
        <p:nvSpPr>
          <p:cNvPr id="140" name="Google Shape;140;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400">
                <a:solidFill>
                  <a:srgbClr val="0090F8"/>
                </a:solidFill>
                <a:latin typeface="Mulish ExtraBold"/>
                <a:ea typeface="Mulish ExtraBold"/>
                <a:cs typeface="Mulish ExtraBold"/>
                <a:sym typeface="Mulish ExtraBold"/>
              </a:rPr>
              <a:t>4</a:t>
            </a:r>
            <a:r>
              <a:rPr lang="en" sz="2400">
                <a:solidFill>
                  <a:srgbClr val="0090F8"/>
                </a:solidFill>
                <a:latin typeface="Mulish ExtraBold"/>
                <a:ea typeface="Mulish ExtraBold"/>
                <a:cs typeface="Mulish ExtraBold"/>
                <a:sym typeface="Mulish ExtraBold"/>
              </a:rPr>
              <a:t>.1</a:t>
            </a:r>
            <a:r>
              <a:rPr b="0" lang="en" sz="2400">
                <a:solidFill>
                  <a:srgbClr val="0090F8"/>
                </a:solidFill>
                <a:latin typeface="Mulish ExtraBold"/>
                <a:ea typeface="Mulish ExtraBold"/>
                <a:cs typeface="Mulish ExtraBold"/>
                <a:sym typeface="Mulish ExtraBold"/>
              </a:rPr>
              <a:t>.</a:t>
            </a:r>
            <a:r>
              <a:rPr lang="en" sz="2400">
                <a:solidFill>
                  <a:srgbClr val="0090F8"/>
                </a:solidFill>
                <a:latin typeface="Mulish ExtraBold"/>
                <a:ea typeface="Mulish ExtraBold"/>
                <a:cs typeface="Mulish ExtraBold"/>
                <a:sym typeface="Mulish ExtraBold"/>
              </a:rPr>
              <a:t> </a:t>
            </a:r>
            <a:r>
              <a:rPr lang="en" sz="2400">
                <a:solidFill>
                  <a:srgbClr val="0090F8"/>
                </a:solidFill>
                <a:latin typeface="Mulish ExtraBold"/>
                <a:ea typeface="Mulish ExtraBold"/>
                <a:cs typeface="Mulish ExtraBold"/>
                <a:sym typeface="Mulish ExtraBold"/>
              </a:rPr>
              <a:t>Homework</a:t>
            </a:r>
            <a:endParaRPr b="0" sz="2400">
              <a:solidFill>
                <a:srgbClr val="0090F8"/>
              </a:solidFill>
              <a:latin typeface="Mulish ExtraBold"/>
              <a:ea typeface="Mulish ExtraBold"/>
              <a:cs typeface="Mulish ExtraBold"/>
              <a:sym typeface="Mulish ExtraBold"/>
            </a:endParaRPr>
          </a:p>
        </p:txBody>
      </p:sp>
      <p:sp>
        <p:nvSpPr>
          <p:cNvPr id="146" name="Google Shape;146;p24"/>
          <p:cNvSpPr txBox="1"/>
          <p:nvPr>
            <p:ph idx="1" type="body"/>
          </p:nvPr>
        </p:nvSpPr>
        <p:spPr>
          <a:xfrm>
            <a:off x="311700" y="1266325"/>
            <a:ext cx="8595600" cy="3302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u="sng">
                <a:solidFill>
                  <a:schemeClr val="hlink"/>
                </a:solidFill>
                <a:hlinkClick r:id="rId3"/>
              </a:rPr>
              <a:t>https://leetcode.com/problems/subarray-sum-equals-k/</a:t>
            </a:r>
            <a:endParaRPr>
              <a:solidFill>
                <a:schemeClr val="dk1"/>
              </a:solidFill>
              <a:highlight>
                <a:srgbClr val="FFFFFF"/>
              </a:highlight>
            </a:endParaRPr>
          </a:p>
          <a:p>
            <a:pPr indent="-342900" lvl="0" marL="457200" rtl="0" algn="l">
              <a:spcBef>
                <a:spcPts val="0"/>
              </a:spcBef>
              <a:spcAft>
                <a:spcPts val="0"/>
              </a:spcAft>
              <a:buClr>
                <a:schemeClr val="dk1"/>
              </a:buClr>
              <a:buSzPts val="1800"/>
              <a:buChar char="-"/>
            </a:pPr>
            <a:r>
              <a:rPr lang="en" u="sng">
                <a:solidFill>
                  <a:schemeClr val="hlink"/>
                </a:solidFill>
                <a:hlinkClick r:id="rId4"/>
              </a:rPr>
              <a:t>https://leetcode.com/problems/intervals-between-identical-elements/submissions/</a:t>
            </a:r>
            <a:endParaRPr>
              <a:solidFill>
                <a:schemeClr val="dk1"/>
              </a:solidFill>
              <a:highlight>
                <a:srgbClr val="FFFFFF"/>
              </a:highlight>
            </a:endParaRPr>
          </a:p>
          <a:p>
            <a:pPr indent="-342900" lvl="0" marL="457200" rtl="0" algn="l">
              <a:spcBef>
                <a:spcPts val="0"/>
              </a:spcBef>
              <a:spcAft>
                <a:spcPts val="0"/>
              </a:spcAft>
              <a:buClr>
                <a:schemeClr val="dk1"/>
              </a:buClr>
              <a:buSzPts val="1800"/>
              <a:buChar char="-"/>
            </a:pPr>
            <a:r>
              <a:rPr lang="en" u="sng">
                <a:solidFill>
                  <a:schemeClr val="hlink"/>
                </a:solidFill>
                <a:hlinkClick r:id="rId5"/>
              </a:rPr>
              <a:t>https://leetcode.com/problems/valid-anagram/</a:t>
            </a:r>
            <a:endParaRPr>
              <a:solidFill>
                <a:schemeClr val="dk1"/>
              </a:solidFill>
              <a:highlight>
                <a:srgbClr val="FFFFFF"/>
              </a:highlight>
            </a:endParaRPr>
          </a:p>
          <a:p>
            <a:pPr indent="0" lvl="0" marL="457200" rtl="0" algn="l">
              <a:spcBef>
                <a:spcPts val="1200"/>
              </a:spcBef>
              <a:spcAft>
                <a:spcPts val="0"/>
              </a:spcAft>
              <a:buNone/>
            </a:pPr>
            <a:r>
              <a:rPr lang="en">
                <a:solidFill>
                  <a:schemeClr val="dk1"/>
                </a:solidFill>
                <a:highlight>
                  <a:srgbClr val="FFFFFF"/>
                </a:highlight>
              </a:rPr>
              <a:t>Git: https://classroom.github.com/a/9NK-_eA7</a:t>
            </a:r>
            <a:endParaRPr>
              <a:solidFill>
                <a:schemeClr val="dk1"/>
              </a:solidFill>
              <a:highlight>
                <a:srgbClr val="FFFFFF"/>
              </a:highlight>
            </a:endParaRPr>
          </a:p>
          <a:p>
            <a:pPr indent="0" lvl="0" marL="457200" rtl="0" algn="l">
              <a:spcBef>
                <a:spcPts val="1200"/>
              </a:spcBef>
              <a:spcAft>
                <a:spcPts val="1200"/>
              </a:spcAft>
              <a:buNone/>
            </a:pPr>
            <a:r>
              <a:rPr lang="en">
                <a:solidFill>
                  <a:schemeClr val="dk1"/>
                </a:solidFill>
                <a:highlight>
                  <a:srgbClr val="FFFFFF"/>
                </a:highlight>
              </a:rPr>
              <a:t>Code mẫu: https://pastebin.pl/view/4b87a279</a:t>
            </a:r>
            <a:endParaRPr>
              <a:solidFill>
                <a:schemeClr val="dk1"/>
              </a:solidFill>
              <a:highlight>
                <a:srgbClr val="FFFFFF"/>
              </a:highlight>
            </a:endParaRPr>
          </a:p>
        </p:txBody>
      </p:sp>
      <p:sp>
        <p:nvSpPr>
          <p:cNvPr id="147" name="Google Shape;147;p24"/>
          <p:cNvSpPr/>
          <p:nvPr/>
        </p:nvSpPr>
        <p:spPr>
          <a:xfrm>
            <a:off x="0" y="5011050"/>
            <a:ext cx="9144000" cy="133800"/>
          </a:xfrm>
          <a:prstGeom prst="rect">
            <a:avLst/>
          </a:prstGeom>
          <a:solidFill>
            <a:srgbClr val="0090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49" name="Google Shape;149;p24"/>
          <p:cNvSpPr txBox="1"/>
          <p:nvPr/>
        </p:nvSpPr>
        <p:spPr>
          <a:xfrm>
            <a:off x="7209150" y="65375"/>
            <a:ext cx="1812000" cy="8004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Clr>
                <a:schemeClr val="dk1"/>
              </a:buClr>
              <a:buSzPts val="1100"/>
              <a:buFont typeface="Arial"/>
              <a:buNone/>
            </a:pPr>
            <a:r>
              <a:rPr lang="en" sz="1000">
                <a:solidFill>
                  <a:srgbClr val="9E9E9E"/>
                </a:solidFill>
                <a:latin typeface="Mulish"/>
                <a:ea typeface="Mulish"/>
                <a:cs typeface="Mulish"/>
                <a:sym typeface="Mulish"/>
              </a:rPr>
              <a:t>[FSE]  Hash table</a:t>
            </a:r>
            <a:endParaRPr sz="1000">
              <a:solidFill>
                <a:srgbClr val="9E9E9E"/>
              </a:solidFill>
              <a:latin typeface="Mulish"/>
              <a:ea typeface="Mulish"/>
              <a:cs typeface="Mulish"/>
              <a:sym typeface="Mulish"/>
            </a:endParaRPr>
          </a:p>
          <a:p>
            <a:pPr indent="0" lvl="0" marL="0" rtl="0" algn="r">
              <a:spcBef>
                <a:spcPts val="0"/>
              </a:spcBef>
              <a:spcAft>
                <a:spcPts val="0"/>
              </a:spcAft>
              <a:buClr>
                <a:schemeClr val="dk1"/>
              </a:buClr>
              <a:buSzPts val="1100"/>
              <a:buFont typeface="Arial"/>
              <a:buNone/>
            </a:pPr>
            <a:r>
              <a:t/>
            </a:r>
            <a:endParaRPr sz="1000">
              <a:solidFill>
                <a:srgbClr val="9E9E9E"/>
              </a:solidFill>
              <a:latin typeface="Mulish"/>
              <a:ea typeface="Mulish"/>
              <a:cs typeface="Mulish"/>
              <a:sym typeface="Mulish"/>
            </a:endParaRPr>
          </a:p>
          <a:p>
            <a:pPr indent="0" lvl="0" marL="0" rtl="0" algn="r">
              <a:spcBef>
                <a:spcPts val="0"/>
              </a:spcBef>
              <a:spcAft>
                <a:spcPts val="0"/>
              </a:spcAft>
              <a:buNone/>
            </a:pPr>
            <a:r>
              <a:t/>
            </a:r>
            <a:endParaRPr sz="1000">
              <a:solidFill>
                <a:srgbClr val="9E9E9E"/>
              </a:solidFill>
              <a:latin typeface="Mulish"/>
              <a:ea typeface="Mulish"/>
              <a:cs typeface="Mulish"/>
              <a:sym typeface="Mulish"/>
            </a:endParaRPr>
          </a:p>
          <a:p>
            <a:pPr indent="0" lvl="0" marL="0" rtl="0" algn="r">
              <a:spcBef>
                <a:spcPts val="0"/>
              </a:spcBef>
              <a:spcAft>
                <a:spcPts val="0"/>
              </a:spcAft>
              <a:buNone/>
            </a:pPr>
            <a:r>
              <a:t/>
            </a:r>
            <a:endParaRPr sz="1000">
              <a:solidFill>
                <a:srgbClr val="9E9E9E"/>
              </a:solidFill>
              <a:latin typeface="Mulish"/>
              <a:ea typeface="Mulish"/>
              <a:cs typeface="Mulish"/>
              <a:sym typeface="Mulish"/>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0" st="0"/>
                                            </p:txEl>
                                          </p:spTgt>
                                        </p:tgtEl>
                                        <p:attrNameLst>
                                          <p:attrName>style.visibility</p:attrName>
                                        </p:attrNameLst>
                                      </p:cBhvr>
                                      <p:to>
                                        <p:strVal val="visible"/>
                                      </p:to>
                                    </p:set>
                                    <p:animEffect filter="fade" transition="in">
                                      <p:cBhvr>
                                        <p:cTn dur="1000"/>
                                        <p:tgtEl>
                                          <p:spTgt spid="14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1" st="1"/>
                                            </p:txEl>
                                          </p:spTgt>
                                        </p:tgtEl>
                                        <p:attrNameLst>
                                          <p:attrName>style.visibility</p:attrName>
                                        </p:attrNameLst>
                                      </p:cBhvr>
                                      <p:to>
                                        <p:strVal val="visible"/>
                                      </p:to>
                                    </p:set>
                                    <p:animEffect filter="fade" transition="in">
                                      <p:cBhvr>
                                        <p:cTn dur="1000"/>
                                        <p:tgtEl>
                                          <p:spTgt spid="14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2" st="2"/>
                                            </p:txEl>
                                          </p:spTgt>
                                        </p:tgtEl>
                                        <p:attrNameLst>
                                          <p:attrName>style.visibility</p:attrName>
                                        </p:attrNameLst>
                                      </p:cBhvr>
                                      <p:to>
                                        <p:strVal val="visible"/>
                                      </p:to>
                                    </p:set>
                                    <p:animEffect filter="fade" transition="in">
                                      <p:cBhvr>
                                        <p:cTn dur="1000"/>
                                        <p:tgtEl>
                                          <p:spTgt spid="14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3" st="3"/>
                                            </p:txEl>
                                          </p:spTgt>
                                        </p:tgtEl>
                                        <p:attrNameLst>
                                          <p:attrName>style.visibility</p:attrName>
                                        </p:attrNameLst>
                                      </p:cBhvr>
                                      <p:to>
                                        <p:strVal val="visible"/>
                                      </p:to>
                                    </p:set>
                                    <p:animEffect filter="fade" transition="in">
                                      <p:cBhvr>
                                        <p:cTn dur="1000"/>
                                        <p:tgtEl>
                                          <p:spTgt spid="14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4" st="4"/>
                                            </p:txEl>
                                          </p:spTgt>
                                        </p:tgtEl>
                                        <p:attrNameLst>
                                          <p:attrName>style.visibility</p:attrName>
                                        </p:attrNameLst>
                                      </p:cBhvr>
                                      <p:to>
                                        <p:strVal val="visible"/>
                                      </p:to>
                                    </p:set>
                                    <p:animEffect filter="fade" transition="in">
                                      <p:cBhvr>
                                        <p:cTn dur="1000"/>
                                        <p:tgtEl>
                                          <p:spTgt spid="146">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