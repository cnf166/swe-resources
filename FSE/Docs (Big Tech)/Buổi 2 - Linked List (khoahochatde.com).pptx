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ulish"/>
      <p:regular r:id="rId19"/>
      <p:bold r:id="rId20"/>
      <p:italic r:id="rId21"/>
      <p:boldItalic r:id="rId22"/>
    </p:embeddedFont>
    <p:embeddedFont>
      <p:font typeface="Mulish ExtraBold"/>
      <p:bold r:id="rId23"/>
      <p:boldItalic r:id="rId24"/>
    </p:embeddedFont>
    <p:embeddedFont>
      <p:font typeface="Mulish Black"/>
      <p:bold r:id="rId25"/>
      <p:boldItalic r:id="rId26"/>
    </p:embeddedFont>
    <p:embeddedFont>
      <p:font typeface="Mulish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lish-bold.fntdata"/><Relationship Id="rId22" Type="http://schemas.openxmlformats.org/officeDocument/2006/relationships/font" Target="fonts/Mulish-boldItalic.fntdata"/><Relationship Id="rId21" Type="http://schemas.openxmlformats.org/officeDocument/2006/relationships/font" Target="fonts/Mulish-italic.fntdata"/><Relationship Id="rId24" Type="http://schemas.openxmlformats.org/officeDocument/2006/relationships/font" Target="fonts/MulishExtraBold-boldItalic.fntdata"/><Relationship Id="rId23" Type="http://schemas.openxmlformats.org/officeDocument/2006/relationships/font" Target="fonts/Mulish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ulishBlack-boldItalic.fntdata"/><Relationship Id="rId25" Type="http://schemas.openxmlformats.org/officeDocument/2006/relationships/font" Target="fonts/MulishBlack-bold.fntdata"/><Relationship Id="rId28" Type="http://schemas.openxmlformats.org/officeDocument/2006/relationships/font" Target="fonts/MulishMedium-bold.fntdata"/><Relationship Id="rId27" Type="http://schemas.openxmlformats.org/officeDocument/2006/relationships/font" Target="fonts/Mulish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ulish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ulish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ulish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648d68c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648d68c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648d68c0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648d68c0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648d68c0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648d68c0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1648d68c0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1648d68c0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1648d68c0e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1648d68c0e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174cdcef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174cdcef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17dbfe5d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17dbfe5d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17dbfe5dc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17dbfe5dc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7dbfe5d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17dbfe5d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74cdcef6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74cdcef6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74cdcef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74cdcef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174cdcef6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174cdcef6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74cdcef6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74cdcef6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etcode.com/problems/reverse-linked-list/" TargetMode="External"/><Relationship Id="rId4" Type="http://schemas.openxmlformats.org/officeDocument/2006/relationships/hyperlink" Target="https://leetcode.com/problems/merge-two-sorted-lists/" TargetMode="External"/><Relationship Id="rId5" Type="http://schemas.openxmlformats.org/officeDocument/2006/relationships/hyperlink" Target="https://leetcode.com/problems/linked-list-cycle/" TargetMode="External"/><Relationship Id="rId6" Type="http://schemas.openxmlformats.org/officeDocument/2006/relationships/hyperlink" Target="https://leetcode.com/problems/happy-number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linked-list-cycle-ii" TargetMode="External"/><Relationship Id="rId4" Type="http://schemas.openxmlformats.org/officeDocument/2006/relationships/hyperlink" Target="https://leetcode.com/problems/remove-duplicates-from-sorted-list/" TargetMode="External"/><Relationship Id="rId5" Type="http://schemas.openxmlformats.org/officeDocument/2006/relationships/hyperlink" Target="https://leetcode.com/problems/palindrome-linked-li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21500" y="2171550"/>
            <a:ext cx="661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 Linked List 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  <a:latin typeface="Mulish Medium"/>
                <a:ea typeface="Mulish Medium"/>
                <a:cs typeface="Mulish Medium"/>
                <a:sym typeface="Mulish Medium"/>
              </a:rPr>
              <a:t>Pham Ngoc Lam</a:t>
            </a:r>
            <a:r>
              <a:rPr lang="en">
                <a:solidFill>
                  <a:srgbClr val="0B3E64"/>
                </a:solidFill>
                <a:latin typeface="Mulish Medium"/>
                <a:ea typeface="Mulish Medium"/>
                <a:cs typeface="Mulish Medium"/>
                <a:sym typeface="Mulish Medium"/>
              </a:rPr>
              <a:t>, 2022.</a:t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 - FSE K04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Contents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572000" y="724200"/>
            <a:ext cx="4533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ulish"/>
              <a:buAutoNum type="arabicPeriod"/>
            </a:pPr>
            <a:r>
              <a:rPr lang="en" sz="16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Linked List là gì?</a:t>
            </a:r>
            <a:endParaRPr sz="16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ulish"/>
              <a:buAutoNum type="arabicPeriod"/>
            </a:pPr>
            <a:r>
              <a:rPr lang="en" sz="16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Các loại linked list thường gặp</a:t>
            </a:r>
            <a:endParaRPr sz="16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ulish"/>
              <a:buAutoNum type="arabicPeriod"/>
            </a:pPr>
            <a:r>
              <a:rPr lang="en" sz="16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Livecoding: Examples</a:t>
            </a:r>
            <a:endParaRPr sz="16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ulish"/>
              <a:buAutoNum type="arabicPeriod"/>
            </a:pPr>
            <a:r>
              <a:rPr lang="en" sz="1600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rPr>
              <a:t>Homework </a:t>
            </a:r>
            <a:endParaRPr sz="1600">
              <a:solidFill>
                <a:schemeClr val="lt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</a:t>
            </a: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2259600" y="22023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 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Linked List là gì?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1.1.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Khái niệm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66325"/>
            <a:ext cx="4401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-  Linked List (Danh sách liên kết) l</a:t>
            </a:r>
            <a:r>
              <a:rPr lang="en" sz="1400">
                <a:solidFill>
                  <a:schemeClr val="dk1"/>
                </a:solidFill>
              </a:rPr>
              <a:t>à 1 tập hợp tuyến tính các phần tử dữ liệu mà thứ tự của chúng không đưa ra bởi vị trí vật lí của chúng trong bộ nhớ.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- Thời gian truy cập các phần tử thứ n là O(n).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rgbClr val="0B3E64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825" y="3244713"/>
            <a:ext cx="571500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2259600" y="2202300"/>
            <a:ext cx="462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Các loại linked list thường gặp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.1.1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Singly Linked List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?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66325"/>
            <a:ext cx="7833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Char char="-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Chỉ duyệt các phần tử theo chiều về trước (từ trái qua phải như dưới hình).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-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Các node chỉ có 1 đường để đi đến node kế tiếp, không thể quay về.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-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Time complexity cho 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truy cập / xoá / chèn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 1 node thứ k : O(k)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175" y="3494788"/>
            <a:ext cx="57150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950" y="2337225"/>
            <a:ext cx="39814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.1.2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Các thao tác thường gặp.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66325"/>
            <a:ext cx="7833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-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Deletion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800" y="1625435"/>
            <a:ext cx="3524250" cy="25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.1.2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Các thao tác thường gặp.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266325"/>
            <a:ext cx="7833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-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</a:rPr>
              <a:t>Insertion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775" y="1608925"/>
            <a:ext cx="7992349" cy="330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2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.2.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Doubly Linked List 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400"/>
              <a:buChar char="-"/>
            </a:pP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Các node có thể duyệt </a:t>
            </a: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theo 2 chiêù</a:t>
            </a:r>
            <a:endParaRPr sz="1400">
              <a:solidFill>
                <a:srgbClr val="232629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400"/>
              <a:buChar char="-"/>
            </a:pP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Time complexity khi </a:t>
            </a: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truy cập/ xoá /chèn</a:t>
            </a: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 phần tử thứ k bắt đầu từ head node là O(k) - tuyến tính (</a:t>
            </a: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Tương tự với singly linked list)</a:t>
            </a:r>
            <a:endParaRPr sz="1400">
              <a:solidFill>
                <a:srgbClr val="232629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32629"/>
              </a:buClr>
              <a:buSzPts val="1400"/>
              <a:buChar char="-"/>
            </a:pP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Ứng dụng: </a:t>
            </a: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cài LRU cache</a:t>
            </a:r>
            <a:r>
              <a:rPr lang="en" sz="1400">
                <a:solidFill>
                  <a:srgbClr val="232629"/>
                </a:solidFill>
                <a:highlight>
                  <a:srgbClr val="FFFFFF"/>
                </a:highlight>
              </a:rPr>
              <a:t>.</a:t>
            </a:r>
            <a:endParaRPr sz="1400">
              <a:solidFill>
                <a:srgbClr val="232629"/>
              </a:solidFill>
              <a:highlight>
                <a:srgbClr val="FFFFFF"/>
              </a:highlight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1266325"/>
            <a:ext cx="44925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2843413"/>
            <a:ext cx="863917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/>
        </p:nvSpPr>
        <p:spPr>
          <a:xfrm>
            <a:off x="2259600" y="22023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 Live Coding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3.1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Example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https://leetcode.com/problems/reverse-linked-list/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https://leetcode.com/problems/merge-two-sorted-lists/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https://leetcode.com/problems/linked-list-cycle/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https://leetcode.com/problems/happy-number/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Code mẫu: https://pastebin.pl/view/0e5358dc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2259600" y="2202300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4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  </a:t>
            </a: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4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.1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.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 </a:t>
            </a:r>
            <a:r>
              <a:rPr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1266325"/>
            <a:ext cx="8595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https://leetcode.com/problems/linked-list-cycle-ii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https://leetcode.com/problems/remove-duplicates-from-sorted-list/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https://leetcode.com/problems/palindrome-linked-list/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optional: https://leetcode.com/problems/merge-k-sorted-lists/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Link nộp bài: https://classroom.github.com/a/xKmsFVl8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Code mẫu: 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7209150" y="65375"/>
            <a:ext cx="181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[FSE]  Linked List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