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Mulish"/>
      <p:regular r:id="rId36"/>
      <p:bold r:id="rId37"/>
      <p:italic r:id="rId38"/>
      <p:boldItalic r:id="rId39"/>
    </p:embeddedFont>
    <p:embeddedFont>
      <p:font typeface="Roboto"/>
      <p:regular r:id="rId40"/>
      <p:bold r:id="rId41"/>
      <p:italic r:id="rId42"/>
      <p:boldItalic r:id="rId43"/>
    </p:embeddedFont>
    <p:embeddedFont>
      <p:font typeface="PT Sans Narrow"/>
      <p:regular r:id="rId44"/>
      <p:bold r:id="rId45"/>
    </p:embeddedFont>
    <p:embeddedFont>
      <p:font typeface="Mulish ExtraBold"/>
      <p:bold r:id="rId46"/>
      <p:boldItalic r:id="rId47"/>
    </p:embeddedFont>
    <p:embeddedFont>
      <p:font typeface="Mulish Black"/>
      <p:bold r:id="rId48"/>
      <p:boldItalic r:id="rId49"/>
    </p:embeddedFont>
    <p:embeddedFont>
      <p:font typeface="Mulish Medium"/>
      <p:regular r:id="rId50"/>
      <p:bold r:id="rId51"/>
      <p:italic r:id="rId52"/>
      <p:boldItalic r:id="rId53"/>
    </p:embeddedFont>
    <p:embeddedFont>
      <p:font typeface="Open Sans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regular.fntdata"/><Relationship Id="rId42" Type="http://schemas.openxmlformats.org/officeDocument/2006/relationships/font" Target="fonts/Roboto-italic.fntdata"/><Relationship Id="rId41" Type="http://schemas.openxmlformats.org/officeDocument/2006/relationships/font" Target="fonts/Roboto-bold.fntdata"/><Relationship Id="rId44" Type="http://schemas.openxmlformats.org/officeDocument/2006/relationships/font" Target="fonts/PTSansNarrow-regular.fntdata"/><Relationship Id="rId43" Type="http://schemas.openxmlformats.org/officeDocument/2006/relationships/font" Target="fonts/Roboto-boldItalic.fntdata"/><Relationship Id="rId46" Type="http://schemas.openxmlformats.org/officeDocument/2006/relationships/font" Target="fonts/MulishExtraBold-bold.fntdata"/><Relationship Id="rId45" Type="http://schemas.openxmlformats.org/officeDocument/2006/relationships/font" Target="fonts/PTSansNarrow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MulishBlack-bold.fntdata"/><Relationship Id="rId47" Type="http://schemas.openxmlformats.org/officeDocument/2006/relationships/font" Target="fonts/MulishExtraBold-boldItalic.fntdata"/><Relationship Id="rId49" Type="http://schemas.openxmlformats.org/officeDocument/2006/relationships/font" Target="fonts/MulishBlack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font" Target="fonts/Mulish-bold.fntdata"/><Relationship Id="rId36" Type="http://schemas.openxmlformats.org/officeDocument/2006/relationships/font" Target="fonts/Mulish-regular.fntdata"/><Relationship Id="rId39" Type="http://schemas.openxmlformats.org/officeDocument/2006/relationships/font" Target="fonts/Mulish-boldItalic.fntdata"/><Relationship Id="rId38" Type="http://schemas.openxmlformats.org/officeDocument/2006/relationships/font" Target="fonts/Mulish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MulishMedium-bold.fntdata"/><Relationship Id="rId50" Type="http://schemas.openxmlformats.org/officeDocument/2006/relationships/font" Target="fonts/MulishMedium-regular.fntdata"/><Relationship Id="rId53" Type="http://schemas.openxmlformats.org/officeDocument/2006/relationships/font" Target="fonts/MulishMedium-boldItalic.fntdata"/><Relationship Id="rId52" Type="http://schemas.openxmlformats.org/officeDocument/2006/relationships/font" Target="fonts/MulishMedium-italic.fntdata"/><Relationship Id="rId11" Type="http://schemas.openxmlformats.org/officeDocument/2006/relationships/slide" Target="slides/slide5.xml"/><Relationship Id="rId55" Type="http://schemas.openxmlformats.org/officeDocument/2006/relationships/font" Target="fonts/OpenSans-bold.fntdata"/><Relationship Id="rId10" Type="http://schemas.openxmlformats.org/officeDocument/2006/relationships/slide" Target="slides/slide4.xml"/><Relationship Id="rId54" Type="http://schemas.openxmlformats.org/officeDocument/2006/relationships/font" Target="fonts/OpenSans-regular.fntdata"/><Relationship Id="rId13" Type="http://schemas.openxmlformats.org/officeDocument/2006/relationships/slide" Target="slides/slide7.xml"/><Relationship Id="rId57" Type="http://schemas.openxmlformats.org/officeDocument/2006/relationships/font" Target="fonts/OpenSans-boldItalic.fntdata"/><Relationship Id="rId12" Type="http://schemas.openxmlformats.org/officeDocument/2006/relationships/slide" Target="slides/slide6.xml"/><Relationship Id="rId56" Type="http://schemas.openxmlformats.org/officeDocument/2006/relationships/font" Target="fonts/OpenSans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1a6dd2d4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1a6dd2d4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ecde8b696e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ecde8b696e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1a6dd2d446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1a6dd2d446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1a6dd2d446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1a6dd2d446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1a6dd2d446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1a6dd2d446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1a6dd2d446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1a6dd2d446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1e4056f69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1e4056f69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1e4056f69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1e4056f69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1e41bbbfd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1e41bbbfd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1e41bbbfd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11e41bbbfd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1e41bbbfd9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1e41bbbfd9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1e41bbbfd9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1e41bbbfd9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11a6dd2d446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11a6dd2d446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11e41bbbfd9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11e41bbbfd9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1e41bbbfd9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11e41bbbfd9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11e41bbbfd9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11e41bbbfd9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15ea68bccfa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15ea68bccfa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15ea68bcc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15ea68bcc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5ea68bccf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15ea68bccf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15ea68bccf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15ea68bccf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15ea68bccf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15ea68bccf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15ea68bccf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15ea68bccf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15ea68bccf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15ea68bccf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15ea68bccf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15ea68bccf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15ea68bccfa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15ea68bccfa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11a6dd2d446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11a6dd2d446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11a6dd2d446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11a6dd2d446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119de4602c4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119de4602c4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119718b77f6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119718b77f6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8" name="Google Shape;68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1" name="Google Shape;9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5" name="Google Shape;95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6" name="Google Shape;96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3" name="Google Shape;103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rgbClr val="EBF0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leetcode.com/problems/binary-search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leetcode.com/problems/find-first-and-last-position-of-element-in-sorted-array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leetcode.com/problems/sqrtx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leetcode.com/problems/first-bad-version/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leetcode.com/problems/find-minimum-in-rotated-sorted-array/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leetcode.com/problems/binary-search/" TargetMode="External"/><Relationship Id="rId4" Type="http://schemas.openxmlformats.org/officeDocument/2006/relationships/hyperlink" Target="https://leetcode.com/problems/find-first-and-last-position-of-element-in-sorted-array/" TargetMode="External"/><Relationship Id="rId5" Type="http://schemas.openxmlformats.org/officeDocument/2006/relationships/hyperlink" Target="https://leetcode.com/problems/sqrtx/" TargetMode="External"/><Relationship Id="rId6" Type="http://schemas.openxmlformats.org/officeDocument/2006/relationships/hyperlink" Target="https://leetcode.com/problems/first-bad-version/" TargetMode="External"/><Relationship Id="rId7" Type="http://schemas.openxmlformats.org/officeDocument/2006/relationships/hyperlink" Target="https://leetcode.com/problems/find-minimum-in-rotated-sorted-array/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leetcode.com/problems/search-a-2d-matrix/" TargetMode="External"/><Relationship Id="rId4" Type="http://schemas.openxmlformats.org/officeDocument/2006/relationships/hyperlink" Target="https://leetcode.com/problems/valid-perfect-square/" TargetMode="External"/><Relationship Id="rId5" Type="http://schemas.openxmlformats.org/officeDocument/2006/relationships/hyperlink" Target="https://leetcode.com/problems/search-in-rotated-sorted-array/" TargetMode="External"/><Relationship Id="rId6" Type="http://schemas.openxmlformats.org/officeDocument/2006/relationships/hyperlink" Target="https://leetcode.com/problems/find-peak-element/" TargetMode="External"/><Relationship Id="rId7" Type="http://schemas.openxmlformats.org/officeDocument/2006/relationships/hyperlink" Target="https://leetcode.com/problems/arranging-coi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/>
          <p:nvPr/>
        </p:nvSpPr>
        <p:spPr>
          <a:xfrm>
            <a:off x="1321500" y="2171550"/>
            <a:ext cx="66144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090F8"/>
                </a:solidFill>
                <a:latin typeface="Mulish Black"/>
                <a:ea typeface="Mulish Black"/>
                <a:cs typeface="Mulish Black"/>
                <a:sym typeface="Mulish Black"/>
              </a:rPr>
              <a:t> Binary Search (Basic) </a:t>
            </a:r>
            <a:endParaRPr sz="4000">
              <a:solidFill>
                <a:srgbClr val="0090F8"/>
              </a:solidFill>
              <a:latin typeface="Mulish Black"/>
              <a:ea typeface="Mulish Black"/>
              <a:cs typeface="Mulish Black"/>
              <a:sym typeface="Mulish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90F8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112" name="Google Shape;112;p25"/>
          <p:cNvSpPr txBox="1"/>
          <p:nvPr/>
        </p:nvSpPr>
        <p:spPr>
          <a:xfrm>
            <a:off x="2905350" y="4337750"/>
            <a:ext cx="333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3E64"/>
                </a:solidFill>
                <a:latin typeface="Mulish Medium"/>
                <a:ea typeface="Mulish Medium"/>
                <a:cs typeface="Mulish Medium"/>
                <a:sym typeface="Mulish Medium"/>
              </a:rPr>
              <a:t>Mai Thanh Hiep</a:t>
            </a:r>
            <a:r>
              <a:rPr lang="en">
                <a:solidFill>
                  <a:srgbClr val="0B3E64"/>
                </a:solidFill>
                <a:latin typeface="Mulish Medium"/>
                <a:ea typeface="Mulish Medium"/>
                <a:cs typeface="Mulish Medium"/>
                <a:sym typeface="Mulish Medium"/>
              </a:rPr>
              <a:t>, 04 Oct 2022</a:t>
            </a:r>
            <a:endParaRPr>
              <a:solidFill>
                <a:srgbClr val="0B3E64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113" name="Google Shape;11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25"/>
          <p:cNvSpPr txBox="1"/>
          <p:nvPr/>
        </p:nvSpPr>
        <p:spPr>
          <a:xfrm>
            <a:off x="3092550" y="1483975"/>
            <a:ext cx="295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ulish"/>
                <a:ea typeface="Mulish"/>
                <a:cs typeface="Mulish"/>
                <a:sym typeface="Mulish"/>
              </a:rPr>
              <a:t>Future Software Engineers - FSE K04</a:t>
            </a:r>
            <a:endParaRPr sz="1200"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/>
          <p:nvPr/>
        </p:nvSpPr>
        <p:spPr>
          <a:xfrm>
            <a:off x="4572000" y="0"/>
            <a:ext cx="4724100" cy="5143500"/>
          </a:xfrm>
          <a:prstGeom prst="rect">
            <a:avLst/>
          </a:prstGeom>
          <a:solidFill>
            <a:srgbClr val="0B3E6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6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 Mục lục</a:t>
            </a:r>
            <a:endParaRPr b="0" sz="32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21" name="Google Shape;121;p26"/>
          <p:cNvSpPr txBox="1"/>
          <p:nvPr>
            <p:ph idx="2" type="body"/>
          </p:nvPr>
        </p:nvSpPr>
        <p:spPr>
          <a:xfrm>
            <a:off x="4572000" y="724200"/>
            <a:ext cx="4572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AutoNum type="arabicPeriod"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Ý tưởng Binary Search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AutoNum type="arabicPeriod"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Các dạng Binary Search cơ bản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AutoNum type="arabicPeriod"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Các dạng Binary Search khác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AutoNum type="arabicPeriod"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Live coding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AutoNum type="arabicPeriod"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Homework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22" name="Google Shape;122;p26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6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Binary Search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0F8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7"/>
          <p:cNvSpPr txBox="1"/>
          <p:nvPr/>
        </p:nvSpPr>
        <p:spPr>
          <a:xfrm>
            <a:off x="1537200" y="2202300"/>
            <a:ext cx="606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1.  </a:t>
            </a: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Ý tưởng Binary Search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30" name="Google Shape;13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Ý tưởng Binary Search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36" name="Google Shape;136;p28"/>
          <p:cNvSpPr txBox="1"/>
          <p:nvPr>
            <p:ph idx="1" type="body"/>
          </p:nvPr>
        </p:nvSpPr>
        <p:spPr>
          <a:xfrm>
            <a:off x="534975" y="1090163"/>
            <a:ext cx="83712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Binary Search </a:t>
            </a:r>
            <a:r>
              <a:rPr lang="en" sz="1500">
                <a:solidFill>
                  <a:schemeClr val="dk1"/>
                </a:solidFill>
              </a:rPr>
              <a:t>tìm kiếm trên một </a:t>
            </a:r>
            <a:r>
              <a:rPr b="1" lang="en" sz="1500">
                <a:solidFill>
                  <a:schemeClr val="dk1"/>
                </a:solidFill>
              </a:rPr>
              <a:t>dãy liên tiếp có tính chất đặc biệt</a:t>
            </a:r>
            <a:r>
              <a:rPr lang="en" sz="1500">
                <a:solidFill>
                  <a:schemeClr val="dk1"/>
                </a:solidFill>
              </a:rPr>
              <a:t> (đã được sắp xếp, đồng biến...).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Binary Search duy trì 3 chỉ số chính: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i="1" lang="en" sz="1500">
                <a:solidFill>
                  <a:schemeClr val="dk1"/>
                </a:solidFill>
              </a:rPr>
              <a:t>left</a:t>
            </a:r>
            <a:r>
              <a:rPr lang="en" sz="1500">
                <a:solidFill>
                  <a:schemeClr val="dk1"/>
                </a:solidFill>
              </a:rPr>
              <a:t>: Biên trái của dãy tìm kiếm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i="1" lang="en" sz="1500">
                <a:solidFill>
                  <a:schemeClr val="dk1"/>
                </a:solidFill>
              </a:rPr>
              <a:t>right</a:t>
            </a:r>
            <a:r>
              <a:rPr lang="en" sz="1500">
                <a:solidFill>
                  <a:schemeClr val="dk1"/>
                </a:solidFill>
              </a:rPr>
              <a:t>: Biên phải của dãy tìm kiếm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i="1" lang="en" sz="1500">
                <a:solidFill>
                  <a:schemeClr val="dk1"/>
                </a:solidFill>
              </a:rPr>
              <a:t>mid</a:t>
            </a:r>
            <a:r>
              <a:rPr lang="en" sz="1500">
                <a:solidFill>
                  <a:schemeClr val="dk1"/>
                </a:solidFill>
              </a:rPr>
              <a:t>: Phần tử giữa của dãy tìm kiếm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Binary Search </a:t>
            </a:r>
            <a:r>
              <a:rPr b="1" lang="en" sz="1500">
                <a:solidFill>
                  <a:schemeClr val="dk1"/>
                </a:solidFill>
              </a:rPr>
              <a:t>so sánh</a:t>
            </a:r>
            <a:r>
              <a:rPr lang="en" sz="1500">
                <a:solidFill>
                  <a:schemeClr val="dk1"/>
                </a:solidFill>
              </a:rPr>
              <a:t> phần tử </a:t>
            </a:r>
            <a:r>
              <a:rPr b="1" i="1" lang="en" sz="1500">
                <a:solidFill>
                  <a:schemeClr val="dk1"/>
                </a:solidFill>
              </a:rPr>
              <a:t>target</a:t>
            </a:r>
            <a:r>
              <a:rPr lang="en" sz="1500">
                <a:solidFill>
                  <a:schemeClr val="dk1"/>
                </a:solidFill>
              </a:rPr>
              <a:t> với phần tử </a:t>
            </a:r>
            <a:r>
              <a:rPr b="1" i="1" lang="en" sz="1500">
                <a:solidFill>
                  <a:schemeClr val="dk1"/>
                </a:solidFill>
              </a:rPr>
              <a:t>mid</a:t>
            </a:r>
            <a:r>
              <a:rPr lang="en" sz="1500">
                <a:solidFill>
                  <a:schemeClr val="dk1"/>
                </a:solidFill>
              </a:rPr>
              <a:t> hoặc </a:t>
            </a:r>
            <a:r>
              <a:rPr b="1" lang="en" sz="1500">
                <a:solidFill>
                  <a:schemeClr val="dk1"/>
                </a:solidFill>
              </a:rPr>
              <a:t>áp dụng điều kiện tìm kiếm</a:t>
            </a:r>
            <a:r>
              <a:rPr lang="en" sz="1500">
                <a:solidFill>
                  <a:schemeClr val="dk1"/>
                </a:solidFill>
              </a:rPr>
              <a:t> vào phần tử </a:t>
            </a:r>
            <a:r>
              <a:rPr b="1" i="1" lang="en" sz="1500">
                <a:solidFill>
                  <a:schemeClr val="dk1"/>
                </a:solidFill>
              </a:rPr>
              <a:t>mid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Nếu </a:t>
            </a:r>
            <a:r>
              <a:rPr b="1" lang="en" sz="1500">
                <a:solidFill>
                  <a:schemeClr val="dk1"/>
                </a:solidFill>
              </a:rPr>
              <a:t>điều kiện không thoả</a:t>
            </a:r>
            <a:r>
              <a:rPr lang="en" sz="1500">
                <a:solidFill>
                  <a:schemeClr val="dk1"/>
                </a:solidFill>
              </a:rPr>
              <a:t> hoặc </a:t>
            </a:r>
            <a:r>
              <a:rPr b="1" lang="en" sz="1500">
                <a:solidFill>
                  <a:schemeClr val="dk1"/>
                </a:solidFill>
              </a:rPr>
              <a:t>không tìm thấy giá trị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b="1" i="1" lang="en" sz="1500">
                <a:solidFill>
                  <a:schemeClr val="dk1"/>
                </a:solidFill>
              </a:rPr>
              <a:t>target</a:t>
            </a:r>
            <a:r>
              <a:rPr lang="en" sz="1500">
                <a:solidFill>
                  <a:schemeClr val="dk1"/>
                </a:solidFill>
              </a:rPr>
              <a:t> thì </a:t>
            </a:r>
            <a:r>
              <a:rPr b="1" lang="en" sz="1500">
                <a:solidFill>
                  <a:schemeClr val="dk1"/>
                </a:solidFill>
              </a:rPr>
              <a:t>một nửa của dãy không thoả mãn sẽ bị loại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Thuật toán sẽ tiếp tục tìm kiếm trên 1 nửa còn lại cho đến khi dãy tìm kiếm rỗng hoặc đã tìm thấy giá trị thoả mãn.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sz="1500">
              <a:solidFill>
                <a:srgbClr val="0B3E64"/>
              </a:solidFill>
            </a:endParaRPr>
          </a:p>
        </p:txBody>
      </p:sp>
      <p:sp>
        <p:nvSpPr>
          <p:cNvPr id="137" name="Google Shape;137;p28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28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Binary Search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0F8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9"/>
          <p:cNvSpPr txBox="1"/>
          <p:nvPr/>
        </p:nvSpPr>
        <p:spPr>
          <a:xfrm>
            <a:off x="1537200" y="1925250"/>
            <a:ext cx="6069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</a:t>
            </a: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 </a:t>
            </a: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Các dạng</a:t>
            </a: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 Binary Search </a:t>
            </a: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cơ bản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45" name="Google Shape;14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90F8"/>
              </a:buClr>
              <a:buSzPts val="2400"/>
              <a:buFont typeface="Mulish ExtraBold"/>
              <a:buAutoNum type="arabicPeriod"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Search a target in a sorted array - Basic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51" name="Google Shape;151;p30"/>
          <p:cNvSpPr txBox="1"/>
          <p:nvPr>
            <p:ph idx="1" type="body"/>
          </p:nvPr>
        </p:nvSpPr>
        <p:spPr>
          <a:xfrm>
            <a:off x="402900" y="1189113"/>
            <a:ext cx="83382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Cho dãy </a:t>
            </a:r>
            <a:r>
              <a:rPr b="1" i="1" lang="en" sz="1400">
                <a:solidFill>
                  <a:schemeClr val="dk1"/>
                </a:solidFill>
              </a:rPr>
              <a:t>n</a:t>
            </a:r>
            <a:r>
              <a:rPr lang="en" sz="1400">
                <a:solidFill>
                  <a:schemeClr val="dk1"/>
                </a:solidFill>
              </a:rPr>
              <a:t> số nguyên </a:t>
            </a:r>
            <a:r>
              <a:rPr b="1" i="1" lang="en" sz="1400">
                <a:solidFill>
                  <a:schemeClr val="dk1"/>
                </a:solidFill>
              </a:rPr>
              <a:t>nums</a:t>
            </a:r>
            <a:r>
              <a:rPr lang="en" sz="1400">
                <a:solidFill>
                  <a:schemeClr val="dk1"/>
                </a:solidFill>
              </a:rPr>
              <a:t> được sắp xếp theo thứ tự tăng dần, và một số nguyên </a:t>
            </a:r>
            <a:r>
              <a:rPr b="1" i="1" lang="en" sz="1400">
                <a:solidFill>
                  <a:schemeClr val="dk1"/>
                </a:solidFill>
              </a:rPr>
              <a:t>target</a:t>
            </a:r>
            <a:r>
              <a:rPr lang="en" sz="1400">
                <a:solidFill>
                  <a:schemeClr val="dk1"/>
                </a:solidFill>
              </a:rPr>
              <a:t>. Tìm kiếm </a:t>
            </a:r>
            <a:r>
              <a:rPr b="1" i="1" lang="en" sz="1400">
                <a:solidFill>
                  <a:schemeClr val="dk1"/>
                </a:solidFill>
              </a:rPr>
              <a:t>target</a:t>
            </a:r>
            <a:r>
              <a:rPr lang="en" sz="1400">
                <a:solidFill>
                  <a:schemeClr val="dk1"/>
                </a:solidFill>
              </a:rPr>
              <a:t> trên mảng </a:t>
            </a:r>
            <a:r>
              <a:rPr b="1" i="1" lang="en" sz="1400">
                <a:solidFill>
                  <a:schemeClr val="dk1"/>
                </a:solidFill>
              </a:rPr>
              <a:t>nums</a:t>
            </a:r>
            <a:r>
              <a:rPr lang="en" sz="1400">
                <a:solidFill>
                  <a:schemeClr val="dk1"/>
                </a:solidFill>
              </a:rPr>
              <a:t>, nếu tìm thấy </a:t>
            </a:r>
            <a:r>
              <a:rPr b="1" i="1" lang="en" sz="1400">
                <a:solidFill>
                  <a:schemeClr val="dk1"/>
                </a:solidFill>
              </a:rPr>
              <a:t>target</a:t>
            </a:r>
            <a:r>
              <a:rPr lang="en" sz="1400">
                <a:solidFill>
                  <a:schemeClr val="dk1"/>
                </a:solidFill>
              </a:rPr>
              <a:t> trả về chỉ số trên mảng, nếu không tìm thấy trả về </a:t>
            </a:r>
            <a:r>
              <a:rPr b="1" lang="en" sz="1400">
                <a:solidFill>
                  <a:schemeClr val="dk1"/>
                </a:solidFill>
              </a:rPr>
              <a:t>-1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Giới hạn dữ liệu: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1 &lt;= nums.length &lt;= 10^5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-10^4 &lt; nums[i], target &lt; 10^4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Các phần tử phân biệt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52" name="Google Shape;152;p30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p30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Binary Search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Ví dụ minh hoạ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60" name="Google Shape;160;p31"/>
          <p:cNvSpPr txBox="1"/>
          <p:nvPr>
            <p:ph idx="1" type="body"/>
          </p:nvPr>
        </p:nvSpPr>
        <p:spPr>
          <a:xfrm>
            <a:off x="311700" y="1266325"/>
            <a:ext cx="83712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Cho mảng số nguyên đã được sắp xếp tăng dần. Tìm vị trí của phần tử có giá trị </a:t>
            </a:r>
            <a:r>
              <a:rPr b="1" lang="en" sz="1400">
                <a:solidFill>
                  <a:schemeClr val="dk1"/>
                </a:solidFill>
              </a:rPr>
              <a:t>target=13</a:t>
            </a:r>
            <a:r>
              <a:rPr lang="en" sz="1400">
                <a:solidFill>
                  <a:schemeClr val="dk1"/>
                </a:solidFill>
              </a:rPr>
              <a:t> trong mảng.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61" name="Google Shape;161;p31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31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Binary Search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164" name="Google Shape;164;p31"/>
          <p:cNvGrpSpPr/>
          <p:nvPr/>
        </p:nvGrpSpPr>
        <p:grpSpPr>
          <a:xfrm>
            <a:off x="1620000" y="2076000"/>
            <a:ext cx="5904000" cy="393600"/>
            <a:chOff x="1620000" y="1596375"/>
            <a:chExt cx="5904000" cy="393600"/>
          </a:xfrm>
        </p:grpSpPr>
        <p:sp>
          <p:nvSpPr>
            <p:cNvPr id="165" name="Google Shape;165;p31"/>
            <p:cNvSpPr/>
            <p:nvPr/>
          </p:nvSpPr>
          <p:spPr>
            <a:xfrm>
              <a:off x="16200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</a:t>
              </a:r>
              <a:endParaRPr/>
            </a:p>
          </p:txBody>
        </p:sp>
        <p:sp>
          <p:nvSpPr>
            <p:cNvPr id="166" name="Google Shape;166;p31"/>
            <p:cNvSpPr/>
            <p:nvPr/>
          </p:nvSpPr>
          <p:spPr>
            <a:xfrm>
              <a:off x="20136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5</a:t>
              </a:r>
              <a:endParaRPr/>
            </a:p>
          </p:txBody>
        </p:sp>
        <p:sp>
          <p:nvSpPr>
            <p:cNvPr id="167" name="Google Shape;167;p31"/>
            <p:cNvSpPr/>
            <p:nvPr/>
          </p:nvSpPr>
          <p:spPr>
            <a:xfrm>
              <a:off x="24072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6</a:t>
              </a:r>
              <a:endParaRPr/>
            </a:p>
          </p:txBody>
        </p:sp>
        <p:sp>
          <p:nvSpPr>
            <p:cNvPr id="168" name="Google Shape;168;p31"/>
            <p:cNvSpPr/>
            <p:nvPr/>
          </p:nvSpPr>
          <p:spPr>
            <a:xfrm>
              <a:off x="28008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10</a:t>
              </a:r>
              <a:endParaRPr/>
            </a:p>
          </p:txBody>
        </p:sp>
        <p:sp>
          <p:nvSpPr>
            <p:cNvPr id="169" name="Google Shape;169;p31"/>
            <p:cNvSpPr/>
            <p:nvPr/>
          </p:nvSpPr>
          <p:spPr>
            <a:xfrm>
              <a:off x="31944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13</a:t>
              </a:r>
              <a:endParaRPr/>
            </a:p>
          </p:txBody>
        </p:sp>
        <p:sp>
          <p:nvSpPr>
            <p:cNvPr id="170" name="Google Shape;170;p31"/>
            <p:cNvSpPr/>
            <p:nvPr/>
          </p:nvSpPr>
          <p:spPr>
            <a:xfrm>
              <a:off x="35880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17</a:t>
              </a:r>
              <a:endParaRPr/>
            </a:p>
          </p:txBody>
        </p:sp>
        <p:sp>
          <p:nvSpPr>
            <p:cNvPr id="171" name="Google Shape;171;p31"/>
            <p:cNvSpPr/>
            <p:nvPr/>
          </p:nvSpPr>
          <p:spPr>
            <a:xfrm>
              <a:off x="39816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18</a:t>
              </a:r>
              <a:endParaRPr/>
            </a:p>
          </p:txBody>
        </p:sp>
        <p:sp>
          <p:nvSpPr>
            <p:cNvPr id="172" name="Google Shape;172;p31"/>
            <p:cNvSpPr/>
            <p:nvPr/>
          </p:nvSpPr>
          <p:spPr>
            <a:xfrm>
              <a:off x="43752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20</a:t>
              </a:r>
              <a:endParaRPr/>
            </a:p>
          </p:txBody>
        </p:sp>
        <p:sp>
          <p:nvSpPr>
            <p:cNvPr id="173" name="Google Shape;173;p31"/>
            <p:cNvSpPr/>
            <p:nvPr/>
          </p:nvSpPr>
          <p:spPr>
            <a:xfrm>
              <a:off x="47688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25</a:t>
              </a:r>
              <a:endParaRPr/>
            </a:p>
          </p:txBody>
        </p:sp>
        <p:sp>
          <p:nvSpPr>
            <p:cNvPr id="174" name="Google Shape;174;p31"/>
            <p:cNvSpPr/>
            <p:nvPr/>
          </p:nvSpPr>
          <p:spPr>
            <a:xfrm>
              <a:off x="51624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30</a:t>
              </a:r>
              <a:endParaRPr/>
            </a:p>
          </p:txBody>
        </p:sp>
        <p:sp>
          <p:nvSpPr>
            <p:cNvPr id="175" name="Google Shape;175;p31"/>
            <p:cNvSpPr/>
            <p:nvPr/>
          </p:nvSpPr>
          <p:spPr>
            <a:xfrm>
              <a:off x="55560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32</a:t>
              </a:r>
              <a:endParaRPr/>
            </a:p>
          </p:txBody>
        </p:sp>
        <p:sp>
          <p:nvSpPr>
            <p:cNvPr id="176" name="Google Shape;176;p31"/>
            <p:cNvSpPr/>
            <p:nvPr/>
          </p:nvSpPr>
          <p:spPr>
            <a:xfrm>
              <a:off x="59496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40</a:t>
              </a:r>
              <a:endParaRPr/>
            </a:p>
          </p:txBody>
        </p:sp>
        <p:sp>
          <p:nvSpPr>
            <p:cNvPr id="177" name="Google Shape;177;p31"/>
            <p:cNvSpPr/>
            <p:nvPr/>
          </p:nvSpPr>
          <p:spPr>
            <a:xfrm>
              <a:off x="63432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45</a:t>
              </a:r>
              <a:endParaRPr/>
            </a:p>
          </p:txBody>
        </p:sp>
        <p:sp>
          <p:nvSpPr>
            <p:cNvPr id="178" name="Google Shape;178;p31"/>
            <p:cNvSpPr/>
            <p:nvPr/>
          </p:nvSpPr>
          <p:spPr>
            <a:xfrm>
              <a:off x="67368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49</a:t>
              </a:r>
              <a:endParaRPr/>
            </a:p>
          </p:txBody>
        </p:sp>
        <p:sp>
          <p:nvSpPr>
            <p:cNvPr id="179" name="Google Shape;179;p31"/>
            <p:cNvSpPr/>
            <p:nvPr/>
          </p:nvSpPr>
          <p:spPr>
            <a:xfrm>
              <a:off x="71304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60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Tìm kiếm lần 1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85" name="Google Shape;185;p32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7" name="Google Shape;187;p32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Binary Search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188" name="Google Shape;188;p32"/>
          <p:cNvGrpSpPr/>
          <p:nvPr/>
        </p:nvGrpSpPr>
        <p:grpSpPr>
          <a:xfrm>
            <a:off x="1577688" y="2745812"/>
            <a:ext cx="5904000" cy="393600"/>
            <a:chOff x="1620000" y="1596375"/>
            <a:chExt cx="5904000" cy="393600"/>
          </a:xfrm>
        </p:grpSpPr>
        <p:sp>
          <p:nvSpPr>
            <p:cNvPr id="189" name="Google Shape;189;p32"/>
            <p:cNvSpPr/>
            <p:nvPr/>
          </p:nvSpPr>
          <p:spPr>
            <a:xfrm>
              <a:off x="16200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</a:t>
              </a:r>
              <a:endParaRPr/>
            </a:p>
          </p:txBody>
        </p:sp>
        <p:sp>
          <p:nvSpPr>
            <p:cNvPr id="190" name="Google Shape;190;p32"/>
            <p:cNvSpPr/>
            <p:nvPr/>
          </p:nvSpPr>
          <p:spPr>
            <a:xfrm>
              <a:off x="20136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5</a:t>
              </a:r>
              <a:endParaRPr/>
            </a:p>
          </p:txBody>
        </p:sp>
        <p:sp>
          <p:nvSpPr>
            <p:cNvPr id="191" name="Google Shape;191;p32"/>
            <p:cNvSpPr/>
            <p:nvPr/>
          </p:nvSpPr>
          <p:spPr>
            <a:xfrm>
              <a:off x="24072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6</a:t>
              </a:r>
              <a:endParaRPr/>
            </a:p>
          </p:txBody>
        </p:sp>
        <p:sp>
          <p:nvSpPr>
            <p:cNvPr id="192" name="Google Shape;192;p32"/>
            <p:cNvSpPr/>
            <p:nvPr/>
          </p:nvSpPr>
          <p:spPr>
            <a:xfrm>
              <a:off x="28008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10</a:t>
              </a:r>
              <a:endParaRPr/>
            </a:p>
          </p:txBody>
        </p:sp>
        <p:sp>
          <p:nvSpPr>
            <p:cNvPr id="193" name="Google Shape;193;p32"/>
            <p:cNvSpPr/>
            <p:nvPr/>
          </p:nvSpPr>
          <p:spPr>
            <a:xfrm>
              <a:off x="3194400" y="1596375"/>
              <a:ext cx="393600" cy="393600"/>
            </a:xfrm>
            <a:prstGeom prst="rect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13</a:t>
              </a:r>
              <a:endParaRPr/>
            </a:p>
          </p:txBody>
        </p:sp>
        <p:sp>
          <p:nvSpPr>
            <p:cNvPr id="194" name="Google Shape;194;p32"/>
            <p:cNvSpPr/>
            <p:nvPr/>
          </p:nvSpPr>
          <p:spPr>
            <a:xfrm>
              <a:off x="35880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17</a:t>
              </a:r>
              <a:endParaRPr/>
            </a:p>
          </p:txBody>
        </p:sp>
        <p:sp>
          <p:nvSpPr>
            <p:cNvPr id="195" name="Google Shape;195;p32"/>
            <p:cNvSpPr/>
            <p:nvPr/>
          </p:nvSpPr>
          <p:spPr>
            <a:xfrm>
              <a:off x="39816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18</a:t>
              </a:r>
              <a:endParaRPr/>
            </a:p>
          </p:txBody>
        </p:sp>
        <p:sp>
          <p:nvSpPr>
            <p:cNvPr id="196" name="Google Shape;196;p32"/>
            <p:cNvSpPr/>
            <p:nvPr/>
          </p:nvSpPr>
          <p:spPr>
            <a:xfrm>
              <a:off x="43752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20</a:t>
              </a:r>
              <a:endParaRPr/>
            </a:p>
          </p:txBody>
        </p:sp>
        <p:sp>
          <p:nvSpPr>
            <p:cNvPr id="197" name="Google Shape;197;p32"/>
            <p:cNvSpPr/>
            <p:nvPr/>
          </p:nvSpPr>
          <p:spPr>
            <a:xfrm>
              <a:off x="47688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25</a:t>
              </a:r>
              <a:endParaRPr/>
            </a:p>
          </p:txBody>
        </p:sp>
        <p:sp>
          <p:nvSpPr>
            <p:cNvPr id="198" name="Google Shape;198;p32"/>
            <p:cNvSpPr/>
            <p:nvPr/>
          </p:nvSpPr>
          <p:spPr>
            <a:xfrm>
              <a:off x="51624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30</a:t>
              </a:r>
              <a:endParaRPr/>
            </a:p>
          </p:txBody>
        </p:sp>
        <p:sp>
          <p:nvSpPr>
            <p:cNvPr id="199" name="Google Shape;199;p32"/>
            <p:cNvSpPr/>
            <p:nvPr/>
          </p:nvSpPr>
          <p:spPr>
            <a:xfrm>
              <a:off x="55560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32</a:t>
              </a:r>
              <a:endParaRPr/>
            </a:p>
          </p:txBody>
        </p:sp>
        <p:sp>
          <p:nvSpPr>
            <p:cNvPr id="200" name="Google Shape;200;p32"/>
            <p:cNvSpPr/>
            <p:nvPr/>
          </p:nvSpPr>
          <p:spPr>
            <a:xfrm>
              <a:off x="59496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40</a:t>
              </a:r>
              <a:endParaRPr/>
            </a:p>
          </p:txBody>
        </p:sp>
        <p:sp>
          <p:nvSpPr>
            <p:cNvPr id="201" name="Google Shape;201;p32"/>
            <p:cNvSpPr/>
            <p:nvPr/>
          </p:nvSpPr>
          <p:spPr>
            <a:xfrm>
              <a:off x="63432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45</a:t>
              </a:r>
              <a:endParaRPr/>
            </a:p>
          </p:txBody>
        </p:sp>
        <p:sp>
          <p:nvSpPr>
            <p:cNvPr id="202" name="Google Shape;202;p32"/>
            <p:cNvSpPr/>
            <p:nvPr/>
          </p:nvSpPr>
          <p:spPr>
            <a:xfrm>
              <a:off x="67368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49</a:t>
              </a:r>
              <a:endParaRPr/>
            </a:p>
          </p:txBody>
        </p:sp>
        <p:sp>
          <p:nvSpPr>
            <p:cNvPr id="203" name="Google Shape;203;p32"/>
            <p:cNvSpPr/>
            <p:nvPr/>
          </p:nvSpPr>
          <p:spPr>
            <a:xfrm>
              <a:off x="71304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60</a:t>
              </a:r>
              <a:endParaRPr/>
            </a:p>
          </p:txBody>
        </p:sp>
      </p:grpSp>
      <p:sp>
        <p:nvSpPr>
          <p:cNvPr id="204" name="Google Shape;204;p32"/>
          <p:cNvSpPr txBox="1"/>
          <p:nvPr/>
        </p:nvSpPr>
        <p:spPr>
          <a:xfrm>
            <a:off x="1577700" y="2480788"/>
            <a:ext cx="5904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  0        1        2        3        4         5        6       7        8        9        10      11      12      13      14</a:t>
            </a:r>
            <a:endParaRPr sz="1100"/>
          </a:p>
        </p:txBody>
      </p:sp>
      <p:grpSp>
        <p:nvGrpSpPr>
          <p:cNvPr id="205" name="Google Shape;205;p32"/>
          <p:cNvGrpSpPr/>
          <p:nvPr/>
        </p:nvGrpSpPr>
        <p:grpSpPr>
          <a:xfrm>
            <a:off x="6932988" y="1616653"/>
            <a:ext cx="649200" cy="884813"/>
            <a:chOff x="6975300" y="2129350"/>
            <a:chExt cx="649200" cy="884813"/>
          </a:xfrm>
        </p:grpSpPr>
        <p:cxnSp>
          <p:nvCxnSpPr>
            <p:cNvPr id="206" name="Google Shape;206;p32"/>
            <p:cNvCxnSpPr/>
            <p:nvPr/>
          </p:nvCxnSpPr>
          <p:spPr>
            <a:xfrm flipH="1">
              <a:off x="7300500" y="2509863"/>
              <a:ext cx="8400" cy="50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7" name="Google Shape;207;p32"/>
            <p:cNvSpPr txBox="1"/>
            <p:nvPr/>
          </p:nvSpPr>
          <p:spPr>
            <a:xfrm>
              <a:off x="6975300" y="2129350"/>
              <a:ext cx="6492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/>
                <a:t>right</a:t>
              </a:r>
              <a:endParaRPr sz="1200"/>
            </a:p>
          </p:txBody>
        </p:sp>
      </p:grpSp>
      <p:grpSp>
        <p:nvGrpSpPr>
          <p:cNvPr id="208" name="Google Shape;208;p32"/>
          <p:cNvGrpSpPr/>
          <p:nvPr/>
        </p:nvGrpSpPr>
        <p:grpSpPr>
          <a:xfrm>
            <a:off x="4201913" y="1616628"/>
            <a:ext cx="649200" cy="884825"/>
            <a:chOff x="4244225" y="2129325"/>
            <a:chExt cx="649200" cy="884825"/>
          </a:xfrm>
        </p:grpSpPr>
        <p:cxnSp>
          <p:nvCxnSpPr>
            <p:cNvPr id="209" name="Google Shape;209;p32"/>
            <p:cNvCxnSpPr/>
            <p:nvPr/>
          </p:nvCxnSpPr>
          <p:spPr>
            <a:xfrm flipH="1">
              <a:off x="4559850" y="2509850"/>
              <a:ext cx="8400" cy="50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0" name="Google Shape;210;p32"/>
            <p:cNvSpPr txBox="1"/>
            <p:nvPr/>
          </p:nvSpPr>
          <p:spPr>
            <a:xfrm>
              <a:off x="4244225" y="2129325"/>
              <a:ext cx="6492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/>
                <a:t>mid</a:t>
              </a:r>
              <a:endParaRPr sz="1200"/>
            </a:p>
          </p:txBody>
        </p:sp>
      </p:grpSp>
      <p:sp>
        <p:nvSpPr>
          <p:cNvPr id="211" name="Google Shape;211;p32"/>
          <p:cNvSpPr txBox="1"/>
          <p:nvPr/>
        </p:nvSpPr>
        <p:spPr>
          <a:xfrm>
            <a:off x="438375" y="1017525"/>
            <a:ext cx="108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left = 0</a:t>
            </a:r>
            <a:endParaRPr sz="1200"/>
          </a:p>
        </p:txBody>
      </p:sp>
      <p:sp>
        <p:nvSpPr>
          <p:cNvPr id="212" name="Google Shape;212;p32"/>
          <p:cNvSpPr txBox="1"/>
          <p:nvPr/>
        </p:nvSpPr>
        <p:spPr>
          <a:xfrm>
            <a:off x="1778000" y="1017525"/>
            <a:ext cx="108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right = 14</a:t>
            </a:r>
            <a:endParaRPr sz="1200"/>
          </a:p>
        </p:txBody>
      </p:sp>
      <p:sp>
        <p:nvSpPr>
          <p:cNvPr id="213" name="Google Shape;213;p32"/>
          <p:cNvSpPr txBox="1"/>
          <p:nvPr/>
        </p:nvSpPr>
        <p:spPr>
          <a:xfrm>
            <a:off x="2977050" y="1017525"/>
            <a:ext cx="221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mid = (left + right) / 2 = 7</a:t>
            </a:r>
            <a:endParaRPr sz="1200"/>
          </a:p>
        </p:txBody>
      </p:sp>
      <p:sp>
        <p:nvSpPr>
          <p:cNvPr id="214" name="Google Shape;214;p32"/>
          <p:cNvSpPr/>
          <p:nvPr/>
        </p:nvSpPr>
        <p:spPr>
          <a:xfrm flipH="1" rot="10800000">
            <a:off x="669925" y="3316475"/>
            <a:ext cx="649200" cy="1455300"/>
          </a:xfrm>
          <a:prstGeom prst="bentArrow">
            <a:avLst>
              <a:gd fmla="val 26748" name="adj1"/>
              <a:gd fmla="val 25000" name="adj2"/>
              <a:gd fmla="val 25000" name="adj3"/>
              <a:gd fmla="val 43750" name="adj4"/>
            </a:avLst>
          </a:prstGeom>
          <a:solidFill>
            <a:srgbClr val="59595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5" name="Google Shape;215;p32"/>
          <p:cNvGrpSpPr/>
          <p:nvPr/>
        </p:nvGrpSpPr>
        <p:grpSpPr>
          <a:xfrm>
            <a:off x="1574513" y="4176051"/>
            <a:ext cx="5904013" cy="676295"/>
            <a:chOff x="1574513" y="4176051"/>
            <a:chExt cx="5904013" cy="676295"/>
          </a:xfrm>
        </p:grpSpPr>
        <p:grpSp>
          <p:nvGrpSpPr>
            <p:cNvPr id="216" name="Google Shape;216;p32"/>
            <p:cNvGrpSpPr/>
            <p:nvPr/>
          </p:nvGrpSpPr>
          <p:grpSpPr>
            <a:xfrm>
              <a:off x="1574513" y="4458745"/>
              <a:ext cx="5904000" cy="393600"/>
              <a:chOff x="1620000" y="1596375"/>
              <a:chExt cx="5904000" cy="393600"/>
            </a:xfrm>
          </p:grpSpPr>
          <p:sp>
            <p:nvSpPr>
              <p:cNvPr id="217" name="Google Shape;217;p32"/>
              <p:cNvSpPr/>
              <p:nvPr/>
            </p:nvSpPr>
            <p:spPr>
              <a:xfrm>
                <a:off x="1620000" y="1596375"/>
                <a:ext cx="393600" cy="393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218" name="Google Shape;218;p32"/>
              <p:cNvSpPr/>
              <p:nvPr/>
            </p:nvSpPr>
            <p:spPr>
              <a:xfrm>
                <a:off x="2013600" y="1596375"/>
                <a:ext cx="393600" cy="393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5</a:t>
                </a:r>
                <a:endParaRPr/>
              </a:p>
            </p:txBody>
          </p:sp>
          <p:sp>
            <p:nvSpPr>
              <p:cNvPr id="219" name="Google Shape;219;p32"/>
              <p:cNvSpPr/>
              <p:nvPr/>
            </p:nvSpPr>
            <p:spPr>
              <a:xfrm>
                <a:off x="2407200" y="1596375"/>
                <a:ext cx="393600" cy="393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6</a:t>
                </a:r>
                <a:endParaRPr/>
              </a:p>
            </p:txBody>
          </p:sp>
          <p:sp>
            <p:nvSpPr>
              <p:cNvPr id="220" name="Google Shape;220;p32"/>
              <p:cNvSpPr/>
              <p:nvPr/>
            </p:nvSpPr>
            <p:spPr>
              <a:xfrm>
                <a:off x="2800800" y="1596375"/>
                <a:ext cx="393600" cy="393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10</a:t>
                </a:r>
                <a:endParaRPr/>
              </a:p>
            </p:txBody>
          </p:sp>
          <p:sp>
            <p:nvSpPr>
              <p:cNvPr id="221" name="Google Shape;221;p32"/>
              <p:cNvSpPr/>
              <p:nvPr/>
            </p:nvSpPr>
            <p:spPr>
              <a:xfrm>
                <a:off x="3194400" y="1596375"/>
                <a:ext cx="393600" cy="393600"/>
              </a:xfrm>
              <a:prstGeom prst="rect">
                <a:avLst/>
              </a:prstGeom>
              <a:solidFill>
                <a:srgbClr val="00FF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13</a:t>
                </a:r>
                <a:endParaRPr/>
              </a:p>
            </p:txBody>
          </p:sp>
          <p:sp>
            <p:nvSpPr>
              <p:cNvPr id="222" name="Google Shape;222;p32"/>
              <p:cNvSpPr/>
              <p:nvPr/>
            </p:nvSpPr>
            <p:spPr>
              <a:xfrm>
                <a:off x="3588000" y="1596375"/>
                <a:ext cx="393600" cy="393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17</a:t>
                </a:r>
                <a:endParaRPr/>
              </a:p>
            </p:txBody>
          </p:sp>
          <p:sp>
            <p:nvSpPr>
              <p:cNvPr id="223" name="Google Shape;223;p32"/>
              <p:cNvSpPr/>
              <p:nvPr/>
            </p:nvSpPr>
            <p:spPr>
              <a:xfrm>
                <a:off x="3981600" y="1596375"/>
                <a:ext cx="393600" cy="393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18</a:t>
                </a:r>
                <a:endParaRPr/>
              </a:p>
            </p:txBody>
          </p:sp>
          <p:sp>
            <p:nvSpPr>
              <p:cNvPr id="224" name="Google Shape;224;p32"/>
              <p:cNvSpPr/>
              <p:nvPr/>
            </p:nvSpPr>
            <p:spPr>
              <a:xfrm>
                <a:off x="43752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20</a:t>
                </a:r>
                <a:endParaRPr/>
              </a:p>
            </p:txBody>
          </p:sp>
          <p:sp>
            <p:nvSpPr>
              <p:cNvPr id="225" name="Google Shape;225;p32"/>
              <p:cNvSpPr/>
              <p:nvPr/>
            </p:nvSpPr>
            <p:spPr>
              <a:xfrm>
                <a:off x="47688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25</a:t>
                </a:r>
                <a:endParaRPr/>
              </a:p>
            </p:txBody>
          </p:sp>
          <p:sp>
            <p:nvSpPr>
              <p:cNvPr id="226" name="Google Shape;226;p32"/>
              <p:cNvSpPr/>
              <p:nvPr/>
            </p:nvSpPr>
            <p:spPr>
              <a:xfrm>
                <a:off x="51624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30</a:t>
                </a:r>
                <a:endParaRPr/>
              </a:p>
            </p:txBody>
          </p:sp>
          <p:sp>
            <p:nvSpPr>
              <p:cNvPr id="227" name="Google Shape;227;p32"/>
              <p:cNvSpPr/>
              <p:nvPr/>
            </p:nvSpPr>
            <p:spPr>
              <a:xfrm>
                <a:off x="55560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32</a:t>
                </a:r>
                <a:endParaRPr/>
              </a:p>
            </p:txBody>
          </p:sp>
          <p:sp>
            <p:nvSpPr>
              <p:cNvPr id="228" name="Google Shape;228;p32"/>
              <p:cNvSpPr/>
              <p:nvPr/>
            </p:nvSpPr>
            <p:spPr>
              <a:xfrm>
                <a:off x="59496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40</a:t>
                </a:r>
                <a:endParaRPr/>
              </a:p>
            </p:txBody>
          </p:sp>
          <p:sp>
            <p:nvSpPr>
              <p:cNvPr id="229" name="Google Shape;229;p32"/>
              <p:cNvSpPr/>
              <p:nvPr/>
            </p:nvSpPr>
            <p:spPr>
              <a:xfrm>
                <a:off x="63432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45</a:t>
                </a:r>
                <a:endParaRPr/>
              </a:p>
            </p:txBody>
          </p:sp>
          <p:sp>
            <p:nvSpPr>
              <p:cNvPr id="230" name="Google Shape;230;p32"/>
              <p:cNvSpPr/>
              <p:nvPr/>
            </p:nvSpPr>
            <p:spPr>
              <a:xfrm>
                <a:off x="67368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49</a:t>
                </a:r>
                <a:endParaRPr/>
              </a:p>
            </p:txBody>
          </p:sp>
          <p:sp>
            <p:nvSpPr>
              <p:cNvPr id="231" name="Google Shape;231;p32"/>
              <p:cNvSpPr/>
              <p:nvPr/>
            </p:nvSpPr>
            <p:spPr>
              <a:xfrm>
                <a:off x="71304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60</a:t>
                </a:r>
                <a:endParaRPr/>
              </a:p>
            </p:txBody>
          </p:sp>
        </p:grpSp>
        <p:sp>
          <p:nvSpPr>
            <p:cNvPr id="232" name="Google Shape;232;p32"/>
            <p:cNvSpPr txBox="1"/>
            <p:nvPr/>
          </p:nvSpPr>
          <p:spPr>
            <a:xfrm>
              <a:off x="1574525" y="4176051"/>
              <a:ext cx="59040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  0        1        2        3        4         5        6       7        8        9        10      11      12      13      14</a:t>
              </a:r>
              <a:endParaRPr sz="1100"/>
            </a:p>
          </p:txBody>
        </p:sp>
      </p:grpSp>
      <p:grpSp>
        <p:nvGrpSpPr>
          <p:cNvPr id="233" name="Google Shape;233;p32"/>
          <p:cNvGrpSpPr/>
          <p:nvPr/>
        </p:nvGrpSpPr>
        <p:grpSpPr>
          <a:xfrm>
            <a:off x="1574513" y="1623903"/>
            <a:ext cx="438600" cy="884825"/>
            <a:chOff x="1604125" y="2084125"/>
            <a:chExt cx="438600" cy="884825"/>
          </a:xfrm>
        </p:grpSpPr>
        <p:cxnSp>
          <p:nvCxnSpPr>
            <p:cNvPr id="234" name="Google Shape;234;p32"/>
            <p:cNvCxnSpPr/>
            <p:nvPr/>
          </p:nvCxnSpPr>
          <p:spPr>
            <a:xfrm flipH="1">
              <a:off x="1819225" y="2464650"/>
              <a:ext cx="8400" cy="50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5" name="Google Shape;235;p32"/>
            <p:cNvSpPr txBox="1"/>
            <p:nvPr/>
          </p:nvSpPr>
          <p:spPr>
            <a:xfrm>
              <a:off x="1604125" y="2084125"/>
              <a:ext cx="4386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/>
                <a:t>left</a:t>
              </a:r>
              <a:endParaRPr sz="1200"/>
            </a:p>
          </p:txBody>
        </p:sp>
      </p:grpSp>
      <p:grpSp>
        <p:nvGrpSpPr>
          <p:cNvPr id="236" name="Google Shape;236;p32"/>
          <p:cNvGrpSpPr/>
          <p:nvPr/>
        </p:nvGrpSpPr>
        <p:grpSpPr>
          <a:xfrm>
            <a:off x="1574513" y="3317478"/>
            <a:ext cx="438600" cy="884825"/>
            <a:chOff x="1604125" y="2084125"/>
            <a:chExt cx="438600" cy="884825"/>
          </a:xfrm>
        </p:grpSpPr>
        <p:cxnSp>
          <p:nvCxnSpPr>
            <p:cNvPr id="237" name="Google Shape;237;p32"/>
            <p:cNvCxnSpPr/>
            <p:nvPr/>
          </p:nvCxnSpPr>
          <p:spPr>
            <a:xfrm flipH="1">
              <a:off x="1819225" y="2464650"/>
              <a:ext cx="8400" cy="50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8" name="Google Shape;238;p32"/>
            <p:cNvSpPr txBox="1"/>
            <p:nvPr/>
          </p:nvSpPr>
          <p:spPr>
            <a:xfrm>
              <a:off x="1604125" y="2084125"/>
              <a:ext cx="4386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/>
                <a:t>left</a:t>
              </a:r>
              <a:endParaRPr sz="1200"/>
            </a:p>
          </p:txBody>
        </p:sp>
      </p:grpSp>
      <p:grpSp>
        <p:nvGrpSpPr>
          <p:cNvPr id="239" name="Google Shape;239;p32"/>
          <p:cNvGrpSpPr/>
          <p:nvPr/>
        </p:nvGrpSpPr>
        <p:grpSpPr>
          <a:xfrm>
            <a:off x="3810088" y="3356665"/>
            <a:ext cx="649200" cy="884813"/>
            <a:chOff x="6975300" y="2129350"/>
            <a:chExt cx="649200" cy="884813"/>
          </a:xfrm>
        </p:grpSpPr>
        <p:cxnSp>
          <p:nvCxnSpPr>
            <p:cNvPr id="240" name="Google Shape;240;p32"/>
            <p:cNvCxnSpPr/>
            <p:nvPr/>
          </p:nvCxnSpPr>
          <p:spPr>
            <a:xfrm flipH="1">
              <a:off x="7300500" y="2509863"/>
              <a:ext cx="8400" cy="50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1" name="Google Shape;241;p32"/>
            <p:cNvSpPr txBox="1"/>
            <p:nvPr/>
          </p:nvSpPr>
          <p:spPr>
            <a:xfrm>
              <a:off x="6975300" y="2129350"/>
              <a:ext cx="6492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/>
                <a:t>right</a:t>
              </a:r>
              <a:endParaRPr sz="1200"/>
            </a:p>
          </p:txBody>
        </p:sp>
      </p:grpSp>
      <p:grpSp>
        <p:nvGrpSpPr>
          <p:cNvPr id="242" name="Google Shape;242;p32"/>
          <p:cNvGrpSpPr/>
          <p:nvPr/>
        </p:nvGrpSpPr>
        <p:grpSpPr>
          <a:xfrm>
            <a:off x="49750" y="2396800"/>
            <a:ext cx="1422400" cy="745925"/>
            <a:chOff x="49750" y="2396800"/>
            <a:chExt cx="1422400" cy="745925"/>
          </a:xfrm>
        </p:grpSpPr>
        <p:grpSp>
          <p:nvGrpSpPr>
            <p:cNvPr id="243" name="Google Shape;243;p32"/>
            <p:cNvGrpSpPr/>
            <p:nvPr/>
          </p:nvGrpSpPr>
          <p:grpSpPr>
            <a:xfrm>
              <a:off x="153897" y="2742525"/>
              <a:ext cx="1160925" cy="400200"/>
              <a:chOff x="153897" y="3635608"/>
              <a:chExt cx="1160925" cy="400200"/>
            </a:xfrm>
          </p:grpSpPr>
          <p:sp>
            <p:nvSpPr>
              <p:cNvPr id="244" name="Google Shape;244;p32"/>
              <p:cNvSpPr/>
              <p:nvPr/>
            </p:nvSpPr>
            <p:spPr>
              <a:xfrm>
                <a:off x="153897" y="3638904"/>
                <a:ext cx="393600" cy="393600"/>
              </a:xfrm>
              <a:prstGeom prst="rect">
                <a:avLst/>
              </a:prstGeom>
              <a:solidFill>
                <a:srgbClr val="00FF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13</a:t>
                </a:r>
                <a:endParaRPr/>
              </a:p>
            </p:txBody>
          </p:sp>
          <p:sp>
            <p:nvSpPr>
              <p:cNvPr id="245" name="Google Shape;245;p32"/>
              <p:cNvSpPr/>
              <p:nvPr/>
            </p:nvSpPr>
            <p:spPr>
              <a:xfrm>
                <a:off x="921222" y="3638904"/>
                <a:ext cx="393600" cy="393600"/>
              </a:xfrm>
              <a:prstGeom prst="rect">
                <a:avLst/>
              </a:prstGeom>
              <a:solidFill>
                <a:srgbClr val="00FF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20</a:t>
                </a:r>
                <a:endParaRPr/>
              </a:p>
            </p:txBody>
          </p:sp>
          <p:sp>
            <p:nvSpPr>
              <p:cNvPr id="246" name="Google Shape;246;p32"/>
              <p:cNvSpPr txBox="1"/>
              <p:nvPr/>
            </p:nvSpPr>
            <p:spPr>
              <a:xfrm>
                <a:off x="547508" y="3635608"/>
                <a:ext cx="3936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&lt;</a:t>
                </a:r>
                <a:endParaRPr/>
              </a:p>
            </p:txBody>
          </p:sp>
        </p:grpSp>
        <p:sp>
          <p:nvSpPr>
            <p:cNvPr id="247" name="Google Shape;247;p32"/>
            <p:cNvSpPr txBox="1"/>
            <p:nvPr/>
          </p:nvSpPr>
          <p:spPr>
            <a:xfrm>
              <a:off x="49750" y="2396800"/>
              <a:ext cx="5487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target</a:t>
              </a:r>
              <a:endParaRPr sz="1100"/>
            </a:p>
          </p:txBody>
        </p:sp>
        <p:sp>
          <p:nvSpPr>
            <p:cNvPr id="248" name="Google Shape;248;p32"/>
            <p:cNvSpPr txBox="1"/>
            <p:nvPr/>
          </p:nvSpPr>
          <p:spPr>
            <a:xfrm>
              <a:off x="779750" y="2396800"/>
              <a:ext cx="6924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arr[mid]</a:t>
              </a:r>
              <a:endParaRPr sz="1100"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Tìm kiếm lần 2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54" name="Google Shape;254;p33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33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Binary Search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257" name="Google Shape;257;p33"/>
          <p:cNvGrpSpPr/>
          <p:nvPr/>
        </p:nvGrpSpPr>
        <p:grpSpPr>
          <a:xfrm>
            <a:off x="1577688" y="2745812"/>
            <a:ext cx="5904000" cy="393600"/>
            <a:chOff x="1620000" y="1596375"/>
            <a:chExt cx="5904000" cy="393600"/>
          </a:xfrm>
        </p:grpSpPr>
        <p:sp>
          <p:nvSpPr>
            <p:cNvPr id="258" name="Google Shape;258;p33"/>
            <p:cNvSpPr/>
            <p:nvPr/>
          </p:nvSpPr>
          <p:spPr>
            <a:xfrm>
              <a:off x="16200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</a:t>
              </a:r>
              <a:endParaRPr/>
            </a:p>
          </p:txBody>
        </p:sp>
        <p:sp>
          <p:nvSpPr>
            <p:cNvPr id="259" name="Google Shape;259;p33"/>
            <p:cNvSpPr/>
            <p:nvPr/>
          </p:nvSpPr>
          <p:spPr>
            <a:xfrm>
              <a:off x="20136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5</a:t>
              </a:r>
              <a:endParaRPr/>
            </a:p>
          </p:txBody>
        </p:sp>
        <p:sp>
          <p:nvSpPr>
            <p:cNvPr id="260" name="Google Shape;260;p33"/>
            <p:cNvSpPr/>
            <p:nvPr/>
          </p:nvSpPr>
          <p:spPr>
            <a:xfrm>
              <a:off x="24072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6</a:t>
              </a:r>
              <a:endParaRPr/>
            </a:p>
          </p:txBody>
        </p:sp>
        <p:sp>
          <p:nvSpPr>
            <p:cNvPr id="261" name="Google Shape;261;p33"/>
            <p:cNvSpPr/>
            <p:nvPr/>
          </p:nvSpPr>
          <p:spPr>
            <a:xfrm>
              <a:off x="28008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10</a:t>
              </a:r>
              <a:endParaRPr/>
            </a:p>
          </p:txBody>
        </p:sp>
        <p:sp>
          <p:nvSpPr>
            <p:cNvPr id="262" name="Google Shape;262;p33"/>
            <p:cNvSpPr/>
            <p:nvPr/>
          </p:nvSpPr>
          <p:spPr>
            <a:xfrm>
              <a:off x="3194400" y="1596375"/>
              <a:ext cx="393600" cy="393600"/>
            </a:xfrm>
            <a:prstGeom prst="rect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13</a:t>
              </a:r>
              <a:endParaRPr/>
            </a:p>
          </p:txBody>
        </p:sp>
        <p:sp>
          <p:nvSpPr>
            <p:cNvPr id="263" name="Google Shape;263;p33"/>
            <p:cNvSpPr/>
            <p:nvPr/>
          </p:nvSpPr>
          <p:spPr>
            <a:xfrm>
              <a:off x="35880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17</a:t>
              </a:r>
              <a:endParaRPr/>
            </a:p>
          </p:txBody>
        </p:sp>
        <p:sp>
          <p:nvSpPr>
            <p:cNvPr id="264" name="Google Shape;264;p33"/>
            <p:cNvSpPr/>
            <p:nvPr/>
          </p:nvSpPr>
          <p:spPr>
            <a:xfrm>
              <a:off x="39816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18</a:t>
              </a:r>
              <a:endParaRPr/>
            </a:p>
          </p:txBody>
        </p:sp>
        <p:sp>
          <p:nvSpPr>
            <p:cNvPr id="265" name="Google Shape;265;p33"/>
            <p:cNvSpPr/>
            <p:nvPr/>
          </p:nvSpPr>
          <p:spPr>
            <a:xfrm>
              <a:off x="43752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20</a:t>
              </a:r>
              <a:endParaRPr/>
            </a:p>
          </p:txBody>
        </p:sp>
        <p:sp>
          <p:nvSpPr>
            <p:cNvPr id="266" name="Google Shape;266;p33"/>
            <p:cNvSpPr/>
            <p:nvPr/>
          </p:nvSpPr>
          <p:spPr>
            <a:xfrm>
              <a:off x="47688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25</a:t>
              </a:r>
              <a:endParaRPr/>
            </a:p>
          </p:txBody>
        </p:sp>
        <p:sp>
          <p:nvSpPr>
            <p:cNvPr id="267" name="Google Shape;267;p33"/>
            <p:cNvSpPr/>
            <p:nvPr/>
          </p:nvSpPr>
          <p:spPr>
            <a:xfrm>
              <a:off x="51624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30</a:t>
              </a:r>
              <a:endParaRPr/>
            </a:p>
          </p:txBody>
        </p:sp>
        <p:sp>
          <p:nvSpPr>
            <p:cNvPr id="268" name="Google Shape;268;p33"/>
            <p:cNvSpPr/>
            <p:nvPr/>
          </p:nvSpPr>
          <p:spPr>
            <a:xfrm>
              <a:off x="55560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32</a:t>
              </a:r>
              <a:endParaRPr/>
            </a:p>
          </p:txBody>
        </p:sp>
        <p:sp>
          <p:nvSpPr>
            <p:cNvPr id="269" name="Google Shape;269;p33"/>
            <p:cNvSpPr/>
            <p:nvPr/>
          </p:nvSpPr>
          <p:spPr>
            <a:xfrm>
              <a:off x="59496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40</a:t>
              </a:r>
              <a:endParaRPr/>
            </a:p>
          </p:txBody>
        </p:sp>
        <p:sp>
          <p:nvSpPr>
            <p:cNvPr id="270" name="Google Shape;270;p33"/>
            <p:cNvSpPr/>
            <p:nvPr/>
          </p:nvSpPr>
          <p:spPr>
            <a:xfrm>
              <a:off x="63432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45</a:t>
              </a:r>
              <a:endParaRPr/>
            </a:p>
          </p:txBody>
        </p:sp>
        <p:sp>
          <p:nvSpPr>
            <p:cNvPr id="271" name="Google Shape;271;p33"/>
            <p:cNvSpPr/>
            <p:nvPr/>
          </p:nvSpPr>
          <p:spPr>
            <a:xfrm>
              <a:off x="67368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49</a:t>
              </a:r>
              <a:endParaRPr/>
            </a:p>
          </p:txBody>
        </p:sp>
        <p:sp>
          <p:nvSpPr>
            <p:cNvPr id="272" name="Google Shape;272;p33"/>
            <p:cNvSpPr/>
            <p:nvPr/>
          </p:nvSpPr>
          <p:spPr>
            <a:xfrm>
              <a:off x="71304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60</a:t>
              </a:r>
              <a:endParaRPr/>
            </a:p>
          </p:txBody>
        </p:sp>
      </p:grpSp>
      <p:sp>
        <p:nvSpPr>
          <p:cNvPr id="273" name="Google Shape;273;p33"/>
          <p:cNvSpPr txBox="1"/>
          <p:nvPr/>
        </p:nvSpPr>
        <p:spPr>
          <a:xfrm>
            <a:off x="1577700" y="2480788"/>
            <a:ext cx="5904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  0        1        2        3        4         5        6       7        8        9        10      11      12      13      14</a:t>
            </a:r>
            <a:endParaRPr sz="1100"/>
          </a:p>
        </p:txBody>
      </p:sp>
      <p:grpSp>
        <p:nvGrpSpPr>
          <p:cNvPr id="274" name="Google Shape;274;p33"/>
          <p:cNvGrpSpPr/>
          <p:nvPr/>
        </p:nvGrpSpPr>
        <p:grpSpPr>
          <a:xfrm>
            <a:off x="3810088" y="1643703"/>
            <a:ext cx="649200" cy="884813"/>
            <a:chOff x="6975300" y="2129350"/>
            <a:chExt cx="649200" cy="884813"/>
          </a:xfrm>
        </p:grpSpPr>
        <p:cxnSp>
          <p:nvCxnSpPr>
            <p:cNvPr id="275" name="Google Shape;275;p33"/>
            <p:cNvCxnSpPr/>
            <p:nvPr/>
          </p:nvCxnSpPr>
          <p:spPr>
            <a:xfrm flipH="1">
              <a:off x="7300500" y="2509863"/>
              <a:ext cx="8400" cy="50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76" name="Google Shape;276;p33"/>
            <p:cNvSpPr txBox="1"/>
            <p:nvPr/>
          </p:nvSpPr>
          <p:spPr>
            <a:xfrm>
              <a:off x="6975300" y="2129350"/>
              <a:ext cx="6492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/>
                <a:t>right</a:t>
              </a:r>
              <a:endParaRPr sz="1200"/>
            </a:p>
          </p:txBody>
        </p:sp>
      </p:grpSp>
      <p:grpSp>
        <p:nvGrpSpPr>
          <p:cNvPr id="277" name="Google Shape;277;p33"/>
          <p:cNvGrpSpPr/>
          <p:nvPr/>
        </p:nvGrpSpPr>
        <p:grpSpPr>
          <a:xfrm>
            <a:off x="2639038" y="1643703"/>
            <a:ext cx="649200" cy="884825"/>
            <a:chOff x="2681350" y="2156400"/>
            <a:chExt cx="649200" cy="884825"/>
          </a:xfrm>
        </p:grpSpPr>
        <p:cxnSp>
          <p:nvCxnSpPr>
            <p:cNvPr id="278" name="Google Shape;278;p33"/>
            <p:cNvCxnSpPr/>
            <p:nvPr/>
          </p:nvCxnSpPr>
          <p:spPr>
            <a:xfrm flipH="1">
              <a:off x="2996975" y="2536925"/>
              <a:ext cx="8400" cy="50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79" name="Google Shape;279;p33"/>
            <p:cNvSpPr txBox="1"/>
            <p:nvPr/>
          </p:nvSpPr>
          <p:spPr>
            <a:xfrm>
              <a:off x="2681350" y="2156400"/>
              <a:ext cx="6492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/>
                <a:t>mid</a:t>
              </a:r>
              <a:endParaRPr sz="1200"/>
            </a:p>
          </p:txBody>
        </p:sp>
      </p:grpSp>
      <p:sp>
        <p:nvSpPr>
          <p:cNvPr id="280" name="Google Shape;280;p33"/>
          <p:cNvSpPr txBox="1"/>
          <p:nvPr/>
        </p:nvSpPr>
        <p:spPr>
          <a:xfrm>
            <a:off x="438375" y="1017525"/>
            <a:ext cx="108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left = 0</a:t>
            </a:r>
            <a:endParaRPr sz="1200"/>
          </a:p>
        </p:txBody>
      </p:sp>
      <p:sp>
        <p:nvSpPr>
          <p:cNvPr id="281" name="Google Shape;281;p33"/>
          <p:cNvSpPr txBox="1"/>
          <p:nvPr/>
        </p:nvSpPr>
        <p:spPr>
          <a:xfrm>
            <a:off x="1778000" y="1017525"/>
            <a:ext cx="108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right = 6</a:t>
            </a:r>
            <a:endParaRPr sz="1200"/>
          </a:p>
        </p:txBody>
      </p:sp>
      <p:sp>
        <p:nvSpPr>
          <p:cNvPr id="282" name="Google Shape;282;p33"/>
          <p:cNvSpPr txBox="1"/>
          <p:nvPr/>
        </p:nvSpPr>
        <p:spPr>
          <a:xfrm>
            <a:off x="2977050" y="1017525"/>
            <a:ext cx="221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mid = (left + right) / 2 = 3</a:t>
            </a:r>
            <a:endParaRPr sz="1200"/>
          </a:p>
        </p:txBody>
      </p:sp>
      <p:sp>
        <p:nvSpPr>
          <p:cNvPr id="283" name="Google Shape;283;p33"/>
          <p:cNvSpPr/>
          <p:nvPr/>
        </p:nvSpPr>
        <p:spPr>
          <a:xfrm flipH="1" rot="10800000">
            <a:off x="669925" y="3316475"/>
            <a:ext cx="649200" cy="1455300"/>
          </a:xfrm>
          <a:prstGeom prst="bentArrow">
            <a:avLst>
              <a:gd fmla="val 26748" name="adj1"/>
              <a:gd fmla="val 25000" name="adj2"/>
              <a:gd fmla="val 25000" name="adj3"/>
              <a:gd fmla="val 43750" name="adj4"/>
            </a:avLst>
          </a:prstGeom>
          <a:solidFill>
            <a:srgbClr val="59595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4" name="Google Shape;284;p33"/>
          <p:cNvGrpSpPr/>
          <p:nvPr/>
        </p:nvGrpSpPr>
        <p:grpSpPr>
          <a:xfrm>
            <a:off x="1574513" y="4176051"/>
            <a:ext cx="5904013" cy="676295"/>
            <a:chOff x="1574513" y="4176051"/>
            <a:chExt cx="5904013" cy="676295"/>
          </a:xfrm>
        </p:grpSpPr>
        <p:grpSp>
          <p:nvGrpSpPr>
            <p:cNvPr id="285" name="Google Shape;285;p33"/>
            <p:cNvGrpSpPr/>
            <p:nvPr/>
          </p:nvGrpSpPr>
          <p:grpSpPr>
            <a:xfrm>
              <a:off x="1574513" y="4458745"/>
              <a:ext cx="5904000" cy="393600"/>
              <a:chOff x="1620000" y="1596375"/>
              <a:chExt cx="5904000" cy="393600"/>
            </a:xfrm>
          </p:grpSpPr>
          <p:sp>
            <p:nvSpPr>
              <p:cNvPr id="286" name="Google Shape;286;p33"/>
              <p:cNvSpPr/>
              <p:nvPr/>
            </p:nvSpPr>
            <p:spPr>
              <a:xfrm>
                <a:off x="16200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287" name="Google Shape;287;p33"/>
              <p:cNvSpPr/>
              <p:nvPr/>
            </p:nvSpPr>
            <p:spPr>
              <a:xfrm>
                <a:off x="20136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5</a:t>
                </a:r>
                <a:endParaRPr/>
              </a:p>
            </p:txBody>
          </p:sp>
          <p:sp>
            <p:nvSpPr>
              <p:cNvPr id="288" name="Google Shape;288;p33"/>
              <p:cNvSpPr/>
              <p:nvPr/>
            </p:nvSpPr>
            <p:spPr>
              <a:xfrm>
                <a:off x="24072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6</a:t>
                </a:r>
                <a:endParaRPr/>
              </a:p>
            </p:txBody>
          </p:sp>
          <p:sp>
            <p:nvSpPr>
              <p:cNvPr id="289" name="Google Shape;289;p33"/>
              <p:cNvSpPr/>
              <p:nvPr/>
            </p:nvSpPr>
            <p:spPr>
              <a:xfrm>
                <a:off x="28008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10</a:t>
                </a:r>
                <a:endParaRPr/>
              </a:p>
            </p:txBody>
          </p:sp>
          <p:sp>
            <p:nvSpPr>
              <p:cNvPr id="290" name="Google Shape;290;p33"/>
              <p:cNvSpPr/>
              <p:nvPr/>
            </p:nvSpPr>
            <p:spPr>
              <a:xfrm>
                <a:off x="3194400" y="1596375"/>
                <a:ext cx="393600" cy="393600"/>
              </a:xfrm>
              <a:prstGeom prst="rect">
                <a:avLst/>
              </a:prstGeom>
              <a:solidFill>
                <a:srgbClr val="00FF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13</a:t>
                </a:r>
                <a:endParaRPr/>
              </a:p>
            </p:txBody>
          </p:sp>
          <p:sp>
            <p:nvSpPr>
              <p:cNvPr id="291" name="Google Shape;291;p33"/>
              <p:cNvSpPr/>
              <p:nvPr/>
            </p:nvSpPr>
            <p:spPr>
              <a:xfrm>
                <a:off x="3588000" y="1596375"/>
                <a:ext cx="393600" cy="393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17</a:t>
                </a:r>
                <a:endParaRPr/>
              </a:p>
            </p:txBody>
          </p:sp>
          <p:sp>
            <p:nvSpPr>
              <p:cNvPr id="292" name="Google Shape;292;p33"/>
              <p:cNvSpPr/>
              <p:nvPr/>
            </p:nvSpPr>
            <p:spPr>
              <a:xfrm>
                <a:off x="3981600" y="1596375"/>
                <a:ext cx="393600" cy="393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18</a:t>
                </a:r>
                <a:endParaRPr/>
              </a:p>
            </p:txBody>
          </p:sp>
          <p:sp>
            <p:nvSpPr>
              <p:cNvPr id="293" name="Google Shape;293;p33"/>
              <p:cNvSpPr/>
              <p:nvPr/>
            </p:nvSpPr>
            <p:spPr>
              <a:xfrm>
                <a:off x="43752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20</a:t>
                </a:r>
                <a:endParaRPr/>
              </a:p>
            </p:txBody>
          </p:sp>
          <p:sp>
            <p:nvSpPr>
              <p:cNvPr id="294" name="Google Shape;294;p33"/>
              <p:cNvSpPr/>
              <p:nvPr/>
            </p:nvSpPr>
            <p:spPr>
              <a:xfrm>
                <a:off x="47688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25</a:t>
                </a:r>
                <a:endParaRPr/>
              </a:p>
            </p:txBody>
          </p:sp>
          <p:sp>
            <p:nvSpPr>
              <p:cNvPr id="295" name="Google Shape;295;p33"/>
              <p:cNvSpPr/>
              <p:nvPr/>
            </p:nvSpPr>
            <p:spPr>
              <a:xfrm>
                <a:off x="51624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30</a:t>
                </a:r>
                <a:endParaRPr/>
              </a:p>
            </p:txBody>
          </p:sp>
          <p:sp>
            <p:nvSpPr>
              <p:cNvPr id="296" name="Google Shape;296;p33"/>
              <p:cNvSpPr/>
              <p:nvPr/>
            </p:nvSpPr>
            <p:spPr>
              <a:xfrm>
                <a:off x="55560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32</a:t>
                </a:r>
                <a:endParaRPr/>
              </a:p>
            </p:txBody>
          </p:sp>
          <p:sp>
            <p:nvSpPr>
              <p:cNvPr id="297" name="Google Shape;297;p33"/>
              <p:cNvSpPr/>
              <p:nvPr/>
            </p:nvSpPr>
            <p:spPr>
              <a:xfrm>
                <a:off x="59496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40</a:t>
                </a:r>
                <a:endParaRPr/>
              </a:p>
            </p:txBody>
          </p:sp>
          <p:sp>
            <p:nvSpPr>
              <p:cNvPr id="298" name="Google Shape;298;p33"/>
              <p:cNvSpPr/>
              <p:nvPr/>
            </p:nvSpPr>
            <p:spPr>
              <a:xfrm>
                <a:off x="63432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45</a:t>
                </a:r>
                <a:endParaRPr/>
              </a:p>
            </p:txBody>
          </p:sp>
          <p:sp>
            <p:nvSpPr>
              <p:cNvPr id="299" name="Google Shape;299;p33"/>
              <p:cNvSpPr/>
              <p:nvPr/>
            </p:nvSpPr>
            <p:spPr>
              <a:xfrm>
                <a:off x="67368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49</a:t>
                </a:r>
                <a:endParaRPr/>
              </a:p>
            </p:txBody>
          </p:sp>
          <p:sp>
            <p:nvSpPr>
              <p:cNvPr id="300" name="Google Shape;300;p33"/>
              <p:cNvSpPr/>
              <p:nvPr/>
            </p:nvSpPr>
            <p:spPr>
              <a:xfrm>
                <a:off x="71304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60</a:t>
                </a:r>
                <a:endParaRPr/>
              </a:p>
            </p:txBody>
          </p:sp>
        </p:grpSp>
        <p:sp>
          <p:nvSpPr>
            <p:cNvPr id="301" name="Google Shape;301;p33"/>
            <p:cNvSpPr txBox="1"/>
            <p:nvPr/>
          </p:nvSpPr>
          <p:spPr>
            <a:xfrm>
              <a:off x="1574525" y="4176051"/>
              <a:ext cx="59040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  0        1        2        3        4         5        6       7        8        9        10      11      12      13      14</a:t>
              </a:r>
              <a:endParaRPr sz="1100"/>
            </a:p>
          </p:txBody>
        </p:sp>
      </p:grpSp>
      <p:grpSp>
        <p:nvGrpSpPr>
          <p:cNvPr id="302" name="Google Shape;302;p33"/>
          <p:cNvGrpSpPr/>
          <p:nvPr/>
        </p:nvGrpSpPr>
        <p:grpSpPr>
          <a:xfrm>
            <a:off x="1574513" y="1623903"/>
            <a:ext cx="438600" cy="884825"/>
            <a:chOff x="1604125" y="2084125"/>
            <a:chExt cx="438600" cy="884825"/>
          </a:xfrm>
        </p:grpSpPr>
        <p:cxnSp>
          <p:nvCxnSpPr>
            <p:cNvPr id="303" name="Google Shape;303;p33"/>
            <p:cNvCxnSpPr/>
            <p:nvPr/>
          </p:nvCxnSpPr>
          <p:spPr>
            <a:xfrm flipH="1">
              <a:off x="1819225" y="2464650"/>
              <a:ext cx="8400" cy="50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04" name="Google Shape;304;p33"/>
            <p:cNvSpPr txBox="1"/>
            <p:nvPr/>
          </p:nvSpPr>
          <p:spPr>
            <a:xfrm>
              <a:off x="1604125" y="2084125"/>
              <a:ext cx="4386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/>
                <a:t>left</a:t>
              </a:r>
              <a:endParaRPr sz="1200"/>
            </a:p>
          </p:txBody>
        </p:sp>
      </p:grpSp>
      <p:grpSp>
        <p:nvGrpSpPr>
          <p:cNvPr id="305" name="Google Shape;305;p33"/>
          <p:cNvGrpSpPr/>
          <p:nvPr/>
        </p:nvGrpSpPr>
        <p:grpSpPr>
          <a:xfrm>
            <a:off x="3120863" y="3356678"/>
            <a:ext cx="438600" cy="884825"/>
            <a:chOff x="1604125" y="2084125"/>
            <a:chExt cx="438600" cy="884825"/>
          </a:xfrm>
        </p:grpSpPr>
        <p:cxnSp>
          <p:nvCxnSpPr>
            <p:cNvPr id="306" name="Google Shape;306;p33"/>
            <p:cNvCxnSpPr/>
            <p:nvPr/>
          </p:nvCxnSpPr>
          <p:spPr>
            <a:xfrm flipH="1">
              <a:off x="1819225" y="2464650"/>
              <a:ext cx="8400" cy="50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07" name="Google Shape;307;p33"/>
            <p:cNvSpPr txBox="1"/>
            <p:nvPr/>
          </p:nvSpPr>
          <p:spPr>
            <a:xfrm>
              <a:off x="1604125" y="2084125"/>
              <a:ext cx="4386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/>
                <a:t>left</a:t>
              </a:r>
              <a:endParaRPr sz="1200"/>
            </a:p>
          </p:txBody>
        </p:sp>
      </p:grpSp>
      <p:grpSp>
        <p:nvGrpSpPr>
          <p:cNvPr id="308" name="Google Shape;308;p33"/>
          <p:cNvGrpSpPr/>
          <p:nvPr/>
        </p:nvGrpSpPr>
        <p:grpSpPr>
          <a:xfrm>
            <a:off x="3810088" y="3356665"/>
            <a:ext cx="649200" cy="884813"/>
            <a:chOff x="6975300" y="2129350"/>
            <a:chExt cx="649200" cy="884813"/>
          </a:xfrm>
        </p:grpSpPr>
        <p:cxnSp>
          <p:nvCxnSpPr>
            <p:cNvPr id="309" name="Google Shape;309;p33"/>
            <p:cNvCxnSpPr/>
            <p:nvPr/>
          </p:nvCxnSpPr>
          <p:spPr>
            <a:xfrm flipH="1">
              <a:off x="7300500" y="2509863"/>
              <a:ext cx="8400" cy="50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10" name="Google Shape;310;p33"/>
            <p:cNvSpPr txBox="1"/>
            <p:nvPr/>
          </p:nvSpPr>
          <p:spPr>
            <a:xfrm>
              <a:off x="6975300" y="2129350"/>
              <a:ext cx="6492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/>
                <a:t>right</a:t>
              </a:r>
              <a:endParaRPr sz="1200"/>
            </a:p>
          </p:txBody>
        </p:sp>
      </p:grpSp>
      <p:grpSp>
        <p:nvGrpSpPr>
          <p:cNvPr id="311" name="Google Shape;311;p33"/>
          <p:cNvGrpSpPr/>
          <p:nvPr/>
        </p:nvGrpSpPr>
        <p:grpSpPr>
          <a:xfrm>
            <a:off x="49750" y="2396800"/>
            <a:ext cx="1422400" cy="745925"/>
            <a:chOff x="49750" y="2396800"/>
            <a:chExt cx="1422400" cy="745925"/>
          </a:xfrm>
        </p:grpSpPr>
        <p:grpSp>
          <p:nvGrpSpPr>
            <p:cNvPr id="312" name="Google Shape;312;p33"/>
            <p:cNvGrpSpPr/>
            <p:nvPr/>
          </p:nvGrpSpPr>
          <p:grpSpPr>
            <a:xfrm>
              <a:off x="153897" y="2742525"/>
              <a:ext cx="1160925" cy="400200"/>
              <a:chOff x="153897" y="3635608"/>
              <a:chExt cx="1160925" cy="400200"/>
            </a:xfrm>
          </p:grpSpPr>
          <p:sp>
            <p:nvSpPr>
              <p:cNvPr id="313" name="Google Shape;313;p33"/>
              <p:cNvSpPr/>
              <p:nvPr/>
            </p:nvSpPr>
            <p:spPr>
              <a:xfrm>
                <a:off x="153897" y="3638904"/>
                <a:ext cx="393600" cy="393600"/>
              </a:xfrm>
              <a:prstGeom prst="rect">
                <a:avLst/>
              </a:prstGeom>
              <a:solidFill>
                <a:srgbClr val="00FF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13</a:t>
                </a:r>
                <a:endParaRPr/>
              </a:p>
            </p:txBody>
          </p:sp>
          <p:sp>
            <p:nvSpPr>
              <p:cNvPr id="314" name="Google Shape;314;p33"/>
              <p:cNvSpPr/>
              <p:nvPr/>
            </p:nvSpPr>
            <p:spPr>
              <a:xfrm>
                <a:off x="921222" y="3638904"/>
                <a:ext cx="393600" cy="393600"/>
              </a:xfrm>
              <a:prstGeom prst="rect">
                <a:avLst/>
              </a:prstGeom>
              <a:solidFill>
                <a:srgbClr val="00FF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10</a:t>
                </a:r>
                <a:endParaRPr/>
              </a:p>
            </p:txBody>
          </p:sp>
          <p:sp>
            <p:nvSpPr>
              <p:cNvPr id="315" name="Google Shape;315;p33"/>
              <p:cNvSpPr txBox="1"/>
              <p:nvPr/>
            </p:nvSpPr>
            <p:spPr>
              <a:xfrm>
                <a:off x="547508" y="3635608"/>
                <a:ext cx="3936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&gt;</a:t>
                </a:r>
                <a:endParaRPr/>
              </a:p>
            </p:txBody>
          </p:sp>
        </p:grpSp>
        <p:sp>
          <p:nvSpPr>
            <p:cNvPr id="316" name="Google Shape;316;p33"/>
            <p:cNvSpPr txBox="1"/>
            <p:nvPr/>
          </p:nvSpPr>
          <p:spPr>
            <a:xfrm>
              <a:off x="49750" y="2396800"/>
              <a:ext cx="5487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target</a:t>
              </a:r>
              <a:endParaRPr sz="1100"/>
            </a:p>
          </p:txBody>
        </p:sp>
        <p:sp>
          <p:nvSpPr>
            <p:cNvPr id="317" name="Google Shape;317;p33"/>
            <p:cNvSpPr txBox="1"/>
            <p:nvPr/>
          </p:nvSpPr>
          <p:spPr>
            <a:xfrm>
              <a:off x="779750" y="2396800"/>
              <a:ext cx="6924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arr[mid]</a:t>
              </a:r>
              <a:endParaRPr sz="1100"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Tìm kiếm lần 3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323" name="Google Shape;323;p34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" name="Google Shape;325;p34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Binary Search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326" name="Google Shape;326;p34"/>
          <p:cNvGrpSpPr/>
          <p:nvPr/>
        </p:nvGrpSpPr>
        <p:grpSpPr>
          <a:xfrm>
            <a:off x="1577688" y="2745812"/>
            <a:ext cx="5904000" cy="393600"/>
            <a:chOff x="1620000" y="1596375"/>
            <a:chExt cx="5904000" cy="393600"/>
          </a:xfrm>
        </p:grpSpPr>
        <p:sp>
          <p:nvSpPr>
            <p:cNvPr id="327" name="Google Shape;327;p34"/>
            <p:cNvSpPr/>
            <p:nvPr/>
          </p:nvSpPr>
          <p:spPr>
            <a:xfrm>
              <a:off x="16200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</a:t>
              </a:r>
              <a:endParaRPr/>
            </a:p>
          </p:txBody>
        </p:sp>
        <p:sp>
          <p:nvSpPr>
            <p:cNvPr id="328" name="Google Shape;328;p34"/>
            <p:cNvSpPr/>
            <p:nvPr/>
          </p:nvSpPr>
          <p:spPr>
            <a:xfrm>
              <a:off x="20136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5</a:t>
              </a:r>
              <a:endParaRPr/>
            </a:p>
          </p:txBody>
        </p:sp>
        <p:sp>
          <p:nvSpPr>
            <p:cNvPr id="329" name="Google Shape;329;p34"/>
            <p:cNvSpPr/>
            <p:nvPr/>
          </p:nvSpPr>
          <p:spPr>
            <a:xfrm>
              <a:off x="24072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6</a:t>
              </a:r>
              <a:endParaRPr/>
            </a:p>
          </p:txBody>
        </p:sp>
        <p:sp>
          <p:nvSpPr>
            <p:cNvPr id="330" name="Google Shape;330;p34"/>
            <p:cNvSpPr/>
            <p:nvPr/>
          </p:nvSpPr>
          <p:spPr>
            <a:xfrm>
              <a:off x="28008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10</a:t>
              </a:r>
              <a:endParaRPr/>
            </a:p>
          </p:txBody>
        </p:sp>
        <p:sp>
          <p:nvSpPr>
            <p:cNvPr id="331" name="Google Shape;331;p34"/>
            <p:cNvSpPr/>
            <p:nvPr/>
          </p:nvSpPr>
          <p:spPr>
            <a:xfrm>
              <a:off x="3194400" y="1596375"/>
              <a:ext cx="393600" cy="393600"/>
            </a:xfrm>
            <a:prstGeom prst="rect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13</a:t>
              </a:r>
              <a:endParaRPr/>
            </a:p>
          </p:txBody>
        </p:sp>
        <p:sp>
          <p:nvSpPr>
            <p:cNvPr id="332" name="Google Shape;332;p34"/>
            <p:cNvSpPr/>
            <p:nvPr/>
          </p:nvSpPr>
          <p:spPr>
            <a:xfrm>
              <a:off x="35880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17</a:t>
              </a:r>
              <a:endParaRPr/>
            </a:p>
          </p:txBody>
        </p:sp>
        <p:sp>
          <p:nvSpPr>
            <p:cNvPr id="333" name="Google Shape;333;p34"/>
            <p:cNvSpPr/>
            <p:nvPr/>
          </p:nvSpPr>
          <p:spPr>
            <a:xfrm>
              <a:off x="3981600" y="1596375"/>
              <a:ext cx="393600" cy="39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18</a:t>
              </a:r>
              <a:endParaRPr/>
            </a:p>
          </p:txBody>
        </p:sp>
        <p:sp>
          <p:nvSpPr>
            <p:cNvPr id="334" name="Google Shape;334;p34"/>
            <p:cNvSpPr/>
            <p:nvPr/>
          </p:nvSpPr>
          <p:spPr>
            <a:xfrm>
              <a:off x="43752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20</a:t>
              </a:r>
              <a:endParaRPr/>
            </a:p>
          </p:txBody>
        </p:sp>
        <p:sp>
          <p:nvSpPr>
            <p:cNvPr id="335" name="Google Shape;335;p34"/>
            <p:cNvSpPr/>
            <p:nvPr/>
          </p:nvSpPr>
          <p:spPr>
            <a:xfrm>
              <a:off x="47688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25</a:t>
              </a:r>
              <a:endParaRPr/>
            </a:p>
          </p:txBody>
        </p:sp>
        <p:sp>
          <p:nvSpPr>
            <p:cNvPr id="336" name="Google Shape;336;p34"/>
            <p:cNvSpPr/>
            <p:nvPr/>
          </p:nvSpPr>
          <p:spPr>
            <a:xfrm>
              <a:off x="51624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30</a:t>
              </a:r>
              <a:endParaRPr/>
            </a:p>
          </p:txBody>
        </p:sp>
        <p:sp>
          <p:nvSpPr>
            <p:cNvPr id="337" name="Google Shape;337;p34"/>
            <p:cNvSpPr/>
            <p:nvPr/>
          </p:nvSpPr>
          <p:spPr>
            <a:xfrm>
              <a:off x="55560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32</a:t>
              </a:r>
              <a:endParaRPr/>
            </a:p>
          </p:txBody>
        </p:sp>
        <p:sp>
          <p:nvSpPr>
            <p:cNvPr id="338" name="Google Shape;338;p34"/>
            <p:cNvSpPr/>
            <p:nvPr/>
          </p:nvSpPr>
          <p:spPr>
            <a:xfrm>
              <a:off x="59496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40</a:t>
              </a:r>
              <a:endParaRPr/>
            </a:p>
          </p:txBody>
        </p:sp>
        <p:sp>
          <p:nvSpPr>
            <p:cNvPr id="339" name="Google Shape;339;p34"/>
            <p:cNvSpPr/>
            <p:nvPr/>
          </p:nvSpPr>
          <p:spPr>
            <a:xfrm>
              <a:off x="63432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45</a:t>
              </a:r>
              <a:endParaRPr/>
            </a:p>
          </p:txBody>
        </p:sp>
        <p:sp>
          <p:nvSpPr>
            <p:cNvPr id="340" name="Google Shape;340;p34"/>
            <p:cNvSpPr/>
            <p:nvPr/>
          </p:nvSpPr>
          <p:spPr>
            <a:xfrm>
              <a:off x="67368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49</a:t>
              </a:r>
              <a:endParaRPr/>
            </a:p>
          </p:txBody>
        </p:sp>
        <p:sp>
          <p:nvSpPr>
            <p:cNvPr id="341" name="Google Shape;341;p34"/>
            <p:cNvSpPr/>
            <p:nvPr/>
          </p:nvSpPr>
          <p:spPr>
            <a:xfrm>
              <a:off x="71304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60</a:t>
              </a:r>
              <a:endParaRPr/>
            </a:p>
          </p:txBody>
        </p:sp>
      </p:grpSp>
      <p:sp>
        <p:nvSpPr>
          <p:cNvPr id="342" name="Google Shape;342;p34"/>
          <p:cNvSpPr txBox="1"/>
          <p:nvPr/>
        </p:nvSpPr>
        <p:spPr>
          <a:xfrm>
            <a:off x="1577700" y="2480788"/>
            <a:ext cx="5904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  0        1        2        3        4         5        6       7        8        9        10      11      12      13      14</a:t>
            </a:r>
            <a:endParaRPr sz="1100"/>
          </a:p>
        </p:txBody>
      </p:sp>
      <p:grpSp>
        <p:nvGrpSpPr>
          <p:cNvPr id="343" name="Google Shape;343;p34"/>
          <p:cNvGrpSpPr/>
          <p:nvPr/>
        </p:nvGrpSpPr>
        <p:grpSpPr>
          <a:xfrm>
            <a:off x="3810088" y="1643703"/>
            <a:ext cx="649200" cy="884813"/>
            <a:chOff x="6975300" y="2129350"/>
            <a:chExt cx="649200" cy="884813"/>
          </a:xfrm>
        </p:grpSpPr>
        <p:cxnSp>
          <p:nvCxnSpPr>
            <p:cNvPr id="344" name="Google Shape;344;p34"/>
            <p:cNvCxnSpPr/>
            <p:nvPr/>
          </p:nvCxnSpPr>
          <p:spPr>
            <a:xfrm flipH="1">
              <a:off x="7300500" y="2509863"/>
              <a:ext cx="8400" cy="50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45" name="Google Shape;345;p34"/>
            <p:cNvSpPr txBox="1"/>
            <p:nvPr/>
          </p:nvSpPr>
          <p:spPr>
            <a:xfrm>
              <a:off x="6975300" y="2129350"/>
              <a:ext cx="6492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/>
                <a:t>right</a:t>
              </a:r>
              <a:endParaRPr sz="1200"/>
            </a:p>
          </p:txBody>
        </p:sp>
      </p:grpSp>
      <p:grpSp>
        <p:nvGrpSpPr>
          <p:cNvPr id="346" name="Google Shape;346;p34"/>
          <p:cNvGrpSpPr/>
          <p:nvPr/>
        </p:nvGrpSpPr>
        <p:grpSpPr>
          <a:xfrm>
            <a:off x="3441163" y="1643703"/>
            <a:ext cx="649200" cy="884825"/>
            <a:chOff x="2681350" y="2156400"/>
            <a:chExt cx="649200" cy="884825"/>
          </a:xfrm>
        </p:grpSpPr>
        <p:cxnSp>
          <p:nvCxnSpPr>
            <p:cNvPr id="347" name="Google Shape;347;p34"/>
            <p:cNvCxnSpPr/>
            <p:nvPr/>
          </p:nvCxnSpPr>
          <p:spPr>
            <a:xfrm flipH="1">
              <a:off x="2996975" y="2536925"/>
              <a:ext cx="8400" cy="50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48" name="Google Shape;348;p34"/>
            <p:cNvSpPr txBox="1"/>
            <p:nvPr/>
          </p:nvSpPr>
          <p:spPr>
            <a:xfrm>
              <a:off x="2681350" y="2156400"/>
              <a:ext cx="6492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/>
                <a:t>mid</a:t>
              </a:r>
              <a:endParaRPr sz="1200"/>
            </a:p>
          </p:txBody>
        </p:sp>
      </p:grpSp>
      <p:sp>
        <p:nvSpPr>
          <p:cNvPr id="349" name="Google Shape;349;p34"/>
          <p:cNvSpPr txBox="1"/>
          <p:nvPr/>
        </p:nvSpPr>
        <p:spPr>
          <a:xfrm>
            <a:off x="438375" y="1017525"/>
            <a:ext cx="108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left = 4</a:t>
            </a:r>
            <a:endParaRPr sz="1200"/>
          </a:p>
        </p:txBody>
      </p:sp>
      <p:sp>
        <p:nvSpPr>
          <p:cNvPr id="350" name="Google Shape;350;p34"/>
          <p:cNvSpPr txBox="1"/>
          <p:nvPr/>
        </p:nvSpPr>
        <p:spPr>
          <a:xfrm>
            <a:off x="1778000" y="1017525"/>
            <a:ext cx="108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right = 6</a:t>
            </a:r>
            <a:endParaRPr sz="1200"/>
          </a:p>
        </p:txBody>
      </p:sp>
      <p:sp>
        <p:nvSpPr>
          <p:cNvPr id="351" name="Google Shape;351;p34"/>
          <p:cNvSpPr txBox="1"/>
          <p:nvPr/>
        </p:nvSpPr>
        <p:spPr>
          <a:xfrm>
            <a:off x="2977050" y="1017525"/>
            <a:ext cx="221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mid = (left + right) / 2 = 5</a:t>
            </a:r>
            <a:endParaRPr sz="1200"/>
          </a:p>
        </p:txBody>
      </p:sp>
      <p:sp>
        <p:nvSpPr>
          <p:cNvPr id="352" name="Google Shape;352;p34"/>
          <p:cNvSpPr/>
          <p:nvPr/>
        </p:nvSpPr>
        <p:spPr>
          <a:xfrm flipH="1" rot="10800000">
            <a:off x="669925" y="3316475"/>
            <a:ext cx="649200" cy="1455300"/>
          </a:xfrm>
          <a:prstGeom prst="bentArrow">
            <a:avLst>
              <a:gd fmla="val 26748" name="adj1"/>
              <a:gd fmla="val 25000" name="adj2"/>
              <a:gd fmla="val 25000" name="adj3"/>
              <a:gd fmla="val 43750" name="adj4"/>
            </a:avLst>
          </a:prstGeom>
          <a:solidFill>
            <a:srgbClr val="59595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3" name="Google Shape;353;p34"/>
          <p:cNvGrpSpPr/>
          <p:nvPr/>
        </p:nvGrpSpPr>
        <p:grpSpPr>
          <a:xfrm>
            <a:off x="1574513" y="4176051"/>
            <a:ext cx="5904013" cy="676295"/>
            <a:chOff x="1574513" y="4176051"/>
            <a:chExt cx="5904013" cy="676295"/>
          </a:xfrm>
        </p:grpSpPr>
        <p:grpSp>
          <p:nvGrpSpPr>
            <p:cNvPr id="354" name="Google Shape;354;p34"/>
            <p:cNvGrpSpPr/>
            <p:nvPr/>
          </p:nvGrpSpPr>
          <p:grpSpPr>
            <a:xfrm>
              <a:off x="1574513" y="4458745"/>
              <a:ext cx="5904000" cy="393600"/>
              <a:chOff x="1620000" y="1596375"/>
              <a:chExt cx="5904000" cy="393600"/>
            </a:xfrm>
          </p:grpSpPr>
          <p:sp>
            <p:nvSpPr>
              <p:cNvPr id="355" name="Google Shape;355;p34"/>
              <p:cNvSpPr/>
              <p:nvPr/>
            </p:nvSpPr>
            <p:spPr>
              <a:xfrm>
                <a:off x="16200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356" name="Google Shape;356;p34"/>
              <p:cNvSpPr/>
              <p:nvPr/>
            </p:nvSpPr>
            <p:spPr>
              <a:xfrm>
                <a:off x="20136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5</a:t>
                </a:r>
                <a:endParaRPr/>
              </a:p>
            </p:txBody>
          </p:sp>
          <p:sp>
            <p:nvSpPr>
              <p:cNvPr id="357" name="Google Shape;357;p34"/>
              <p:cNvSpPr/>
              <p:nvPr/>
            </p:nvSpPr>
            <p:spPr>
              <a:xfrm>
                <a:off x="24072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6</a:t>
                </a:r>
                <a:endParaRPr/>
              </a:p>
            </p:txBody>
          </p:sp>
          <p:sp>
            <p:nvSpPr>
              <p:cNvPr id="358" name="Google Shape;358;p34"/>
              <p:cNvSpPr/>
              <p:nvPr/>
            </p:nvSpPr>
            <p:spPr>
              <a:xfrm>
                <a:off x="28008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10</a:t>
                </a:r>
                <a:endParaRPr/>
              </a:p>
            </p:txBody>
          </p:sp>
          <p:sp>
            <p:nvSpPr>
              <p:cNvPr id="359" name="Google Shape;359;p34"/>
              <p:cNvSpPr/>
              <p:nvPr/>
            </p:nvSpPr>
            <p:spPr>
              <a:xfrm>
                <a:off x="3194400" y="1596375"/>
                <a:ext cx="393600" cy="393600"/>
              </a:xfrm>
              <a:prstGeom prst="rect">
                <a:avLst/>
              </a:prstGeom>
              <a:solidFill>
                <a:srgbClr val="00FF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13</a:t>
                </a:r>
                <a:endParaRPr/>
              </a:p>
            </p:txBody>
          </p:sp>
          <p:sp>
            <p:nvSpPr>
              <p:cNvPr id="360" name="Google Shape;360;p34"/>
              <p:cNvSpPr/>
              <p:nvPr/>
            </p:nvSpPr>
            <p:spPr>
              <a:xfrm>
                <a:off x="35880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17</a:t>
                </a:r>
                <a:endParaRPr/>
              </a:p>
            </p:txBody>
          </p:sp>
          <p:sp>
            <p:nvSpPr>
              <p:cNvPr id="361" name="Google Shape;361;p34"/>
              <p:cNvSpPr/>
              <p:nvPr/>
            </p:nvSpPr>
            <p:spPr>
              <a:xfrm>
                <a:off x="39816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18</a:t>
                </a:r>
                <a:endParaRPr/>
              </a:p>
            </p:txBody>
          </p:sp>
          <p:sp>
            <p:nvSpPr>
              <p:cNvPr id="362" name="Google Shape;362;p34"/>
              <p:cNvSpPr/>
              <p:nvPr/>
            </p:nvSpPr>
            <p:spPr>
              <a:xfrm>
                <a:off x="43752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20</a:t>
                </a:r>
                <a:endParaRPr/>
              </a:p>
            </p:txBody>
          </p:sp>
          <p:sp>
            <p:nvSpPr>
              <p:cNvPr id="363" name="Google Shape;363;p34"/>
              <p:cNvSpPr/>
              <p:nvPr/>
            </p:nvSpPr>
            <p:spPr>
              <a:xfrm>
                <a:off x="47688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25</a:t>
                </a:r>
                <a:endParaRPr/>
              </a:p>
            </p:txBody>
          </p:sp>
          <p:sp>
            <p:nvSpPr>
              <p:cNvPr id="364" name="Google Shape;364;p34"/>
              <p:cNvSpPr/>
              <p:nvPr/>
            </p:nvSpPr>
            <p:spPr>
              <a:xfrm>
                <a:off x="51624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30</a:t>
                </a:r>
                <a:endParaRPr/>
              </a:p>
            </p:txBody>
          </p:sp>
          <p:sp>
            <p:nvSpPr>
              <p:cNvPr id="365" name="Google Shape;365;p34"/>
              <p:cNvSpPr/>
              <p:nvPr/>
            </p:nvSpPr>
            <p:spPr>
              <a:xfrm>
                <a:off x="55560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32</a:t>
                </a:r>
                <a:endParaRPr/>
              </a:p>
            </p:txBody>
          </p:sp>
          <p:sp>
            <p:nvSpPr>
              <p:cNvPr id="366" name="Google Shape;366;p34"/>
              <p:cNvSpPr/>
              <p:nvPr/>
            </p:nvSpPr>
            <p:spPr>
              <a:xfrm>
                <a:off x="59496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40</a:t>
                </a:r>
                <a:endParaRPr/>
              </a:p>
            </p:txBody>
          </p:sp>
          <p:sp>
            <p:nvSpPr>
              <p:cNvPr id="367" name="Google Shape;367;p34"/>
              <p:cNvSpPr/>
              <p:nvPr/>
            </p:nvSpPr>
            <p:spPr>
              <a:xfrm>
                <a:off x="63432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45</a:t>
                </a:r>
                <a:endParaRPr/>
              </a:p>
            </p:txBody>
          </p:sp>
          <p:sp>
            <p:nvSpPr>
              <p:cNvPr id="368" name="Google Shape;368;p34"/>
              <p:cNvSpPr/>
              <p:nvPr/>
            </p:nvSpPr>
            <p:spPr>
              <a:xfrm>
                <a:off x="67368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49</a:t>
                </a:r>
                <a:endParaRPr/>
              </a:p>
            </p:txBody>
          </p:sp>
          <p:sp>
            <p:nvSpPr>
              <p:cNvPr id="369" name="Google Shape;369;p34"/>
              <p:cNvSpPr/>
              <p:nvPr/>
            </p:nvSpPr>
            <p:spPr>
              <a:xfrm>
                <a:off x="7130400" y="1596375"/>
                <a:ext cx="393600" cy="393600"/>
              </a:xfrm>
              <a:prstGeom prst="rect">
                <a:avLst/>
              </a:prstGeom>
              <a:solidFill>
                <a:srgbClr val="666666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60</a:t>
                </a:r>
                <a:endParaRPr/>
              </a:p>
            </p:txBody>
          </p:sp>
        </p:grpSp>
        <p:sp>
          <p:nvSpPr>
            <p:cNvPr id="370" name="Google Shape;370;p34"/>
            <p:cNvSpPr txBox="1"/>
            <p:nvPr/>
          </p:nvSpPr>
          <p:spPr>
            <a:xfrm>
              <a:off x="1574525" y="4176051"/>
              <a:ext cx="59040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  0        1        2        3        4         5        6       7        8        9        10      11      12      13      14</a:t>
              </a:r>
              <a:endParaRPr sz="1100"/>
            </a:p>
          </p:txBody>
        </p:sp>
      </p:grpSp>
      <p:grpSp>
        <p:nvGrpSpPr>
          <p:cNvPr id="371" name="Google Shape;371;p34"/>
          <p:cNvGrpSpPr/>
          <p:nvPr/>
        </p:nvGrpSpPr>
        <p:grpSpPr>
          <a:xfrm>
            <a:off x="3129132" y="1640441"/>
            <a:ext cx="438600" cy="884825"/>
            <a:chOff x="3158744" y="2100664"/>
            <a:chExt cx="438600" cy="884825"/>
          </a:xfrm>
        </p:grpSpPr>
        <p:cxnSp>
          <p:nvCxnSpPr>
            <p:cNvPr id="372" name="Google Shape;372;p34"/>
            <p:cNvCxnSpPr/>
            <p:nvPr/>
          </p:nvCxnSpPr>
          <p:spPr>
            <a:xfrm flipH="1">
              <a:off x="3373844" y="2481189"/>
              <a:ext cx="8400" cy="50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73" name="Google Shape;373;p34"/>
            <p:cNvSpPr txBox="1"/>
            <p:nvPr/>
          </p:nvSpPr>
          <p:spPr>
            <a:xfrm>
              <a:off x="3158744" y="2100664"/>
              <a:ext cx="4386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/>
                <a:t>left</a:t>
              </a:r>
              <a:endParaRPr sz="1200"/>
            </a:p>
          </p:txBody>
        </p:sp>
      </p:grpSp>
      <p:grpSp>
        <p:nvGrpSpPr>
          <p:cNvPr id="374" name="Google Shape;374;p34"/>
          <p:cNvGrpSpPr/>
          <p:nvPr/>
        </p:nvGrpSpPr>
        <p:grpSpPr>
          <a:xfrm>
            <a:off x="2728329" y="3356675"/>
            <a:ext cx="1240200" cy="884828"/>
            <a:chOff x="1211592" y="2084122"/>
            <a:chExt cx="1240200" cy="884828"/>
          </a:xfrm>
        </p:grpSpPr>
        <p:cxnSp>
          <p:nvCxnSpPr>
            <p:cNvPr id="375" name="Google Shape;375;p34"/>
            <p:cNvCxnSpPr/>
            <p:nvPr/>
          </p:nvCxnSpPr>
          <p:spPr>
            <a:xfrm flipH="1">
              <a:off x="1819225" y="2464650"/>
              <a:ext cx="8400" cy="50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76" name="Google Shape;376;p34"/>
            <p:cNvSpPr txBox="1"/>
            <p:nvPr/>
          </p:nvSpPr>
          <p:spPr>
            <a:xfrm>
              <a:off x="1211592" y="2084122"/>
              <a:ext cx="12402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/>
                <a:t>left=right</a:t>
              </a:r>
              <a:endParaRPr sz="1200"/>
            </a:p>
          </p:txBody>
        </p:sp>
      </p:grpSp>
      <p:grpSp>
        <p:nvGrpSpPr>
          <p:cNvPr id="377" name="Google Shape;377;p34"/>
          <p:cNvGrpSpPr/>
          <p:nvPr/>
        </p:nvGrpSpPr>
        <p:grpSpPr>
          <a:xfrm>
            <a:off x="49750" y="2396800"/>
            <a:ext cx="1422400" cy="745925"/>
            <a:chOff x="49750" y="2396800"/>
            <a:chExt cx="1422400" cy="745925"/>
          </a:xfrm>
        </p:grpSpPr>
        <p:grpSp>
          <p:nvGrpSpPr>
            <p:cNvPr id="378" name="Google Shape;378;p34"/>
            <p:cNvGrpSpPr/>
            <p:nvPr/>
          </p:nvGrpSpPr>
          <p:grpSpPr>
            <a:xfrm>
              <a:off x="153897" y="2742525"/>
              <a:ext cx="1160925" cy="400200"/>
              <a:chOff x="153897" y="3635608"/>
              <a:chExt cx="1160925" cy="400200"/>
            </a:xfrm>
          </p:grpSpPr>
          <p:sp>
            <p:nvSpPr>
              <p:cNvPr id="379" name="Google Shape;379;p34"/>
              <p:cNvSpPr/>
              <p:nvPr/>
            </p:nvSpPr>
            <p:spPr>
              <a:xfrm>
                <a:off x="153897" y="3638904"/>
                <a:ext cx="393600" cy="393600"/>
              </a:xfrm>
              <a:prstGeom prst="rect">
                <a:avLst/>
              </a:prstGeom>
              <a:solidFill>
                <a:srgbClr val="00FF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13</a:t>
                </a:r>
                <a:endParaRPr/>
              </a:p>
            </p:txBody>
          </p:sp>
          <p:sp>
            <p:nvSpPr>
              <p:cNvPr id="380" name="Google Shape;380;p34"/>
              <p:cNvSpPr/>
              <p:nvPr/>
            </p:nvSpPr>
            <p:spPr>
              <a:xfrm>
                <a:off x="921222" y="3638904"/>
                <a:ext cx="393600" cy="393600"/>
              </a:xfrm>
              <a:prstGeom prst="rect">
                <a:avLst/>
              </a:prstGeom>
              <a:solidFill>
                <a:srgbClr val="00FF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17</a:t>
                </a:r>
                <a:endParaRPr/>
              </a:p>
            </p:txBody>
          </p:sp>
          <p:sp>
            <p:nvSpPr>
              <p:cNvPr id="381" name="Google Shape;381;p34"/>
              <p:cNvSpPr txBox="1"/>
              <p:nvPr/>
            </p:nvSpPr>
            <p:spPr>
              <a:xfrm>
                <a:off x="547508" y="3635608"/>
                <a:ext cx="3936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&lt;</a:t>
                </a:r>
                <a:endParaRPr/>
              </a:p>
            </p:txBody>
          </p:sp>
        </p:grpSp>
        <p:sp>
          <p:nvSpPr>
            <p:cNvPr id="382" name="Google Shape;382;p34"/>
            <p:cNvSpPr txBox="1"/>
            <p:nvPr/>
          </p:nvSpPr>
          <p:spPr>
            <a:xfrm>
              <a:off x="49750" y="2396800"/>
              <a:ext cx="5487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target</a:t>
              </a:r>
              <a:endParaRPr sz="1100"/>
            </a:p>
          </p:txBody>
        </p:sp>
        <p:sp>
          <p:nvSpPr>
            <p:cNvPr id="383" name="Google Shape;383;p34"/>
            <p:cNvSpPr txBox="1"/>
            <p:nvPr/>
          </p:nvSpPr>
          <p:spPr>
            <a:xfrm>
              <a:off x="779750" y="2396800"/>
              <a:ext cx="6924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arr[mid]</a:t>
              </a:r>
              <a:endParaRPr sz="1100"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Tìm kiếm lần 4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389" name="Google Shape;389;p35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1" name="Google Shape;391;p35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Binary Search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392" name="Google Shape;392;p35"/>
          <p:cNvGrpSpPr/>
          <p:nvPr/>
        </p:nvGrpSpPr>
        <p:grpSpPr>
          <a:xfrm>
            <a:off x="1577688" y="2745812"/>
            <a:ext cx="5904000" cy="393600"/>
            <a:chOff x="1620000" y="1596375"/>
            <a:chExt cx="5904000" cy="393600"/>
          </a:xfrm>
        </p:grpSpPr>
        <p:sp>
          <p:nvSpPr>
            <p:cNvPr id="393" name="Google Shape;393;p35"/>
            <p:cNvSpPr/>
            <p:nvPr/>
          </p:nvSpPr>
          <p:spPr>
            <a:xfrm>
              <a:off x="16200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</a:t>
              </a:r>
              <a:endParaRPr/>
            </a:p>
          </p:txBody>
        </p:sp>
        <p:sp>
          <p:nvSpPr>
            <p:cNvPr id="394" name="Google Shape;394;p35"/>
            <p:cNvSpPr/>
            <p:nvPr/>
          </p:nvSpPr>
          <p:spPr>
            <a:xfrm>
              <a:off x="20136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5</a:t>
              </a:r>
              <a:endParaRPr/>
            </a:p>
          </p:txBody>
        </p:sp>
        <p:sp>
          <p:nvSpPr>
            <p:cNvPr id="395" name="Google Shape;395;p35"/>
            <p:cNvSpPr/>
            <p:nvPr/>
          </p:nvSpPr>
          <p:spPr>
            <a:xfrm>
              <a:off x="24072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6</a:t>
              </a:r>
              <a:endParaRPr/>
            </a:p>
          </p:txBody>
        </p:sp>
        <p:sp>
          <p:nvSpPr>
            <p:cNvPr id="396" name="Google Shape;396;p35"/>
            <p:cNvSpPr/>
            <p:nvPr/>
          </p:nvSpPr>
          <p:spPr>
            <a:xfrm>
              <a:off x="28008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10</a:t>
              </a:r>
              <a:endParaRPr/>
            </a:p>
          </p:txBody>
        </p:sp>
        <p:sp>
          <p:nvSpPr>
            <p:cNvPr id="397" name="Google Shape;397;p35"/>
            <p:cNvSpPr/>
            <p:nvPr/>
          </p:nvSpPr>
          <p:spPr>
            <a:xfrm>
              <a:off x="3194400" y="1596375"/>
              <a:ext cx="393600" cy="393600"/>
            </a:xfrm>
            <a:prstGeom prst="rect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13</a:t>
              </a:r>
              <a:endParaRPr/>
            </a:p>
          </p:txBody>
        </p:sp>
        <p:sp>
          <p:nvSpPr>
            <p:cNvPr id="398" name="Google Shape;398;p35"/>
            <p:cNvSpPr/>
            <p:nvPr/>
          </p:nvSpPr>
          <p:spPr>
            <a:xfrm>
              <a:off x="35880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17</a:t>
              </a:r>
              <a:endParaRPr/>
            </a:p>
          </p:txBody>
        </p:sp>
        <p:sp>
          <p:nvSpPr>
            <p:cNvPr id="399" name="Google Shape;399;p35"/>
            <p:cNvSpPr/>
            <p:nvPr/>
          </p:nvSpPr>
          <p:spPr>
            <a:xfrm>
              <a:off x="39816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18</a:t>
              </a:r>
              <a:endParaRPr/>
            </a:p>
          </p:txBody>
        </p:sp>
        <p:sp>
          <p:nvSpPr>
            <p:cNvPr id="400" name="Google Shape;400;p35"/>
            <p:cNvSpPr/>
            <p:nvPr/>
          </p:nvSpPr>
          <p:spPr>
            <a:xfrm>
              <a:off x="43752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20</a:t>
              </a:r>
              <a:endParaRPr/>
            </a:p>
          </p:txBody>
        </p:sp>
        <p:sp>
          <p:nvSpPr>
            <p:cNvPr id="401" name="Google Shape;401;p35"/>
            <p:cNvSpPr/>
            <p:nvPr/>
          </p:nvSpPr>
          <p:spPr>
            <a:xfrm>
              <a:off x="47688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25</a:t>
              </a:r>
              <a:endParaRPr/>
            </a:p>
          </p:txBody>
        </p:sp>
        <p:sp>
          <p:nvSpPr>
            <p:cNvPr id="402" name="Google Shape;402;p35"/>
            <p:cNvSpPr/>
            <p:nvPr/>
          </p:nvSpPr>
          <p:spPr>
            <a:xfrm>
              <a:off x="51624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30</a:t>
              </a:r>
              <a:endParaRPr/>
            </a:p>
          </p:txBody>
        </p:sp>
        <p:sp>
          <p:nvSpPr>
            <p:cNvPr id="403" name="Google Shape;403;p35"/>
            <p:cNvSpPr/>
            <p:nvPr/>
          </p:nvSpPr>
          <p:spPr>
            <a:xfrm>
              <a:off x="55560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32</a:t>
              </a:r>
              <a:endParaRPr/>
            </a:p>
          </p:txBody>
        </p:sp>
        <p:sp>
          <p:nvSpPr>
            <p:cNvPr id="404" name="Google Shape;404;p35"/>
            <p:cNvSpPr/>
            <p:nvPr/>
          </p:nvSpPr>
          <p:spPr>
            <a:xfrm>
              <a:off x="59496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40</a:t>
              </a:r>
              <a:endParaRPr/>
            </a:p>
          </p:txBody>
        </p:sp>
        <p:sp>
          <p:nvSpPr>
            <p:cNvPr id="405" name="Google Shape;405;p35"/>
            <p:cNvSpPr/>
            <p:nvPr/>
          </p:nvSpPr>
          <p:spPr>
            <a:xfrm>
              <a:off x="63432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45</a:t>
              </a:r>
              <a:endParaRPr/>
            </a:p>
          </p:txBody>
        </p:sp>
        <p:sp>
          <p:nvSpPr>
            <p:cNvPr id="406" name="Google Shape;406;p35"/>
            <p:cNvSpPr/>
            <p:nvPr/>
          </p:nvSpPr>
          <p:spPr>
            <a:xfrm>
              <a:off x="67368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49</a:t>
              </a:r>
              <a:endParaRPr/>
            </a:p>
          </p:txBody>
        </p:sp>
        <p:sp>
          <p:nvSpPr>
            <p:cNvPr id="407" name="Google Shape;407;p35"/>
            <p:cNvSpPr/>
            <p:nvPr/>
          </p:nvSpPr>
          <p:spPr>
            <a:xfrm>
              <a:off x="7130400" y="1596375"/>
              <a:ext cx="393600" cy="3936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60</a:t>
              </a:r>
              <a:endParaRPr/>
            </a:p>
          </p:txBody>
        </p:sp>
      </p:grpSp>
      <p:sp>
        <p:nvSpPr>
          <p:cNvPr id="408" name="Google Shape;408;p35"/>
          <p:cNvSpPr txBox="1"/>
          <p:nvPr/>
        </p:nvSpPr>
        <p:spPr>
          <a:xfrm>
            <a:off x="1577700" y="2480788"/>
            <a:ext cx="5904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  0        1        2        3        4         5        6       7        8        9        10      11      12      13      14</a:t>
            </a:r>
            <a:endParaRPr sz="1100"/>
          </a:p>
        </p:txBody>
      </p:sp>
      <p:sp>
        <p:nvSpPr>
          <p:cNvPr id="409" name="Google Shape;409;p35"/>
          <p:cNvSpPr txBox="1"/>
          <p:nvPr/>
        </p:nvSpPr>
        <p:spPr>
          <a:xfrm>
            <a:off x="438375" y="1017525"/>
            <a:ext cx="108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left = 4</a:t>
            </a:r>
            <a:endParaRPr sz="1200"/>
          </a:p>
        </p:txBody>
      </p:sp>
      <p:sp>
        <p:nvSpPr>
          <p:cNvPr id="410" name="Google Shape;410;p35"/>
          <p:cNvSpPr txBox="1"/>
          <p:nvPr/>
        </p:nvSpPr>
        <p:spPr>
          <a:xfrm>
            <a:off x="1778000" y="1017525"/>
            <a:ext cx="108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right = 4</a:t>
            </a:r>
            <a:endParaRPr sz="1200"/>
          </a:p>
        </p:txBody>
      </p:sp>
      <p:sp>
        <p:nvSpPr>
          <p:cNvPr id="411" name="Google Shape;411;p35"/>
          <p:cNvSpPr txBox="1"/>
          <p:nvPr/>
        </p:nvSpPr>
        <p:spPr>
          <a:xfrm>
            <a:off x="2977050" y="1017525"/>
            <a:ext cx="221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mid = (left + right) / 2 = 4</a:t>
            </a:r>
            <a:endParaRPr sz="1200"/>
          </a:p>
        </p:txBody>
      </p:sp>
      <p:sp>
        <p:nvSpPr>
          <p:cNvPr id="412" name="Google Shape;412;p35"/>
          <p:cNvSpPr/>
          <p:nvPr/>
        </p:nvSpPr>
        <p:spPr>
          <a:xfrm flipH="1" rot="10800000">
            <a:off x="669925" y="3316475"/>
            <a:ext cx="649200" cy="1455300"/>
          </a:xfrm>
          <a:prstGeom prst="bentArrow">
            <a:avLst>
              <a:gd fmla="val 26748" name="adj1"/>
              <a:gd fmla="val 25000" name="adj2"/>
              <a:gd fmla="val 25000" name="adj3"/>
              <a:gd fmla="val 43750" name="adj4"/>
            </a:avLst>
          </a:prstGeom>
          <a:solidFill>
            <a:srgbClr val="59595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3" name="Google Shape;413;p35"/>
          <p:cNvGrpSpPr/>
          <p:nvPr/>
        </p:nvGrpSpPr>
        <p:grpSpPr>
          <a:xfrm>
            <a:off x="2484425" y="1640450"/>
            <a:ext cx="1741200" cy="884816"/>
            <a:chOff x="2514038" y="2100672"/>
            <a:chExt cx="1741200" cy="884816"/>
          </a:xfrm>
        </p:grpSpPr>
        <p:cxnSp>
          <p:nvCxnSpPr>
            <p:cNvPr id="414" name="Google Shape;414;p35"/>
            <p:cNvCxnSpPr/>
            <p:nvPr/>
          </p:nvCxnSpPr>
          <p:spPr>
            <a:xfrm flipH="1">
              <a:off x="3373844" y="2481189"/>
              <a:ext cx="8400" cy="50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15" name="Google Shape;415;p35"/>
            <p:cNvSpPr txBox="1"/>
            <p:nvPr/>
          </p:nvSpPr>
          <p:spPr>
            <a:xfrm>
              <a:off x="2514038" y="2100672"/>
              <a:ext cx="17412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/>
                <a:t>left=right=mid</a:t>
              </a:r>
              <a:endParaRPr sz="1200"/>
            </a:p>
          </p:txBody>
        </p:sp>
      </p:grpSp>
      <p:grpSp>
        <p:nvGrpSpPr>
          <p:cNvPr id="416" name="Google Shape;416;p35"/>
          <p:cNvGrpSpPr/>
          <p:nvPr/>
        </p:nvGrpSpPr>
        <p:grpSpPr>
          <a:xfrm>
            <a:off x="49750" y="2396800"/>
            <a:ext cx="1422400" cy="745925"/>
            <a:chOff x="49750" y="2396800"/>
            <a:chExt cx="1422400" cy="745925"/>
          </a:xfrm>
        </p:grpSpPr>
        <p:grpSp>
          <p:nvGrpSpPr>
            <p:cNvPr id="417" name="Google Shape;417;p35"/>
            <p:cNvGrpSpPr/>
            <p:nvPr/>
          </p:nvGrpSpPr>
          <p:grpSpPr>
            <a:xfrm>
              <a:off x="153897" y="2742525"/>
              <a:ext cx="1160925" cy="400200"/>
              <a:chOff x="153897" y="3635608"/>
              <a:chExt cx="1160925" cy="400200"/>
            </a:xfrm>
          </p:grpSpPr>
          <p:sp>
            <p:nvSpPr>
              <p:cNvPr id="418" name="Google Shape;418;p35"/>
              <p:cNvSpPr/>
              <p:nvPr/>
            </p:nvSpPr>
            <p:spPr>
              <a:xfrm>
                <a:off x="153897" y="3638904"/>
                <a:ext cx="393600" cy="393600"/>
              </a:xfrm>
              <a:prstGeom prst="rect">
                <a:avLst/>
              </a:prstGeom>
              <a:solidFill>
                <a:srgbClr val="00FF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13</a:t>
                </a:r>
                <a:endParaRPr/>
              </a:p>
            </p:txBody>
          </p:sp>
          <p:sp>
            <p:nvSpPr>
              <p:cNvPr id="419" name="Google Shape;419;p35"/>
              <p:cNvSpPr/>
              <p:nvPr/>
            </p:nvSpPr>
            <p:spPr>
              <a:xfrm>
                <a:off x="921222" y="3638904"/>
                <a:ext cx="393600" cy="393600"/>
              </a:xfrm>
              <a:prstGeom prst="rect">
                <a:avLst/>
              </a:prstGeom>
              <a:solidFill>
                <a:srgbClr val="00FF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13</a:t>
                </a:r>
                <a:endParaRPr/>
              </a:p>
            </p:txBody>
          </p:sp>
          <p:sp>
            <p:nvSpPr>
              <p:cNvPr id="420" name="Google Shape;420;p35"/>
              <p:cNvSpPr txBox="1"/>
              <p:nvPr/>
            </p:nvSpPr>
            <p:spPr>
              <a:xfrm>
                <a:off x="547508" y="3635608"/>
                <a:ext cx="3936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=</a:t>
                </a:r>
                <a:endParaRPr/>
              </a:p>
            </p:txBody>
          </p:sp>
        </p:grpSp>
        <p:sp>
          <p:nvSpPr>
            <p:cNvPr id="421" name="Google Shape;421;p35"/>
            <p:cNvSpPr txBox="1"/>
            <p:nvPr/>
          </p:nvSpPr>
          <p:spPr>
            <a:xfrm>
              <a:off x="49750" y="2396800"/>
              <a:ext cx="5487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target</a:t>
              </a:r>
              <a:endParaRPr sz="1100"/>
            </a:p>
          </p:txBody>
        </p:sp>
        <p:sp>
          <p:nvSpPr>
            <p:cNvPr id="422" name="Google Shape;422;p35"/>
            <p:cNvSpPr txBox="1"/>
            <p:nvPr/>
          </p:nvSpPr>
          <p:spPr>
            <a:xfrm>
              <a:off x="779750" y="2396800"/>
              <a:ext cx="6924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arr[mid]</a:t>
              </a:r>
              <a:endParaRPr sz="1100"/>
            </a:p>
          </p:txBody>
        </p:sp>
      </p:grpSp>
      <p:sp>
        <p:nvSpPr>
          <p:cNvPr id="423" name="Google Shape;423;p35"/>
          <p:cNvSpPr txBox="1"/>
          <p:nvPr/>
        </p:nvSpPr>
        <p:spPr>
          <a:xfrm>
            <a:off x="1645700" y="4399650"/>
            <a:ext cx="279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Found at index = 4</a:t>
            </a:r>
            <a:endParaRPr sz="16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Mã nguồn minh hoạ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429" name="Google Shape;429;p36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1" name="Google Shape;431;p36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Binary Search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32" name="Google Shape;432;p36"/>
          <p:cNvSpPr txBox="1"/>
          <p:nvPr/>
        </p:nvSpPr>
        <p:spPr>
          <a:xfrm>
            <a:off x="719550" y="1431000"/>
            <a:ext cx="628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6"/>
          <p:cNvSpPr txBox="1"/>
          <p:nvPr/>
        </p:nvSpPr>
        <p:spPr>
          <a:xfrm>
            <a:off x="554150" y="1207725"/>
            <a:ext cx="7277100" cy="27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8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6600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Solution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>
                <a:solidFill>
                  <a:srgbClr val="00008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6600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search(self, nums: List[int], target: int)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-&gt; int: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left = </a:t>
            </a:r>
            <a:r>
              <a:rPr lang="en" sz="1200">
                <a:solidFill>
                  <a:srgbClr val="00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right = len(nums) - </a:t>
            </a:r>
            <a:r>
              <a:rPr lang="en" sz="1200">
                <a:solidFill>
                  <a:srgbClr val="00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200">
                <a:solidFill>
                  <a:srgbClr val="00008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left &lt;= right: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mid = (left + right) // </a:t>
            </a:r>
            <a:r>
              <a:rPr lang="en" sz="1200">
                <a:solidFill>
                  <a:srgbClr val="00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" sz="1200">
                <a:solidFill>
                  <a:srgbClr val="00008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nums[mid] == target:  </a:t>
            </a:r>
            <a:r>
              <a:rPr lang="en" sz="1200">
                <a:solidFill>
                  <a:srgbClr val="88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Found target -&gt; Return index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lang="en" sz="1200">
                <a:solidFill>
                  <a:srgbClr val="00008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mid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" sz="1200">
                <a:solidFill>
                  <a:srgbClr val="00008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nums[mid] &gt; target:  </a:t>
            </a:r>
            <a:r>
              <a:rPr lang="en" sz="1200">
                <a:solidFill>
                  <a:srgbClr val="88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Target are in the left side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right = mid - </a:t>
            </a:r>
            <a:r>
              <a:rPr lang="en" sz="1200">
                <a:solidFill>
                  <a:srgbClr val="00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" sz="1200">
                <a:solidFill>
                  <a:srgbClr val="00008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left = mid + </a:t>
            </a:r>
            <a:r>
              <a:rPr lang="en" sz="1200">
                <a:solidFill>
                  <a:srgbClr val="00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200">
                <a:solidFill>
                  <a:srgbClr val="88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Target are in the right side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6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200">
                <a:solidFill>
                  <a:srgbClr val="00008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00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-1</a:t>
            </a:r>
            <a:endParaRPr sz="1200">
              <a:solidFill>
                <a:srgbClr val="00666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8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4" name="Google Shape;434;p36"/>
          <p:cNvSpPr txBox="1"/>
          <p:nvPr/>
        </p:nvSpPr>
        <p:spPr>
          <a:xfrm>
            <a:off x="311700" y="4121900"/>
            <a:ext cx="610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Link submit: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https://leetcode.com/problems/binary-search/</a:t>
            </a:r>
            <a:r>
              <a:rPr lang="en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2.  Search a target in a sorted array - lower_bound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440" name="Google Shape;440;p37"/>
          <p:cNvSpPr txBox="1"/>
          <p:nvPr>
            <p:ph idx="1" type="body"/>
          </p:nvPr>
        </p:nvSpPr>
        <p:spPr>
          <a:xfrm>
            <a:off x="311700" y="1604850"/>
            <a:ext cx="4260300" cy="14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400">
                <a:solidFill>
                  <a:srgbClr val="0B3E64"/>
                </a:solidFill>
              </a:rPr>
              <a:t>lower_bound </a:t>
            </a:r>
            <a:r>
              <a:rPr b="1" lang="en" sz="1400">
                <a:solidFill>
                  <a:srgbClr val="0B3E64"/>
                </a:solidFill>
              </a:rPr>
              <a:t>(</a:t>
            </a:r>
            <a:r>
              <a:rPr lang="en" sz="1400">
                <a:solidFill>
                  <a:schemeClr val="dk1"/>
                </a:solidFill>
              </a:rPr>
              <a:t>Iterator </a:t>
            </a:r>
            <a:r>
              <a:rPr i="1" lang="en" sz="1400">
                <a:solidFill>
                  <a:schemeClr val="dk1"/>
                </a:solidFill>
              </a:rPr>
              <a:t>first</a:t>
            </a:r>
            <a:r>
              <a:rPr lang="en" sz="1400">
                <a:solidFill>
                  <a:schemeClr val="dk1"/>
                </a:solidFill>
              </a:rPr>
              <a:t>, Iterator </a:t>
            </a:r>
            <a:r>
              <a:rPr i="1" lang="en" sz="1400">
                <a:solidFill>
                  <a:schemeClr val="dk1"/>
                </a:solidFill>
              </a:rPr>
              <a:t>last</a:t>
            </a:r>
            <a:r>
              <a:rPr lang="en" sz="1400">
                <a:solidFill>
                  <a:schemeClr val="dk1"/>
                </a:solidFill>
              </a:rPr>
              <a:t>, int </a:t>
            </a:r>
            <a:r>
              <a:rPr i="1" lang="en" sz="1400">
                <a:solidFill>
                  <a:schemeClr val="dk1"/>
                </a:solidFill>
              </a:rPr>
              <a:t>target</a:t>
            </a:r>
            <a:r>
              <a:rPr b="1" lang="en" sz="1400">
                <a:solidFill>
                  <a:srgbClr val="0B3E64"/>
                </a:solidFill>
              </a:rPr>
              <a:t>)</a:t>
            </a:r>
            <a:endParaRPr sz="1400"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" sz="1400">
                <a:solidFill>
                  <a:srgbClr val="0B3E64"/>
                </a:solidFill>
              </a:rPr>
              <a:t>Trả về iterator của </a:t>
            </a:r>
            <a:r>
              <a:rPr b="1" lang="en" sz="1400">
                <a:solidFill>
                  <a:srgbClr val="0B3E64"/>
                </a:solidFill>
              </a:rPr>
              <a:t>phần tử đầu tiên lớn hơn hoặc bằng</a:t>
            </a:r>
            <a:r>
              <a:rPr lang="en" sz="1400">
                <a:solidFill>
                  <a:srgbClr val="0B3E64"/>
                </a:solidFill>
              </a:rPr>
              <a:t> </a:t>
            </a:r>
            <a:r>
              <a:rPr b="1" i="1" lang="en" sz="1400">
                <a:solidFill>
                  <a:srgbClr val="0B3E64"/>
                </a:solidFill>
              </a:rPr>
              <a:t>target</a:t>
            </a:r>
            <a:r>
              <a:rPr lang="en" sz="1400">
                <a:solidFill>
                  <a:srgbClr val="0B3E64"/>
                </a:solidFill>
              </a:rPr>
              <a:t> trong đoạn </a:t>
            </a:r>
            <a:r>
              <a:rPr b="1" lang="en" sz="1400">
                <a:solidFill>
                  <a:srgbClr val="0B3E64"/>
                </a:solidFill>
              </a:rPr>
              <a:t>[</a:t>
            </a:r>
            <a:r>
              <a:rPr b="1" i="1" lang="en" sz="1400">
                <a:solidFill>
                  <a:srgbClr val="0B3E64"/>
                </a:solidFill>
              </a:rPr>
              <a:t>first, last</a:t>
            </a:r>
            <a:r>
              <a:rPr b="1" lang="en" sz="1400">
                <a:solidFill>
                  <a:srgbClr val="0B3E64"/>
                </a:solidFill>
              </a:rPr>
              <a:t>)</a:t>
            </a:r>
            <a:r>
              <a:rPr lang="en" sz="1400">
                <a:solidFill>
                  <a:srgbClr val="0B3E64"/>
                </a:solidFill>
              </a:rPr>
              <a:t>.</a:t>
            </a:r>
            <a:endParaRPr sz="1400"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SzPts val="935"/>
              <a:buNone/>
            </a:pPr>
            <a:r>
              <a:rPr lang="en" sz="1400">
                <a:solidFill>
                  <a:srgbClr val="0B3E64"/>
                </a:solidFill>
              </a:rPr>
              <a:t>Đó cũng chính là vị trí chèn trái.</a:t>
            </a:r>
            <a:endParaRPr sz="1400">
              <a:solidFill>
                <a:srgbClr val="0B3E64"/>
              </a:solidFill>
            </a:endParaRPr>
          </a:p>
        </p:txBody>
      </p:sp>
      <p:sp>
        <p:nvSpPr>
          <p:cNvPr id="441" name="Google Shape;441;p37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3" name="Google Shape;443;p37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Binary Search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44" name="Google Shape;444;p37"/>
          <p:cNvSpPr txBox="1"/>
          <p:nvPr>
            <p:ph idx="1" type="body"/>
          </p:nvPr>
        </p:nvSpPr>
        <p:spPr>
          <a:xfrm>
            <a:off x="4764125" y="1604850"/>
            <a:ext cx="4158600" cy="13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3E64"/>
                </a:solidFill>
              </a:rPr>
              <a:t>bisect_left </a:t>
            </a:r>
            <a:r>
              <a:rPr b="1" lang="en" sz="1400">
                <a:solidFill>
                  <a:srgbClr val="0B3E64"/>
                </a:solidFill>
              </a:rPr>
              <a:t>(</a:t>
            </a:r>
            <a:r>
              <a:rPr i="1" lang="en" sz="1400">
                <a:solidFill>
                  <a:schemeClr val="dk1"/>
                </a:solidFill>
              </a:rPr>
              <a:t>sortedArr, target, lo=0, hi=len(</a:t>
            </a:r>
            <a:r>
              <a:rPr i="1" lang="en" sz="1400">
                <a:solidFill>
                  <a:schemeClr val="dk1"/>
                </a:solidFill>
              </a:rPr>
              <a:t>sortedArr</a:t>
            </a:r>
            <a:r>
              <a:rPr i="1" lang="en" sz="1400">
                <a:solidFill>
                  <a:schemeClr val="dk1"/>
                </a:solidFill>
              </a:rPr>
              <a:t>)</a:t>
            </a:r>
            <a:r>
              <a:rPr b="1" lang="en" sz="1400">
                <a:solidFill>
                  <a:srgbClr val="0B3E64"/>
                </a:solidFill>
              </a:rPr>
              <a:t> )</a:t>
            </a:r>
            <a:r>
              <a:rPr lang="en" sz="1400">
                <a:solidFill>
                  <a:srgbClr val="0B3E64"/>
                </a:solidFill>
              </a:rPr>
              <a:t> </a:t>
            </a:r>
            <a:endParaRPr sz="1400">
              <a:solidFill>
                <a:srgbClr val="0B3E64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B3E64"/>
                </a:solidFill>
              </a:rPr>
              <a:t>Trả về </a:t>
            </a:r>
            <a:r>
              <a:rPr lang="en" sz="1400">
                <a:solidFill>
                  <a:srgbClr val="0B3E64"/>
                </a:solidFill>
              </a:rPr>
              <a:t>chỉ số vị trí</a:t>
            </a:r>
            <a:r>
              <a:rPr lang="en" sz="1400">
                <a:solidFill>
                  <a:srgbClr val="0B3E64"/>
                </a:solidFill>
              </a:rPr>
              <a:t> của </a:t>
            </a:r>
            <a:r>
              <a:rPr b="1" lang="en" sz="1400">
                <a:solidFill>
                  <a:srgbClr val="0B3E64"/>
                </a:solidFill>
              </a:rPr>
              <a:t>phần tử đầu tiên lớn hơn hoặc bằng</a:t>
            </a:r>
            <a:r>
              <a:rPr lang="en" sz="1400">
                <a:solidFill>
                  <a:srgbClr val="0B3E64"/>
                </a:solidFill>
              </a:rPr>
              <a:t> </a:t>
            </a:r>
            <a:r>
              <a:rPr b="1" i="1" lang="en" sz="1400">
                <a:solidFill>
                  <a:srgbClr val="0B3E64"/>
                </a:solidFill>
              </a:rPr>
              <a:t>target</a:t>
            </a:r>
            <a:r>
              <a:rPr lang="en" sz="1400">
                <a:solidFill>
                  <a:srgbClr val="0B3E64"/>
                </a:solidFill>
              </a:rPr>
              <a:t> trong đoạn </a:t>
            </a:r>
            <a:r>
              <a:rPr b="1" lang="en" sz="1400">
                <a:solidFill>
                  <a:srgbClr val="0B3E64"/>
                </a:solidFill>
              </a:rPr>
              <a:t>[</a:t>
            </a:r>
            <a:r>
              <a:rPr b="1" i="1" lang="en" sz="1400">
                <a:solidFill>
                  <a:srgbClr val="0B3E64"/>
                </a:solidFill>
              </a:rPr>
              <a:t>lo, hi</a:t>
            </a:r>
            <a:r>
              <a:rPr b="1" lang="en" sz="1400">
                <a:solidFill>
                  <a:srgbClr val="0B3E64"/>
                </a:solidFill>
              </a:rPr>
              <a:t>)</a:t>
            </a:r>
            <a:r>
              <a:rPr lang="en" sz="1400">
                <a:solidFill>
                  <a:srgbClr val="0B3E64"/>
                </a:solidFill>
              </a:rPr>
              <a:t>.</a:t>
            </a:r>
            <a:endParaRPr sz="1400">
              <a:solidFill>
                <a:srgbClr val="0B3E64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400">
                <a:solidFill>
                  <a:srgbClr val="0B3E64"/>
                </a:solidFill>
              </a:rPr>
              <a:t>Đó cũng chính là vị trí chèn trái.</a:t>
            </a:r>
            <a:endParaRPr sz="1400">
              <a:solidFill>
                <a:srgbClr val="0B3E64"/>
              </a:solidFill>
            </a:endParaRPr>
          </a:p>
        </p:txBody>
      </p:sp>
      <p:pic>
        <p:nvPicPr>
          <p:cNvPr id="445" name="Google Shape;44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6275" y="1017725"/>
            <a:ext cx="763007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1175" y="1053425"/>
            <a:ext cx="501300" cy="5013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37"/>
          <p:cNvSpPr txBox="1"/>
          <p:nvPr/>
        </p:nvSpPr>
        <p:spPr>
          <a:xfrm>
            <a:off x="669925" y="3754675"/>
            <a:ext cx="5044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bisect_left(arr, 4) = 2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bisect_left(arr, 3) = 2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bisect_left(arr, 0) = 0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bisect_left(arr, 8) = 5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448" name="Google Shape;448;p37"/>
          <p:cNvGrpSpPr/>
          <p:nvPr/>
        </p:nvGrpSpPr>
        <p:grpSpPr>
          <a:xfrm>
            <a:off x="3588000" y="3062011"/>
            <a:ext cx="1968000" cy="692664"/>
            <a:chOff x="3588000" y="2479811"/>
            <a:chExt cx="1968000" cy="692664"/>
          </a:xfrm>
        </p:grpSpPr>
        <p:grpSp>
          <p:nvGrpSpPr>
            <p:cNvPr id="449" name="Google Shape;449;p37"/>
            <p:cNvGrpSpPr/>
            <p:nvPr/>
          </p:nvGrpSpPr>
          <p:grpSpPr>
            <a:xfrm>
              <a:off x="3588000" y="2778875"/>
              <a:ext cx="1968000" cy="393600"/>
              <a:chOff x="1620000" y="1596375"/>
              <a:chExt cx="1968000" cy="393600"/>
            </a:xfrm>
          </p:grpSpPr>
          <p:sp>
            <p:nvSpPr>
              <p:cNvPr id="450" name="Google Shape;450;p37"/>
              <p:cNvSpPr/>
              <p:nvPr/>
            </p:nvSpPr>
            <p:spPr>
              <a:xfrm>
                <a:off x="1620000" y="1596375"/>
                <a:ext cx="393600" cy="393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451" name="Google Shape;451;p37"/>
              <p:cNvSpPr/>
              <p:nvPr/>
            </p:nvSpPr>
            <p:spPr>
              <a:xfrm>
                <a:off x="2013600" y="1596375"/>
                <a:ext cx="393600" cy="393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452" name="Google Shape;452;p37"/>
              <p:cNvSpPr/>
              <p:nvPr/>
            </p:nvSpPr>
            <p:spPr>
              <a:xfrm>
                <a:off x="2407200" y="1596375"/>
                <a:ext cx="393600" cy="393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4</a:t>
                </a:r>
                <a:endParaRPr/>
              </a:p>
            </p:txBody>
          </p:sp>
          <p:sp>
            <p:nvSpPr>
              <p:cNvPr id="453" name="Google Shape;453;p37"/>
              <p:cNvSpPr/>
              <p:nvPr/>
            </p:nvSpPr>
            <p:spPr>
              <a:xfrm>
                <a:off x="2800800" y="1596375"/>
                <a:ext cx="393600" cy="393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4</a:t>
                </a:r>
                <a:endParaRPr/>
              </a:p>
            </p:txBody>
          </p:sp>
          <p:sp>
            <p:nvSpPr>
              <p:cNvPr id="454" name="Google Shape;454;p37"/>
              <p:cNvSpPr/>
              <p:nvPr/>
            </p:nvSpPr>
            <p:spPr>
              <a:xfrm>
                <a:off x="3194400" y="1596375"/>
                <a:ext cx="393600" cy="393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7</a:t>
                </a:r>
                <a:endParaRPr/>
              </a:p>
            </p:txBody>
          </p:sp>
        </p:grpSp>
        <p:sp>
          <p:nvSpPr>
            <p:cNvPr id="455" name="Google Shape;455;p37"/>
            <p:cNvSpPr txBox="1"/>
            <p:nvPr/>
          </p:nvSpPr>
          <p:spPr>
            <a:xfrm>
              <a:off x="3603581" y="2479811"/>
              <a:ext cx="1920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  0        1        2        3        4     </a:t>
              </a:r>
              <a:endParaRPr sz="1100"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Implement lower_bound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461" name="Google Shape;461;p38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3" name="Google Shape;463;p38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Binary Search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64" name="Google Shape;464;p38"/>
          <p:cNvSpPr txBox="1"/>
          <p:nvPr/>
        </p:nvSpPr>
        <p:spPr>
          <a:xfrm>
            <a:off x="719550" y="1431000"/>
            <a:ext cx="628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8"/>
          <p:cNvSpPr txBox="1"/>
          <p:nvPr/>
        </p:nvSpPr>
        <p:spPr>
          <a:xfrm>
            <a:off x="554150" y="1207725"/>
            <a:ext cx="8186700" cy="28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8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6600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lowerBound(nums, target)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left = </a:t>
            </a:r>
            <a:r>
              <a:rPr lang="en" sz="1300">
                <a:solidFill>
                  <a:srgbClr val="00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right = len(nums) - </a:t>
            </a:r>
            <a:r>
              <a:rPr lang="en" sz="1300">
                <a:solidFill>
                  <a:srgbClr val="00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ans = len(nums)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300">
                <a:solidFill>
                  <a:srgbClr val="00008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left &lt;= right: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mid = (left + right) // </a:t>
            </a:r>
            <a:r>
              <a:rPr lang="en" sz="1300">
                <a:solidFill>
                  <a:srgbClr val="00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300">
                <a:solidFill>
                  <a:srgbClr val="00008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nums[mid] &gt;= target: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ans = mid  </a:t>
            </a:r>
            <a:r>
              <a:rPr lang="en" sz="1300">
                <a:solidFill>
                  <a:srgbClr val="88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update the best result so far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right = mid - </a:t>
            </a:r>
            <a:r>
              <a:rPr lang="en" sz="1300">
                <a:solidFill>
                  <a:srgbClr val="00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300">
                <a:solidFill>
                  <a:srgbClr val="88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search better result on the left side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300">
                <a:solidFill>
                  <a:srgbClr val="00008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left = mid + </a:t>
            </a:r>
            <a:r>
              <a:rPr lang="en" sz="1300">
                <a:solidFill>
                  <a:srgbClr val="00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300">
                <a:solidFill>
                  <a:srgbClr val="88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search result on the right side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6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300">
                <a:solidFill>
                  <a:srgbClr val="00008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ans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3.  </a:t>
            </a: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Search a target in a sorted array - upper_bound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471" name="Google Shape;471;p39"/>
          <p:cNvSpPr txBox="1"/>
          <p:nvPr>
            <p:ph idx="1" type="body"/>
          </p:nvPr>
        </p:nvSpPr>
        <p:spPr>
          <a:xfrm>
            <a:off x="311700" y="1604850"/>
            <a:ext cx="4260300" cy="14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400">
                <a:solidFill>
                  <a:srgbClr val="0B3E64"/>
                </a:solidFill>
              </a:rPr>
              <a:t>upper</a:t>
            </a:r>
            <a:r>
              <a:rPr b="1" lang="en" sz="1400">
                <a:solidFill>
                  <a:srgbClr val="0B3E64"/>
                </a:solidFill>
              </a:rPr>
              <a:t>_bound (</a:t>
            </a:r>
            <a:r>
              <a:rPr lang="en" sz="1400">
                <a:solidFill>
                  <a:schemeClr val="dk1"/>
                </a:solidFill>
              </a:rPr>
              <a:t>Iterator </a:t>
            </a:r>
            <a:r>
              <a:rPr i="1" lang="en" sz="1400">
                <a:solidFill>
                  <a:schemeClr val="dk1"/>
                </a:solidFill>
              </a:rPr>
              <a:t>first</a:t>
            </a:r>
            <a:r>
              <a:rPr lang="en" sz="1400">
                <a:solidFill>
                  <a:schemeClr val="dk1"/>
                </a:solidFill>
              </a:rPr>
              <a:t>, Iterator </a:t>
            </a:r>
            <a:r>
              <a:rPr i="1" lang="en" sz="1400">
                <a:solidFill>
                  <a:schemeClr val="dk1"/>
                </a:solidFill>
              </a:rPr>
              <a:t>last</a:t>
            </a:r>
            <a:r>
              <a:rPr lang="en" sz="1400">
                <a:solidFill>
                  <a:schemeClr val="dk1"/>
                </a:solidFill>
              </a:rPr>
              <a:t>, int </a:t>
            </a:r>
            <a:r>
              <a:rPr i="1" lang="en" sz="1400">
                <a:solidFill>
                  <a:schemeClr val="dk1"/>
                </a:solidFill>
              </a:rPr>
              <a:t>target</a:t>
            </a:r>
            <a:r>
              <a:rPr b="1" lang="en" sz="1400">
                <a:solidFill>
                  <a:srgbClr val="0B3E64"/>
                </a:solidFill>
              </a:rPr>
              <a:t>)</a:t>
            </a:r>
            <a:endParaRPr sz="1400"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" sz="1400">
                <a:solidFill>
                  <a:srgbClr val="0B3E64"/>
                </a:solidFill>
              </a:rPr>
              <a:t>Trả về iterator của </a:t>
            </a:r>
            <a:r>
              <a:rPr b="1" lang="en" sz="1400">
                <a:solidFill>
                  <a:srgbClr val="0B3E64"/>
                </a:solidFill>
              </a:rPr>
              <a:t>phần tử đầu tiên lớn hơn</a:t>
            </a:r>
            <a:r>
              <a:rPr lang="en" sz="1400">
                <a:solidFill>
                  <a:srgbClr val="0B3E64"/>
                </a:solidFill>
              </a:rPr>
              <a:t> </a:t>
            </a:r>
            <a:r>
              <a:rPr b="1" i="1" lang="en" sz="1400">
                <a:solidFill>
                  <a:srgbClr val="0B3E64"/>
                </a:solidFill>
              </a:rPr>
              <a:t>target</a:t>
            </a:r>
            <a:r>
              <a:rPr lang="en" sz="1400">
                <a:solidFill>
                  <a:srgbClr val="0B3E64"/>
                </a:solidFill>
              </a:rPr>
              <a:t> trong đoạn </a:t>
            </a:r>
            <a:r>
              <a:rPr b="1" lang="en" sz="1400">
                <a:solidFill>
                  <a:srgbClr val="0B3E64"/>
                </a:solidFill>
              </a:rPr>
              <a:t>[</a:t>
            </a:r>
            <a:r>
              <a:rPr b="1" i="1" lang="en" sz="1400">
                <a:solidFill>
                  <a:srgbClr val="0B3E64"/>
                </a:solidFill>
              </a:rPr>
              <a:t>first</a:t>
            </a:r>
            <a:r>
              <a:rPr b="1" lang="en" sz="1400">
                <a:solidFill>
                  <a:srgbClr val="0B3E64"/>
                </a:solidFill>
              </a:rPr>
              <a:t>, </a:t>
            </a:r>
            <a:r>
              <a:rPr b="1" i="1" lang="en" sz="1400">
                <a:solidFill>
                  <a:srgbClr val="0B3E64"/>
                </a:solidFill>
              </a:rPr>
              <a:t>last</a:t>
            </a:r>
            <a:r>
              <a:rPr b="1" lang="en" sz="1400">
                <a:solidFill>
                  <a:srgbClr val="0B3E64"/>
                </a:solidFill>
              </a:rPr>
              <a:t>)</a:t>
            </a:r>
            <a:r>
              <a:rPr lang="en" sz="1400">
                <a:solidFill>
                  <a:srgbClr val="0B3E64"/>
                </a:solidFill>
              </a:rPr>
              <a:t>.</a:t>
            </a:r>
            <a:endParaRPr sz="1400"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SzPts val="935"/>
              <a:buNone/>
            </a:pPr>
            <a:r>
              <a:rPr lang="en" sz="1400">
                <a:solidFill>
                  <a:srgbClr val="0B3E64"/>
                </a:solidFill>
              </a:rPr>
              <a:t>Đó cũng chính là vị trí chèn phải.</a:t>
            </a:r>
            <a:endParaRPr sz="1400">
              <a:solidFill>
                <a:srgbClr val="0B3E64"/>
              </a:solidFill>
            </a:endParaRPr>
          </a:p>
        </p:txBody>
      </p:sp>
      <p:sp>
        <p:nvSpPr>
          <p:cNvPr id="472" name="Google Shape;472;p39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4" name="Google Shape;474;p39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Binary Search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75" name="Google Shape;475;p39"/>
          <p:cNvSpPr txBox="1"/>
          <p:nvPr>
            <p:ph idx="1" type="body"/>
          </p:nvPr>
        </p:nvSpPr>
        <p:spPr>
          <a:xfrm>
            <a:off x="4764125" y="1604850"/>
            <a:ext cx="3935400" cy="13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B3E64"/>
                </a:solidFill>
              </a:rPr>
              <a:t>bisect</a:t>
            </a:r>
            <a:r>
              <a:rPr b="1" lang="en" sz="1400">
                <a:solidFill>
                  <a:srgbClr val="0B3E64"/>
                </a:solidFill>
              </a:rPr>
              <a:t>_right (</a:t>
            </a:r>
            <a:r>
              <a:rPr i="1" lang="en" sz="1400">
                <a:solidFill>
                  <a:schemeClr val="dk1"/>
                </a:solidFill>
              </a:rPr>
              <a:t>arr, target, lo=0, hi=len(arr)</a:t>
            </a:r>
            <a:r>
              <a:rPr b="1" lang="en" sz="1400">
                <a:solidFill>
                  <a:srgbClr val="0B3E64"/>
                </a:solidFill>
              </a:rPr>
              <a:t> )</a:t>
            </a:r>
            <a:r>
              <a:rPr lang="en" sz="1400">
                <a:solidFill>
                  <a:srgbClr val="0B3E64"/>
                </a:solidFill>
              </a:rPr>
              <a:t> </a:t>
            </a:r>
            <a:endParaRPr sz="1400">
              <a:solidFill>
                <a:srgbClr val="0B3E64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B3E64"/>
                </a:solidFill>
              </a:rPr>
              <a:t>Trả về chỉ số vị trí của </a:t>
            </a:r>
            <a:r>
              <a:rPr b="1" lang="en" sz="1400">
                <a:solidFill>
                  <a:srgbClr val="0B3E64"/>
                </a:solidFill>
              </a:rPr>
              <a:t>phần tử đầu tiên lớn hơn</a:t>
            </a:r>
            <a:r>
              <a:rPr lang="en" sz="1400">
                <a:solidFill>
                  <a:srgbClr val="0B3E64"/>
                </a:solidFill>
              </a:rPr>
              <a:t> </a:t>
            </a:r>
            <a:r>
              <a:rPr b="1" i="1" lang="en" sz="1400">
                <a:solidFill>
                  <a:srgbClr val="0B3E64"/>
                </a:solidFill>
              </a:rPr>
              <a:t>target</a:t>
            </a:r>
            <a:r>
              <a:rPr lang="en" sz="1400">
                <a:solidFill>
                  <a:srgbClr val="0B3E64"/>
                </a:solidFill>
              </a:rPr>
              <a:t> trong đoạn </a:t>
            </a:r>
            <a:r>
              <a:rPr b="1" lang="en" sz="1400">
                <a:solidFill>
                  <a:srgbClr val="0B3E64"/>
                </a:solidFill>
              </a:rPr>
              <a:t>[</a:t>
            </a:r>
            <a:r>
              <a:rPr b="1" i="1" lang="en" sz="1400">
                <a:solidFill>
                  <a:srgbClr val="0B3E64"/>
                </a:solidFill>
              </a:rPr>
              <a:t>lo, hi</a:t>
            </a:r>
            <a:r>
              <a:rPr b="1" lang="en" sz="1400">
                <a:solidFill>
                  <a:srgbClr val="0B3E64"/>
                </a:solidFill>
              </a:rPr>
              <a:t>)</a:t>
            </a:r>
            <a:r>
              <a:rPr lang="en" sz="1400">
                <a:solidFill>
                  <a:srgbClr val="0B3E64"/>
                </a:solidFill>
              </a:rPr>
              <a:t>.</a:t>
            </a:r>
            <a:endParaRPr sz="1400">
              <a:solidFill>
                <a:srgbClr val="0B3E64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400">
                <a:solidFill>
                  <a:srgbClr val="0B3E64"/>
                </a:solidFill>
              </a:rPr>
              <a:t>Đó cũng chính là vị trí chèn phải.</a:t>
            </a:r>
            <a:endParaRPr sz="1400">
              <a:solidFill>
                <a:srgbClr val="0B3E64"/>
              </a:solidFill>
            </a:endParaRPr>
          </a:p>
        </p:txBody>
      </p:sp>
      <p:pic>
        <p:nvPicPr>
          <p:cNvPr id="476" name="Google Shape;47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6275" y="1017725"/>
            <a:ext cx="763007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1175" y="1053425"/>
            <a:ext cx="501300" cy="5013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9"/>
          <p:cNvSpPr txBox="1"/>
          <p:nvPr/>
        </p:nvSpPr>
        <p:spPr>
          <a:xfrm>
            <a:off x="669925" y="3754675"/>
            <a:ext cx="5044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bisect_</a:t>
            </a:r>
            <a:r>
              <a:rPr lang="en">
                <a:solidFill>
                  <a:schemeClr val="dk1"/>
                </a:solidFill>
              </a:rPr>
              <a:t>right</a:t>
            </a:r>
            <a:r>
              <a:rPr lang="en">
                <a:solidFill>
                  <a:schemeClr val="dk1"/>
                </a:solidFill>
              </a:rPr>
              <a:t>(arr, 4) = 4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bisect_right(arr, 3) = 2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bisect_right(arr, 0) = 0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bisect_right(arr, 8) = 5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479" name="Google Shape;479;p39"/>
          <p:cNvGrpSpPr/>
          <p:nvPr/>
        </p:nvGrpSpPr>
        <p:grpSpPr>
          <a:xfrm>
            <a:off x="3588000" y="3062011"/>
            <a:ext cx="1968000" cy="692664"/>
            <a:chOff x="3588000" y="2479811"/>
            <a:chExt cx="1968000" cy="692664"/>
          </a:xfrm>
        </p:grpSpPr>
        <p:grpSp>
          <p:nvGrpSpPr>
            <p:cNvPr id="480" name="Google Shape;480;p39"/>
            <p:cNvGrpSpPr/>
            <p:nvPr/>
          </p:nvGrpSpPr>
          <p:grpSpPr>
            <a:xfrm>
              <a:off x="3588000" y="2778875"/>
              <a:ext cx="1968000" cy="393600"/>
              <a:chOff x="1620000" y="1596375"/>
              <a:chExt cx="1968000" cy="393600"/>
            </a:xfrm>
          </p:grpSpPr>
          <p:sp>
            <p:nvSpPr>
              <p:cNvPr id="481" name="Google Shape;481;p39"/>
              <p:cNvSpPr/>
              <p:nvPr/>
            </p:nvSpPr>
            <p:spPr>
              <a:xfrm>
                <a:off x="1620000" y="1596375"/>
                <a:ext cx="393600" cy="393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</a:t>
                </a:r>
                <a:endParaRPr/>
              </a:p>
            </p:txBody>
          </p:sp>
          <p:sp>
            <p:nvSpPr>
              <p:cNvPr id="482" name="Google Shape;482;p39"/>
              <p:cNvSpPr/>
              <p:nvPr/>
            </p:nvSpPr>
            <p:spPr>
              <a:xfrm>
                <a:off x="2013600" y="1596375"/>
                <a:ext cx="393600" cy="393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2</a:t>
                </a:r>
                <a:endParaRPr/>
              </a:p>
            </p:txBody>
          </p:sp>
          <p:sp>
            <p:nvSpPr>
              <p:cNvPr id="483" name="Google Shape;483;p39"/>
              <p:cNvSpPr/>
              <p:nvPr/>
            </p:nvSpPr>
            <p:spPr>
              <a:xfrm>
                <a:off x="2407200" y="1596375"/>
                <a:ext cx="393600" cy="393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4</a:t>
                </a:r>
                <a:endParaRPr/>
              </a:p>
            </p:txBody>
          </p:sp>
          <p:sp>
            <p:nvSpPr>
              <p:cNvPr id="484" name="Google Shape;484;p39"/>
              <p:cNvSpPr/>
              <p:nvPr/>
            </p:nvSpPr>
            <p:spPr>
              <a:xfrm>
                <a:off x="2800800" y="1596375"/>
                <a:ext cx="393600" cy="393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4</a:t>
                </a:r>
                <a:endParaRPr/>
              </a:p>
            </p:txBody>
          </p:sp>
          <p:sp>
            <p:nvSpPr>
              <p:cNvPr id="485" name="Google Shape;485;p39"/>
              <p:cNvSpPr/>
              <p:nvPr/>
            </p:nvSpPr>
            <p:spPr>
              <a:xfrm>
                <a:off x="3194400" y="1596375"/>
                <a:ext cx="393600" cy="393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7</a:t>
                </a:r>
                <a:endParaRPr/>
              </a:p>
            </p:txBody>
          </p:sp>
        </p:grpSp>
        <p:sp>
          <p:nvSpPr>
            <p:cNvPr id="486" name="Google Shape;486;p39"/>
            <p:cNvSpPr txBox="1"/>
            <p:nvPr/>
          </p:nvSpPr>
          <p:spPr>
            <a:xfrm>
              <a:off x="3603581" y="2479811"/>
              <a:ext cx="1920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  0        1        2        3        4     </a:t>
              </a:r>
              <a:endParaRPr sz="1100"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Implement</a:t>
            </a: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 upper_bound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492" name="Google Shape;492;p40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4" name="Google Shape;494;p40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Binary Search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95" name="Google Shape;495;p40"/>
          <p:cNvSpPr txBox="1"/>
          <p:nvPr/>
        </p:nvSpPr>
        <p:spPr>
          <a:xfrm>
            <a:off x="719550" y="1431000"/>
            <a:ext cx="628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40"/>
          <p:cNvSpPr txBox="1"/>
          <p:nvPr/>
        </p:nvSpPr>
        <p:spPr>
          <a:xfrm>
            <a:off x="554150" y="1207725"/>
            <a:ext cx="8186700" cy="28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8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6600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upperBound(nums, target)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left = </a:t>
            </a:r>
            <a:r>
              <a:rPr lang="en" sz="1300">
                <a:solidFill>
                  <a:srgbClr val="00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right = len(nums) - </a:t>
            </a:r>
            <a:r>
              <a:rPr lang="en" sz="1300">
                <a:solidFill>
                  <a:srgbClr val="00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ans = len(nums)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300">
                <a:solidFill>
                  <a:srgbClr val="00008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left &lt;= right: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mid = (left + right) // </a:t>
            </a:r>
            <a:r>
              <a:rPr lang="en" sz="1300">
                <a:solidFill>
                  <a:srgbClr val="00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300">
                <a:solidFill>
                  <a:srgbClr val="00008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nums[mid] &gt; target:  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ans = mid  </a:t>
            </a:r>
            <a:r>
              <a:rPr lang="en" sz="1300">
                <a:solidFill>
                  <a:srgbClr val="88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update the best result so far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right = mid - </a:t>
            </a:r>
            <a:r>
              <a:rPr lang="en" sz="1300">
                <a:solidFill>
                  <a:srgbClr val="00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300">
                <a:solidFill>
                  <a:srgbClr val="88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search better result on the left side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300">
                <a:solidFill>
                  <a:srgbClr val="00008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left = mid + </a:t>
            </a:r>
            <a:r>
              <a:rPr lang="en" sz="1300">
                <a:solidFill>
                  <a:srgbClr val="00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300">
                <a:solidFill>
                  <a:srgbClr val="88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search result on the right side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6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300">
                <a:solidFill>
                  <a:srgbClr val="00008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ans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Bài toán minh hoạ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502" name="Google Shape;502;p41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4" name="Google Shape;504;p41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Binary Search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505" name="Google Shape;505;p41"/>
          <p:cNvSpPr txBox="1"/>
          <p:nvPr/>
        </p:nvSpPr>
        <p:spPr>
          <a:xfrm>
            <a:off x="719550" y="1431000"/>
            <a:ext cx="628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1"/>
          <p:cNvSpPr txBox="1"/>
          <p:nvPr>
            <p:ph idx="1" type="body"/>
          </p:nvPr>
        </p:nvSpPr>
        <p:spPr>
          <a:xfrm>
            <a:off x="402900" y="1189113"/>
            <a:ext cx="83382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Link: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https://leetcode.com/problems/find-first-and-last-position-of-element-in-sorted-array/</a:t>
            </a: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0F8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2"/>
          <p:cNvSpPr txBox="1"/>
          <p:nvPr/>
        </p:nvSpPr>
        <p:spPr>
          <a:xfrm>
            <a:off x="2259600" y="2202300"/>
            <a:ext cx="4624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3.  </a:t>
            </a: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Các dạng Binary Search khác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512" name="Google Shape;51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90F8"/>
              </a:buClr>
              <a:buSzPts val="2400"/>
              <a:buFont typeface="Mulish ExtraBold"/>
              <a:buAutoNum type="arabicPeriod"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Computer the Square Root of X, sqrt(x)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518" name="Google Shape;518;p43"/>
          <p:cNvSpPr txBox="1"/>
          <p:nvPr>
            <p:ph idx="1" type="body"/>
          </p:nvPr>
        </p:nvSpPr>
        <p:spPr>
          <a:xfrm>
            <a:off x="402900" y="1189113"/>
            <a:ext cx="83382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Cho số nguyên không âm x. Tính sqrt(x), trả về số nguyên, làm tròn xuống bỏ đi phần số thực.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Hay t</a:t>
            </a:r>
            <a:r>
              <a:rPr lang="en" sz="1400">
                <a:solidFill>
                  <a:schemeClr val="dk1"/>
                </a:solidFill>
              </a:rPr>
              <a:t>rả về số nguyên lớn nhất sao cho bình phương của nó &lt;= x.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Giới hạn dữ liệu: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0 &lt;= x &lt;= 2^31 - 1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Link: </a:t>
            </a:r>
            <a:r>
              <a:rPr lang="en" sz="14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https://leetcode.com/problems/sqrtx/</a:t>
            </a:r>
            <a:r>
              <a:rPr lang="en" sz="1400"/>
              <a:t>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19" name="Google Shape;519;p43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1" name="Google Shape;521;p43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Binary Search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4"/>
          <p:cNvSpPr txBox="1"/>
          <p:nvPr>
            <p:ph idx="1" type="body"/>
          </p:nvPr>
        </p:nvSpPr>
        <p:spPr>
          <a:xfrm>
            <a:off x="402900" y="521467"/>
            <a:ext cx="8338200" cy="11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Nhận xét: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sqrt(x) tăng -&gt; x tăng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sqrt(x) giảm -&gt; x giảm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27" name="Google Shape;527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8" name="Google Shape;528;p44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Binary Search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529" name="Google Shape;529;p44"/>
          <p:cNvCxnSpPr/>
          <p:nvPr/>
        </p:nvCxnSpPr>
        <p:spPr>
          <a:xfrm>
            <a:off x="2328000" y="2222225"/>
            <a:ext cx="4488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0" name="Google Shape;530;p44"/>
          <p:cNvSpPr txBox="1"/>
          <p:nvPr/>
        </p:nvSpPr>
        <p:spPr>
          <a:xfrm>
            <a:off x="2089850" y="2337275"/>
            <a:ext cx="47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left</a:t>
            </a:r>
            <a:endParaRPr/>
          </a:p>
        </p:txBody>
      </p:sp>
      <p:sp>
        <p:nvSpPr>
          <p:cNvPr id="531" name="Google Shape;531;p44"/>
          <p:cNvSpPr txBox="1"/>
          <p:nvPr/>
        </p:nvSpPr>
        <p:spPr>
          <a:xfrm>
            <a:off x="6460400" y="2337275"/>
            <a:ext cx="67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right</a:t>
            </a:r>
            <a:endParaRPr/>
          </a:p>
        </p:txBody>
      </p:sp>
      <p:cxnSp>
        <p:nvCxnSpPr>
          <p:cNvPr id="532" name="Google Shape;532;p44"/>
          <p:cNvCxnSpPr/>
          <p:nvPr/>
        </p:nvCxnSpPr>
        <p:spPr>
          <a:xfrm>
            <a:off x="4572000" y="2041025"/>
            <a:ext cx="0" cy="36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3" name="Google Shape;533;p44"/>
          <p:cNvSpPr txBox="1"/>
          <p:nvPr/>
        </p:nvSpPr>
        <p:spPr>
          <a:xfrm>
            <a:off x="4336800" y="2337288"/>
            <a:ext cx="47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</a:t>
            </a:r>
            <a:endParaRPr/>
          </a:p>
        </p:txBody>
      </p:sp>
      <p:sp>
        <p:nvSpPr>
          <p:cNvPr id="534" name="Google Shape;534;p44"/>
          <p:cNvSpPr/>
          <p:nvPr/>
        </p:nvSpPr>
        <p:spPr>
          <a:xfrm>
            <a:off x="524450" y="2874200"/>
            <a:ext cx="2405950" cy="646500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mid*mid &lt;= x</a:t>
            </a:r>
            <a:endParaRPr sz="1100"/>
          </a:p>
        </p:txBody>
      </p:sp>
      <p:sp>
        <p:nvSpPr>
          <p:cNvPr id="535" name="Google Shape;535;p44"/>
          <p:cNvSpPr/>
          <p:nvPr/>
        </p:nvSpPr>
        <p:spPr>
          <a:xfrm>
            <a:off x="3701700" y="2793799"/>
            <a:ext cx="2537100" cy="79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Bình phương giá trị từ </a:t>
            </a:r>
            <a:r>
              <a:rPr b="1" lang="en" sz="1100"/>
              <a:t>[left...mid]</a:t>
            </a:r>
            <a:r>
              <a:rPr lang="en" sz="1100"/>
              <a:t> sẽ luôn &lt;= </a:t>
            </a:r>
            <a:r>
              <a:rPr b="1" lang="en" sz="1100"/>
              <a:t>x</a:t>
            </a:r>
            <a:endParaRPr b="1"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Cập nhật ans = mid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Tìm bên phải </a:t>
            </a:r>
            <a:endParaRPr sz="1100"/>
          </a:p>
        </p:txBody>
      </p:sp>
      <p:cxnSp>
        <p:nvCxnSpPr>
          <p:cNvPr id="536" name="Google Shape;536;p44"/>
          <p:cNvCxnSpPr>
            <a:stCxn id="534" idx="3"/>
            <a:endCxn id="535" idx="1"/>
          </p:cNvCxnSpPr>
          <p:nvPr/>
        </p:nvCxnSpPr>
        <p:spPr>
          <a:xfrm flipH="1" rot="10800000">
            <a:off x="2930400" y="3189950"/>
            <a:ext cx="771300" cy="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37" name="Google Shape;537;p44"/>
          <p:cNvSpPr txBox="1"/>
          <p:nvPr/>
        </p:nvSpPr>
        <p:spPr>
          <a:xfrm>
            <a:off x="2976300" y="2874200"/>
            <a:ext cx="67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True</a:t>
            </a:r>
            <a:endParaRPr sz="1000"/>
          </a:p>
        </p:txBody>
      </p:sp>
      <p:sp>
        <p:nvSpPr>
          <p:cNvPr id="538" name="Google Shape;538;p44"/>
          <p:cNvSpPr/>
          <p:nvPr/>
        </p:nvSpPr>
        <p:spPr>
          <a:xfrm>
            <a:off x="458875" y="3881575"/>
            <a:ext cx="2537100" cy="64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Bình phương giá trị từ </a:t>
            </a:r>
            <a:r>
              <a:rPr b="1" lang="en" sz="1100"/>
              <a:t>[mid...right]</a:t>
            </a:r>
            <a:r>
              <a:rPr lang="en" sz="1100"/>
              <a:t> sẽ luôn &gt; </a:t>
            </a:r>
            <a:r>
              <a:rPr b="1" lang="en" sz="1100"/>
              <a:t>x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Tìm bên tr</a:t>
            </a:r>
            <a:r>
              <a:rPr lang="en" sz="1100"/>
              <a:t>ái</a:t>
            </a:r>
            <a:endParaRPr sz="1100"/>
          </a:p>
        </p:txBody>
      </p:sp>
      <p:cxnSp>
        <p:nvCxnSpPr>
          <p:cNvPr id="539" name="Google Shape;539;p44"/>
          <p:cNvCxnSpPr>
            <a:stCxn id="534" idx="2"/>
            <a:endCxn id="538" idx="0"/>
          </p:cNvCxnSpPr>
          <p:nvPr/>
        </p:nvCxnSpPr>
        <p:spPr>
          <a:xfrm>
            <a:off x="1727425" y="3520700"/>
            <a:ext cx="0" cy="36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0" name="Google Shape;540;p44"/>
          <p:cNvSpPr txBox="1"/>
          <p:nvPr/>
        </p:nvSpPr>
        <p:spPr>
          <a:xfrm>
            <a:off x="1727425" y="3542871"/>
            <a:ext cx="67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False</a:t>
            </a:r>
            <a:endParaRPr sz="1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2. </a:t>
            </a: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Computer the real Square Root of X, sqrt(x)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546" name="Google Shape;546;p45"/>
          <p:cNvSpPr txBox="1"/>
          <p:nvPr>
            <p:ph idx="1" type="body"/>
          </p:nvPr>
        </p:nvSpPr>
        <p:spPr>
          <a:xfrm>
            <a:off x="402900" y="1189113"/>
            <a:ext cx="83382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Cho số th</a:t>
            </a:r>
            <a:r>
              <a:rPr lang="en" sz="1400">
                <a:solidFill>
                  <a:schemeClr val="dk1"/>
                </a:solidFill>
              </a:rPr>
              <a:t>ực</a:t>
            </a:r>
            <a:r>
              <a:rPr lang="en" sz="1400">
                <a:solidFill>
                  <a:schemeClr val="dk1"/>
                </a:solidFill>
              </a:rPr>
              <a:t> không âm x. Tính sqrt(x), </a:t>
            </a:r>
            <a:r>
              <a:rPr lang="en" sz="1400">
                <a:solidFill>
                  <a:schemeClr val="dk1"/>
                </a:solidFill>
              </a:rPr>
              <a:t>trả về số thực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Giới hạn dữ liệu: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0 &lt;= x &lt;= 2^31 - 1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47" name="Google Shape;547;p45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9" name="Google Shape;549;p45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Binary Search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3. First Bad Version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555" name="Google Shape;555;p46"/>
          <p:cNvSpPr txBox="1"/>
          <p:nvPr>
            <p:ph idx="1" type="body"/>
          </p:nvPr>
        </p:nvSpPr>
        <p:spPr>
          <a:xfrm>
            <a:off x="402900" y="1189113"/>
            <a:ext cx="83382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You are a product manager and currently leading a team to develop a new product. Unfortunately, the latest version of your product fails the quality check. Since each version is developed based on the previous version, all the versions after a bad version are also bad.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Suppose you have </a:t>
            </a:r>
            <a:r>
              <a:rPr b="1" lang="en" sz="1200">
                <a:solidFill>
                  <a:srgbClr val="262626"/>
                </a:solidFill>
                <a:highlight>
                  <a:srgbClr val="FFFFFF"/>
                </a:highlight>
              </a:rPr>
              <a:t>n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versions </a:t>
            </a:r>
            <a:r>
              <a:rPr b="1" lang="en" sz="1200">
                <a:solidFill>
                  <a:srgbClr val="262626"/>
                </a:solidFill>
                <a:highlight>
                  <a:srgbClr val="FFFFFF"/>
                </a:highlight>
              </a:rPr>
              <a:t>[1, 2, ..., n]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and you want to find out the first bad one, which causes all the following ones to be bad.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You are given an API </a:t>
            </a:r>
            <a:r>
              <a:rPr b="1" lang="en" sz="1200">
                <a:solidFill>
                  <a:srgbClr val="262626"/>
                </a:solidFill>
                <a:highlight>
                  <a:srgbClr val="FFFFFF"/>
                </a:highlight>
              </a:rPr>
              <a:t>bool isBadVersion(version)</a:t>
            </a:r>
            <a:r>
              <a:rPr b="1" lang="en" sz="1200">
                <a:solidFill>
                  <a:srgbClr val="26262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which returns whether 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</a:rPr>
              <a:t>version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is bad. Implement a function to find the first bad version. You should minimize the number of calls to the API.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Giới hạn dữ liệu: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1 &lt;= firstBad &lt;= n &lt;= 2^31 - 1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Link: </a:t>
            </a:r>
            <a:r>
              <a:rPr lang="en" sz="1200" u="sng">
                <a:solidFill>
                  <a:schemeClr val="hlink"/>
                </a:solidFill>
                <a:hlinkClick r:id="rId3"/>
              </a:rPr>
              <a:t>https://leetcode.com/problems/first-bad-version/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56" name="Google Shape;556;p46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8" name="Google Shape;558;p46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Binary Search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7"/>
          <p:cNvSpPr txBox="1"/>
          <p:nvPr>
            <p:ph idx="1" type="body"/>
          </p:nvPr>
        </p:nvSpPr>
        <p:spPr>
          <a:xfrm>
            <a:off x="389650" y="187650"/>
            <a:ext cx="3172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Ví dụ: n = 12;   firstBad=5 (not given)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64" name="Google Shape;564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5" name="Google Shape;565;p47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Binary Search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566" name="Google Shape;566;p47"/>
          <p:cNvGrpSpPr/>
          <p:nvPr/>
        </p:nvGrpSpPr>
        <p:grpSpPr>
          <a:xfrm>
            <a:off x="2210400" y="791988"/>
            <a:ext cx="4723200" cy="393600"/>
            <a:chOff x="629350" y="1461750"/>
            <a:chExt cx="4723200" cy="393600"/>
          </a:xfrm>
        </p:grpSpPr>
        <p:sp>
          <p:nvSpPr>
            <p:cNvPr id="567" name="Google Shape;567;p47"/>
            <p:cNvSpPr/>
            <p:nvPr/>
          </p:nvSpPr>
          <p:spPr>
            <a:xfrm>
              <a:off x="629350" y="14617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</a:t>
              </a:r>
              <a:endParaRPr/>
            </a:p>
          </p:txBody>
        </p:sp>
        <p:sp>
          <p:nvSpPr>
            <p:cNvPr id="568" name="Google Shape;568;p47"/>
            <p:cNvSpPr/>
            <p:nvPr/>
          </p:nvSpPr>
          <p:spPr>
            <a:xfrm>
              <a:off x="1022950" y="14617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2</a:t>
              </a:r>
              <a:endParaRPr/>
            </a:p>
          </p:txBody>
        </p:sp>
        <p:sp>
          <p:nvSpPr>
            <p:cNvPr id="569" name="Google Shape;569;p47"/>
            <p:cNvSpPr/>
            <p:nvPr/>
          </p:nvSpPr>
          <p:spPr>
            <a:xfrm>
              <a:off x="1416550" y="14617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</a:t>
              </a:r>
              <a:endParaRPr/>
            </a:p>
          </p:txBody>
        </p:sp>
        <p:sp>
          <p:nvSpPr>
            <p:cNvPr id="570" name="Google Shape;570;p47"/>
            <p:cNvSpPr/>
            <p:nvPr/>
          </p:nvSpPr>
          <p:spPr>
            <a:xfrm>
              <a:off x="1810150" y="14617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</a:t>
              </a:r>
              <a:endParaRPr/>
            </a:p>
          </p:txBody>
        </p:sp>
        <p:sp>
          <p:nvSpPr>
            <p:cNvPr id="571" name="Google Shape;571;p47"/>
            <p:cNvSpPr/>
            <p:nvPr/>
          </p:nvSpPr>
          <p:spPr>
            <a:xfrm>
              <a:off x="2203750" y="14617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5</a:t>
              </a:r>
              <a:endParaRPr/>
            </a:p>
          </p:txBody>
        </p:sp>
        <p:sp>
          <p:nvSpPr>
            <p:cNvPr id="572" name="Google Shape;572;p47"/>
            <p:cNvSpPr/>
            <p:nvPr/>
          </p:nvSpPr>
          <p:spPr>
            <a:xfrm>
              <a:off x="2597350" y="14617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6</a:t>
              </a:r>
              <a:endParaRPr/>
            </a:p>
          </p:txBody>
        </p:sp>
        <p:sp>
          <p:nvSpPr>
            <p:cNvPr id="573" name="Google Shape;573;p47"/>
            <p:cNvSpPr/>
            <p:nvPr/>
          </p:nvSpPr>
          <p:spPr>
            <a:xfrm>
              <a:off x="2990950" y="14617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7</a:t>
              </a:r>
              <a:endParaRPr/>
            </a:p>
          </p:txBody>
        </p:sp>
        <p:sp>
          <p:nvSpPr>
            <p:cNvPr id="574" name="Google Shape;574;p47"/>
            <p:cNvSpPr/>
            <p:nvPr/>
          </p:nvSpPr>
          <p:spPr>
            <a:xfrm>
              <a:off x="3384550" y="14617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8</a:t>
              </a:r>
              <a:endParaRPr/>
            </a:p>
          </p:txBody>
        </p:sp>
        <p:sp>
          <p:nvSpPr>
            <p:cNvPr id="575" name="Google Shape;575;p47"/>
            <p:cNvSpPr/>
            <p:nvPr/>
          </p:nvSpPr>
          <p:spPr>
            <a:xfrm>
              <a:off x="3778150" y="14617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9</a:t>
              </a:r>
              <a:endParaRPr/>
            </a:p>
          </p:txBody>
        </p:sp>
        <p:sp>
          <p:nvSpPr>
            <p:cNvPr id="576" name="Google Shape;576;p47"/>
            <p:cNvSpPr/>
            <p:nvPr/>
          </p:nvSpPr>
          <p:spPr>
            <a:xfrm>
              <a:off x="4171750" y="14617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10</a:t>
              </a:r>
              <a:endParaRPr/>
            </a:p>
          </p:txBody>
        </p:sp>
        <p:sp>
          <p:nvSpPr>
            <p:cNvPr id="577" name="Google Shape;577;p47"/>
            <p:cNvSpPr/>
            <p:nvPr/>
          </p:nvSpPr>
          <p:spPr>
            <a:xfrm>
              <a:off x="4565350" y="14617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11</a:t>
              </a:r>
              <a:endParaRPr/>
            </a:p>
          </p:txBody>
        </p:sp>
        <p:sp>
          <p:nvSpPr>
            <p:cNvPr id="578" name="Google Shape;578;p47"/>
            <p:cNvSpPr/>
            <p:nvPr/>
          </p:nvSpPr>
          <p:spPr>
            <a:xfrm>
              <a:off x="4958950" y="14617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12</a:t>
              </a:r>
              <a:endParaRPr/>
            </a:p>
          </p:txBody>
        </p:sp>
      </p:grpSp>
      <p:grpSp>
        <p:nvGrpSpPr>
          <p:cNvPr id="579" name="Google Shape;579;p47"/>
          <p:cNvGrpSpPr/>
          <p:nvPr/>
        </p:nvGrpSpPr>
        <p:grpSpPr>
          <a:xfrm>
            <a:off x="2210400" y="1310138"/>
            <a:ext cx="4723200" cy="393600"/>
            <a:chOff x="629350" y="2178150"/>
            <a:chExt cx="4723200" cy="393600"/>
          </a:xfrm>
        </p:grpSpPr>
        <p:sp>
          <p:nvSpPr>
            <p:cNvPr id="580" name="Google Shape;580;p47"/>
            <p:cNvSpPr/>
            <p:nvPr/>
          </p:nvSpPr>
          <p:spPr>
            <a:xfrm>
              <a:off x="629350" y="21781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G</a:t>
              </a:r>
              <a:endParaRPr/>
            </a:p>
          </p:txBody>
        </p:sp>
        <p:sp>
          <p:nvSpPr>
            <p:cNvPr id="581" name="Google Shape;581;p47"/>
            <p:cNvSpPr/>
            <p:nvPr/>
          </p:nvSpPr>
          <p:spPr>
            <a:xfrm>
              <a:off x="1022950" y="21781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G</a:t>
              </a:r>
              <a:endParaRPr/>
            </a:p>
          </p:txBody>
        </p:sp>
        <p:sp>
          <p:nvSpPr>
            <p:cNvPr id="582" name="Google Shape;582;p47"/>
            <p:cNvSpPr/>
            <p:nvPr/>
          </p:nvSpPr>
          <p:spPr>
            <a:xfrm>
              <a:off x="1416550" y="21781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G</a:t>
              </a:r>
              <a:endParaRPr/>
            </a:p>
          </p:txBody>
        </p:sp>
        <p:sp>
          <p:nvSpPr>
            <p:cNvPr id="583" name="Google Shape;583;p47"/>
            <p:cNvSpPr/>
            <p:nvPr/>
          </p:nvSpPr>
          <p:spPr>
            <a:xfrm>
              <a:off x="1810150" y="21781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G</a:t>
              </a:r>
              <a:endParaRPr/>
            </a:p>
          </p:txBody>
        </p:sp>
        <p:sp>
          <p:nvSpPr>
            <p:cNvPr id="584" name="Google Shape;584;p47"/>
            <p:cNvSpPr/>
            <p:nvPr/>
          </p:nvSpPr>
          <p:spPr>
            <a:xfrm>
              <a:off x="2203750" y="21781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</a:t>
              </a:r>
              <a:endParaRPr/>
            </a:p>
          </p:txBody>
        </p:sp>
        <p:sp>
          <p:nvSpPr>
            <p:cNvPr id="585" name="Google Shape;585;p47"/>
            <p:cNvSpPr/>
            <p:nvPr/>
          </p:nvSpPr>
          <p:spPr>
            <a:xfrm>
              <a:off x="2597350" y="21781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</a:t>
              </a:r>
              <a:endParaRPr/>
            </a:p>
          </p:txBody>
        </p:sp>
        <p:sp>
          <p:nvSpPr>
            <p:cNvPr id="586" name="Google Shape;586;p47"/>
            <p:cNvSpPr/>
            <p:nvPr/>
          </p:nvSpPr>
          <p:spPr>
            <a:xfrm>
              <a:off x="2990950" y="21781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</a:t>
              </a:r>
              <a:endParaRPr/>
            </a:p>
          </p:txBody>
        </p:sp>
        <p:sp>
          <p:nvSpPr>
            <p:cNvPr id="587" name="Google Shape;587;p47"/>
            <p:cNvSpPr/>
            <p:nvPr/>
          </p:nvSpPr>
          <p:spPr>
            <a:xfrm>
              <a:off x="3384550" y="21781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</a:t>
              </a:r>
              <a:endParaRPr/>
            </a:p>
          </p:txBody>
        </p:sp>
        <p:sp>
          <p:nvSpPr>
            <p:cNvPr id="588" name="Google Shape;588;p47"/>
            <p:cNvSpPr/>
            <p:nvPr/>
          </p:nvSpPr>
          <p:spPr>
            <a:xfrm>
              <a:off x="3778150" y="21781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</a:t>
              </a:r>
              <a:endParaRPr/>
            </a:p>
          </p:txBody>
        </p:sp>
        <p:sp>
          <p:nvSpPr>
            <p:cNvPr id="589" name="Google Shape;589;p47"/>
            <p:cNvSpPr/>
            <p:nvPr/>
          </p:nvSpPr>
          <p:spPr>
            <a:xfrm>
              <a:off x="4171750" y="21781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</a:t>
              </a:r>
              <a:endParaRPr/>
            </a:p>
          </p:txBody>
        </p:sp>
        <p:sp>
          <p:nvSpPr>
            <p:cNvPr id="590" name="Google Shape;590;p47"/>
            <p:cNvSpPr/>
            <p:nvPr/>
          </p:nvSpPr>
          <p:spPr>
            <a:xfrm>
              <a:off x="4565350" y="21781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</a:t>
              </a:r>
              <a:endParaRPr/>
            </a:p>
          </p:txBody>
        </p:sp>
        <p:sp>
          <p:nvSpPr>
            <p:cNvPr id="591" name="Google Shape;591;p47"/>
            <p:cNvSpPr/>
            <p:nvPr/>
          </p:nvSpPr>
          <p:spPr>
            <a:xfrm>
              <a:off x="4958950" y="21781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</a:t>
              </a:r>
              <a:endParaRPr/>
            </a:p>
          </p:txBody>
        </p:sp>
      </p:grpSp>
      <p:sp>
        <p:nvSpPr>
          <p:cNvPr id="592" name="Google Shape;592;p47"/>
          <p:cNvSpPr txBox="1"/>
          <p:nvPr/>
        </p:nvSpPr>
        <p:spPr>
          <a:xfrm>
            <a:off x="2118850" y="1988813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left</a:t>
            </a:r>
            <a:endParaRPr/>
          </a:p>
        </p:txBody>
      </p:sp>
      <p:sp>
        <p:nvSpPr>
          <p:cNvPr id="593" name="Google Shape;593;p47"/>
          <p:cNvSpPr txBox="1"/>
          <p:nvPr/>
        </p:nvSpPr>
        <p:spPr>
          <a:xfrm>
            <a:off x="6476450" y="1988813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right</a:t>
            </a:r>
            <a:endParaRPr/>
          </a:p>
        </p:txBody>
      </p:sp>
      <p:sp>
        <p:nvSpPr>
          <p:cNvPr id="594" name="Google Shape;594;p47"/>
          <p:cNvSpPr txBox="1"/>
          <p:nvPr/>
        </p:nvSpPr>
        <p:spPr>
          <a:xfrm>
            <a:off x="4067600" y="1988813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</a:t>
            </a:r>
            <a:endParaRPr/>
          </a:p>
        </p:txBody>
      </p:sp>
      <p:grpSp>
        <p:nvGrpSpPr>
          <p:cNvPr id="595" name="Google Shape;595;p47"/>
          <p:cNvGrpSpPr/>
          <p:nvPr/>
        </p:nvGrpSpPr>
        <p:grpSpPr>
          <a:xfrm>
            <a:off x="2197150" y="2349325"/>
            <a:ext cx="4723200" cy="393600"/>
            <a:chOff x="629350" y="2178150"/>
            <a:chExt cx="4723200" cy="393600"/>
          </a:xfrm>
        </p:grpSpPr>
        <p:sp>
          <p:nvSpPr>
            <p:cNvPr id="596" name="Google Shape;596;p47"/>
            <p:cNvSpPr/>
            <p:nvPr/>
          </p:nvSpPr>
          <p:spPr>
            <a:xfrm>
              <a:off x="629350" y="21781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47"/>
            <p:cNvSpPr/>
            <p:nvPr/>
          </p:nvSpPr>
          <p:spPr>
            <a:xfrm>
              <a:off x="1022950" y="21781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47"/>
            <p:cNvSpPr/>
            <p:nvPr/>
          </p:nvSpPr>
          <p:spPr>
            <a:xfrm>
              <a:off x="1416550" y="21781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47"/>
            <p:cNvSpPr/>
            <p:nvPr/>
          </p:nvSpPr>
          <p:spPr>
            <a:xfrm>
              <a:off x="1810150" y="21781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47"/>
            <p:cNvSpPr/>
            <p:nvPr/>
          </p:nvSpPr>
          <p:spPr>
            <a:xfrm>
              <a:off x="2203750" y="21781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47"/>
            <p:cNvSpPr/>
            <p:nvPr/>
          </p:nvSpPr>
          <p:spPr>
            <a:xfrm>
              <a:off x="2597350" y="21781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B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02" name="Google Shape;602;p47"/>
            <p:cNvSpPr/>
            <p:nvPr/>
          </p:nvSpPr>
          <p:spPr>
            <a:xfrm>
              <a:off x="2990950" y="21781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B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03" name="Google Shape;603;p47"/>
            <p:cNvSpPr/>
            <p:nvPr/>
          </p:nvSpPr>
          <p:spPr>
            <a:xfrm>
              <a:off x="3384550" y="21781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B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04" name="Google Shape;604;p47"/>
            <p:cNvSpPr/>
            <p:nvPr/>
          </p:nvSpPr>
          <p:spPr>
            <a:xfrm>
              <a:off x="3778150" y="21781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B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05" name="Google Shape;605;p47"/>
            <p:cNvSpPr/>
            <p:nvPr/>
          </p:nvSpPr>
          <p:spPr>
            <a:xfrm>
              <a:off x="4171750" y="21781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B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06" name="Google Shape;606;p47"/>
            <p:cNvSpPr/>
            <p:nvPr/>
          </p:nvSpPr>
          <p:spPr>
            <a:xfrm>
              <a:off x="4565350" y="21781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B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07" name="Google Shape;607;p47"/>
            <p:cNvSpPr/>
            <p:nvPr/>
          </p:nvSpPr>
          <p:spPr>
            <a:xfrm>
              <a:off x="4958950" y="2178150"/>
              <a:ext cx="393600" cy="393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B</a:t>
              </a:r>
              <a:endParaRPr>
                <a:solidFill>
                  <a:srgbClr val="FF0000"/>
                </a:solidFill>
              </a:endParaRPr>
            </a:p>
          </p:txBody>
        </p:sp>
      </p:grpSp>
      <p:sp>
        <p:nvSpPr>
          <p:cNvPr id="608" name="Google Shape;608;p47"/>
          <p:cNvSpPr/>
          <p:nvPr/>
        </p:nvSpPr>
        <p:spPr>
          <a:xfrm>
            <a:off x="524450" y="3127925"/>
            <a:ext cx="2611625" cy="712200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isBadVersion(mid)</a:t>
            </a:r>
            <a:endParaRPr sz="1000"/>
          </a:p>
        </p:txBody>
      </p:sp>
      <p:sp>
        <p:nvSpPr>
          <p:cNvPr id="609" name="Google Shape;609;p47"/>
          <p:cNvSpPr/>
          <p:nvPr/>
        </p:nvSpPr>
        <p:spPr>
          <a:xfrm>
            <a:off x="3701575" y="3087725"/>
            <a:ext cx="3231900" cy="79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Các version từ </a:t>
            </a:r>
            <a:r>
              <a:rPr b="1" lang="en" sz="1100"/>
              <a:t>[mid..right]</a:t>
            </a:r>
            <a:r>
              <a:rPr lang="en" sz="1100"/>
              <a:t> đều là </a:t>
            </a:r>
            <a:r>
              <a:rPr b="1" lang="en" sz="1100"/>
              <a:t>bad</a:t>
            </a:r>
            <a:r>
              <a:rPr lang="en" sz="1100"/>
              <a:t> </a:t>
            </a:r>
            <a:r>
              <a:rPr b="1" lang="en" sz="1100"/>
              <a:t>version</a:t>
            </a:r>
            <a:endParaRPr b="1"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Cập nhật ans = mid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Tìm bad nhỏ nhất có thể ở bên trái </a:t>
            </a:r>
            <a:endParaRPr sz="1100"/>
          </a:p>
        </p:txBody>
      </p:sp>
      <p:cxnSp>
        <p:nvCxnSpPr>
          <p:cNvPr id="610" name="Google Shape;610;p47"/>
          <p:cNvCxnSpPr>
            <a:stCxn id="608" idx="3"/>
            <a:endCxn id="609" idx="1"/>
          </p:cNvCxnSpPr>
          <p:nvPr/>
        </p:nvCxnSpPr>
        <p:spPr>
          <a:xfrm>
            <a:off x="3136075" y="3484025"/>
            <a:ext cx="56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11" name="Google Shape;611;p47"/>
          <p:cNvSpPr txBox="1"/>
          <p:nvPr/>
        </p:nvSpPr>
        <p:spPr>
          <a:xfrm>
            <a:off x="2976300" y="3127925"/>
            <a:ext cx="67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True</a:t>
            </a:r>
            <a:endParaRPr sz="1000"/>
          </a:p>
        </p:txBody>
      </p:sp>
      <p:sp>
        <p:nvSpPr>
          <p:cNvPr id="612" name="Google Shape;612;p47"/>
          <p:cNvSpPr/>
          <p:nvPr/>
        </p:nvSpPr>
        <p:spPr>
          <a:xfrm>
            <a:off x="561713" y="4225125"/>
            <a:ext cx="2537100" cy="64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Các version từ </a:t>
            </a:r>
            <a:r>
              <a:rPr b="1" lang="en" sz="1100"/>
              <a:t>[left...mid]</a:t>
            </a:r>
            <a:r>
              <a:rPr lang="en" sz="1100"/>
              <a:t> đều là </a:t>
            </a:r>
            <a:r>
              <a:rPr b="1" lang="en" sz="1100"/>
              <a:t>good version</a:t>
            </a:r>
            <a:endParaRPr b="1"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Tìm bad version ở trên phải</a:t>
            </a:r>
            <a:endParaRPr sz="1100"/>
          </a:p>
        </p:txBody>
      </p:sp>
      <p:cxnSp>
        <p:nvCxnSpPr>
          <p:cNvPr id="613" name="Google Shape;613;p47"/>
          <p:cNvCxnSpPr>
            <a:stCxn id="608" idx="2"/>
            <a:endCxn id="612" idx="0"/>
          </p:cNvCxnSpPr>
          <p:nvPr/>
        </p:nvCxnSpPr>
        <p:spPr>
          <a:xfrm>
            <a:off x="1830263" y="3840125"/>
            <a:ext cx="0" cy="38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4" name="Google Shape;614;p47"/>
          <p:cNvSpPr txBox="1"/>
          <p:nvPr/>
        </p:nvSpPr>
        <p:spPr>
          <a:xfrm>
            <a:off x="1727425" y="3796596"/>
            <a:ext cx="67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False</a:t>
            </a:r>
            <a:endParaRPr sz="1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4</a:t>
            </a: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 </a:t>
            </a: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Find Minimum in Rotated Sorted Array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620" name="Google Shape;620;p48"/>
          <p:cNvSpPr txBox="1"/>
          <p:nvPr>
            <p:ph idx="1" type="body"/>
          </p:nvPr>
        </p:nvSpPr>
        <p:spPr>
          <a:xfrm>
            <a:off x="402900" y="1189113"/>
            <a:ext cx="83382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Suppose an array of length 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</a:rPr>
              <a:t>n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sorted in ascending order is rotated between 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</a:rPr>
              <a:t>1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</a:rPr>
              <a:t>n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times. For example, the array 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</a:rPr>
              <a:t>nums = [0,1,2,4,5,6,7]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might become: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</a:rPr>
              <a:t>[4,5,6,7,0,1,2]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if it was rotated 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</a:rPr>
              <a:t>4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times.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</a:rPr>
              <a:t>[0,1,2,4,5,6,7]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if it was rotated 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</a:rPr>
              <a:t>7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times.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Notice that rotating an array 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</a:rPr>
              <a:t>[a[0], a[1], a[2], ..., a[n-1]]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1 time results in the array 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</a:rPr>
              <a:t>[a[n-1], a[0], a[1], a[2], ..., a[n-2]]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26262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Given the sorted rotated array 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</a:rPr>
              <a:t>nums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of unique elements, return </a:t>
            </a:r>
            <a:r>
              <a:rPr i="1" lang="en" sz="1200">
                <a:solidFill>
                  <a:srgbClr val="26262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minimum element of this array</a:t>
            </a:r>
            <a:r>
              <a:rPr lang="en" sz="1200">
                <a:solidFill>
                  <a:srgbClr val="26262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Link: </a:t>
            </a:r>
            <a:r>
              <a:rPr lang="en" sz="1200" u="sng">
                <a:solidFill>
                  <a:schemeClr val="hlink"/>
                </a:solidFill>
                <a:hlinkClick r:id="rId3"/>
              </a:rPr>
              <a:t>https://leetcode.com/problems/find-minimum-in-rotated-sorted-array/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21" name="Google Shape;621;p48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3" name="Google Shape;623;p48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Binary Search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9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30" name="Google Shape;63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50" y="152400"/>
            <a:ext cx="3366353" cy="470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378" y="152400"/>
            <a:ext cx="2537470" cy="4706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42400" y="127025"/>
            <a:ext cx="2410650" cy="47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0F8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50"/>
          <p:cNvSpPr txBox="1"/>
          <p:nvPr/>
        </p:nvSpPr>
        <p:spPr>
          <a:xfrm>
            <a:off x="2259600" y="2202300"/>
            <a:ext cx="462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4</a:t>
            </a: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  </a:t>
            </a: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Live coding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638" name="Google Shape;638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Bài tập minh hoạ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644" name="Google Shape;644;p51"/>
          <p:cNvSpPr txBox="1"/>
          <p:nvPr>
            <p:ph idx="1" type="body"/>
          </p:nvPr>
        </p:nvSpPr>
        <p:spPr>
          <a:xfrm>
            <a:off x="311700" y="1266325"/>
            <a:ext cx="8595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https://leetcode.com/problems/binary-search/</a:t>
            </a:r>
            <a:r>
              <a:rPr lang="en"/>
              <a:t> [EASY]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https://leetcode.com/problems/find-first-and-last-position-of-element-in-sorted-array/</a:t>
            </a:r>
            <a:r>
              <a:rPr lang="en"/>
              <a:t> [MEDIUM]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https://leetcode.com/problems/sqrtx/</a:t>
            </a:r>
            <a:r>
              <a:rPr lang="en"/>
              <a:t> [EASY]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https://leetcode.com/problems/first-bad-version/</a:t>
            </a:r>
            <a:r>
              <a:rPr lang="en"/>
              <a:t> [EASY]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u="sng">
                <a:solidFill>
                  <a:schemeClr val="hlink"/>
                </a:solidFill>
                <a:hlinkClick r:id="rId7"/>
              </a:rPr>
              <a:t>https://leetcode.com/problems/find-minimum-in-rotated-sorted-array/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 [MEDIUM]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645" name="Google Shape;645;p51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7" name="Google Shape;647;p51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Binary Search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0F8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52"/>
          <p:cNvSpPr txBox="1"/>
          <p:nvPr/>
        </p:nvSpPr>
        <p:spPr>
          <a:xfrm>
            <a:off x="2259600" y="2156475"/>
            <a:ext cx="462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5. </a:t>
            </a: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Homework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653" name="Google Shape;653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EBF0F3"/>
                </a:solidFill>
              </a:rPr>
              <a:t>‹#›</a:t>
            </a:fld>
            <a:endParaRPr>
              <a:solidFill>
                <a:srgbClr val="EBF0F3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5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Một số bài tập đã chọn lọc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659" name="Google Shape;659;p53"/>
          <p:cNvSpPr txBox="1"/>
          <p:nvPr>
            <p:ph idx="1" type="body"/>
          </p:nvPr>
        </p:nvSpPr>
        <p:spPr>
          <a:xfrm>
            <a:off x="311700" y="1266325"/>
            <a:ext cx="84312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AutoNum type="arabicPeriod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https://leetcode.com/problems/search-a-2d-matrix/</a:t>
            </a:r>
            <a:r>
              <a:rPr lang="en"/>
              <a:t> [EASY]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AutoNum type="arabicPeriod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https://leetcode.com/problems/valid-perfect-square/</a:t>
            </a:r>
            <a:r>
              <a:rPr lang="en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/>
              <a:t>[EASY]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https://leetcode.com/problems/search-in-rotated-sorted-array/</a:t>
            </a:r>
            <a:r>
              <a:rPr lang="en"/>
              <a:t> [MEDIUM]</a:t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AutoNum type="arabicPeriod"/>
            </a:pP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https://leetcode.com/problems/find-peak-element/</a:t>
            </a:r>
            <a:r>
              <a:rPr lang="en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[MEDIUM] [BONUS]</a:t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AutoNum type="arabicPeriod"/>
            </a:pP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https://leetcode.com/problems/arranging-coins</a:t>
            </a:r>
            <a:r>
              <a:rPr lang="en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[EASY]</a:t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53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2" name="Google Shape;662;p53"/>
          <p:cNvSpPr txBox="1"/>
          <p:nvPr/>
        </p:nvSpPr>
        <p:spPr>
          <a:xfrm>
            <a:off x="7209150" y="65375"/>
            <a:ext cx="181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Binary Search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