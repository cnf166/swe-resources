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Mulish"/>
      <p:regular r:id="rId22"/>
      <p:bold r:id="rId23"/>
      <p:italic r:id="rId24"/>
      <p:boldItalic r:id="rId25"/>
    </p:embeddedFont>
    <p:embeddedFont>
      <p:font typeface="PT Sans Narrow"/>
      <p:regular r:id="rId26"/>
      <p:bold r:id="rId27"/>
    </p:embeddedFont>
    <p:embeddedFont>
      <p:font typeface="Mulish ExtraBold"/>
      <p:bold r:id="rId28"/>
      <p:boldItalic r:id="rId29"/>
    </p:embeddedFont>
    <p:embeddedFont>
      <p:font typeface="Mulish Black"/>
      <p:bold r:id="rId30"/>
      <p:boldItalic r:id="rId31"/>
    </p:embeddedFont>
    <p:embeddedFont>
      <p:font typeface="Mulish Medium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18F895-6346-4F5D-ABF2-31E44AD2FB07}">
  <a:tblStyle styleId="{5718F895-6346-4F5D-ABF2-31E44AD2FB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Mulish-regular.fntdata"/><Relationship Id="rId21" Type="http://schemas.openxmlformats.org/officeDocument/2006/relationships/slide" Target="slides/slide14.xml"/><Relationship Id="rId24" Type="http://schemas.openxmlformats.org/officeDocument/2006/relationships/font" Target="fonts/Mulish-italic.fntdata"/><Relationship Id="rId23" Type="http://schemas.openxmlformats.org/officeDocument/2006/relationships/font" Target="fonts/Mulish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TSansNarrow-regular.fntdata"/><Relationship Id="rId25" Type="http://schemas.openxmlformats.org/officeDocument/2006/relationships/font" Target="fonts/Mulish-boldItalic.fntdata"/><Relationship Id="rId28" Type="http://schemas.openxmlformats.org/officeDocument/2006/relationships/font" Target="fonts/MulishExtraBold-bold.fntdata"/><Relationship Id="rId27" Type="http://schemas.openxmlformats.org/officeDocument/2006/relationships/font" Target="fonts/PTSansNarrow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ulishExtra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ulishBlack-boldItalic.fntdata"/><Relationship Id="rId30" Type="http://schemas.openxmlformats.org/officeDocument/2006/relationships/font" Target="fonts/MulishBlack-bold.fntdata"/><Relationship Id="rId11" Type="http://schemas.openxmlformats.org/officeDocument/2006/relationships/slide" Target="slides/slide4.xml"/><Relationship Id="rId33" Type="http://schemas.openxmlformats.org/officeDocument/2006/relationships/font" Target="fonts/MulishMedium-bold.fntdata"/><Relationship Id="rId10" Type="http://schemas.openxmlformats.org/officeDocument/2006/relationships/slide" Target="slides/slide3.xml"/><Relationship Id="rId32" Type="http://schemas.openxmlformats.org/officeDocument/2006/relationships/font" Target="fonts/MulishMedium-regular.fntdata"/><Relationship Id="rId13" Type="http://schemas.openxmlformats.org/officeDocument/2006/relationships/slide" Target="slides/slide6.xml"/><Relationship Id="rId35" Type="http://schemas.openxmlformats.org/officeDocument/2006/relationships/font" Target="fonts/MulishMedium-boldItalic.fntdata"/><Relationship Id="rId12" Type="http://schemas.openxmlformats.org/officeDocument/2006/relationships/slide" Target="slides/slide5.xml"/><Relationship Id="rId34" Type="http://schemas.openxmlformats.org/officeDocument/2006/relationships/font" Target="fonts/MulishMedium-italic.fntdata"/><Relationship Id="rId15" Type="http://schemas.openxmlformats.org/officeDocument/2006/relationships/slide" Target="slides/slide8.xml"/><Relationship Id="rId37" Type="http://schemas.openxmlformats.org/officeDocument/2006/relationships/font" Target="fonts/OpenSans-bold.fntdata"/><Relationship Id="rId14" Type="http://schemas.openxmlformats.org/officeDocument/2006/relationships/slide" Target="slides/slide7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0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9.xml"/><Relationship Id="rId38" Type="http://schemas.openxmlformats.org/officeDocument/2006/relationships/font" Target="fonts/OpenSans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a6dd2d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a6dd2d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Hôm nay: He</a:t>
            </a:r>
            <a:r>
              <a:rPr lang="en"/>
              <a:t>aps + Bài toán tìm đường đi ngắn nhất trên đồ thị có trọng số.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a6dd2d446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a6dd2d446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ac4ce1a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ac4ce1a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</a:t>
            </a:r>
            <a:r>
              <a:rPr lang="en"/>
              <a:t>eue/Stack thông thường: O(N)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Sorted List: O(N)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Binary Search Tree: O(logN)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a6dd2d446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a6dd2d446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Đánh ind</a:t>
            </a:r>
            <a:r>
              <a:rPr lang="en"/>
              <a:t>ex từ trên xuống dưới, từ trái sang phải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oot → cbt[0]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 → cbt[1]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Root.right → cbt[2]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Root.left.left → cbt[3]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quát: nếu node là cbt[i], thì node.left là cbt[2*i + 1], node.right là cbt[2*i + 2]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ac4ce1a4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ac4ce1a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→ cbt[0]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 → cbt[1]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Root.right → cbt[2]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Root.left.left → cbt[3]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quát: nếu node là cbt[i], thì node.left là cbt[2*i + 1], node.right là cbt[2*i + 2]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ac4ce1a4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ac4ce1a4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 2 l</a:t>
            </a:r>
            <a:r>
              <a:rPr lang="en"/>
              <a:t>oại: Min Heap/Max Heap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Ở đây lấy ví dụ Max Heap: pop phần tử lớn nhất ra ngoài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ac4ce1a4d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ac4ce1a4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Phần tử nhỏ nhất luôn ở đầu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Không chỉ có một cách biểu diễn heap. Ví dụ: có thể swap 5 và 9 cho nhau.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Câu hỏi: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Vậy cha của arr[i] là?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Min(Heap) là 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ac4ce1a4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ac4ce1a4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Câu hỏi: P</a:t>
            </a:r>
            <a:r>
              <a:rPr lang="en"/>
              <a:t>ush phần tử mới vào heap như thế nào?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case: trong trường hợp node được insert move lên root → O(logN)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ac4ce1a4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1ac4ce1a4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 phần tử bé nhất ra khỏi heap như thế nào?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Đổi chỗ gốc và phần tử cuối cùng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iftDown gốc mới xuống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case: O(logN)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ac4ce1a4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ac4ce1a4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a6dd2d44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a6dd2d44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9de4602c4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9de4602c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ab5693d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ab5693d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etcode.com/problems/kth-largest-element-in-an-array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kth-smallest-element-in-a-sorted-matrix/" TargetMode="External"/><Relationship Id="rId4" Type="http://schemas.openxmlformats.org/officeDocument/2006/relationships/hyperlink" Target="https://leetcode.com/problems/find-k-closest-el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/>
        </p:nvSpPr>
        <p:spPr>
          <a:xfrm>
            <a:off x="1321500" y="2171550"/>
            <a:ext cx="6614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Heaps and Shortest Paths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 Medium"/>
                <a:ea typeface="Mulish Medium"/>
                <a:cs typeface="Mulish Medium"/>
                <a:sym typeface="Mulish Medium"/>
              </a:rPr>
              <a:t>Lam Pham</a:t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Mục lục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1" name="Google Shape;121;p26"/>
          <p:cNvSpPr txBox="1"/>
          <p:nvPr>
            <p:ph idx="2" type="body"/>
          </p:nvPr>
        </p:nvSpPr>
        <p:spPr>
          <a:xfrm>
            <a:off x="4572000" y="724200"/>
            <a:ext cx="4572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Priority Queue (Heap)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Live 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Homework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6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/>
        </p:nvSpPr>
        <p:spPr>
          <a:xfrm>
            <a:off x="1537200" y="1259425"/>
            <a:ext cx="6069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He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ap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Hàng đợi ưu tiên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.1.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Nhắc lại về Queue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266325"/>
            <a:ext cx="4401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Queue là cấu trúc dữ liệu </a:t>
            </a:r>
            <a:r>
              <a:rPr b="1" lang="en">
                <a:solidFill>
                  <a:srgbClr val="0B3E64"/>
                </a:solidFill>
              </a:rPr>
              <a:t>First In First Out (FIFO)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Hai thao tác: </a:t>
            </a:r>
            <a:r>
              <a:rPr b="1" lang="en">
                <a:solidFill>
                  <a:srgbClr val="0B3E64"/>
                </a:solidFill>
              </a:rPr>
              <a:t>enqueue(e)</a:t>
            </a:r>
            <a:r>
              <a:rPr lang="en">
                <a:solidFill>
                  <a:srgbClr val="0B3E64"/>
                </a:solidFill>
              </a:rPr>
              <a:t> (đẩy phần tử e vào queue), và </a:t>
            </a:r>
            <a:r>
              <a:rPr b="1" lang="en">
                <a:solidFill>
                  <a:srgbClr val="0B3E64"/>
                </a:solidFill>
              </a:rPr>
              <a:t>deque() </a:t>
            </a:r>
            <a:r>
              <a:rPr lang="en">
                <a:solidFill>
                  <a:srgbClr val="0B3E64"/>
                </a:solidFill>
              </a:rPr>
              <a:t>(lấy ra) được thực hiện trong O(1).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b="1" lang="en">
                <a:solidFill>
                  <a:srgbClr val="0B3E64"/>
                </a:solidFill>
              </a:rPr>
              <a:t>Câu hỏi: </a:t>
            </a:r>
            <a:r>
              <a:rPr lang="en">
                <a:solidFill>
                  <a:srgbClr val="0B3E64"/>
                </a:solidFill>
              </a:rPr>
              <a:t>Nếu muốn deque() phần tử lớn nhất/nhỏ nhất trong queue thì làm thế nào?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0" name="Google Shape;14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000" y="1531488"/>
            <a:ext cx="4161050" cy="20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Nhắc lại về Complete Binary Tree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02900" y="1189125"/>
            <a:ext cx="4457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Cây nhị phân (</a:t>
            </a:r>
            <a:r>
              <a:rPr b="1"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binary tree</a:t>
            </a: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) là cây mà mỗi node có tối đa </a:t>
            </a:r>
            <a:r>
              <a:rPr b="1"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hai </a:t>
            </a: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node con.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Complete binary tree: </a:t>
            </a: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là cây được điền đầy (theo thứ tự ưu tiên) từ trên xuống dưới, từ trái sang phải. 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Complete Binary Tree có thể được biểu diễn dưới dạng </a:t>
            </a:r>
            <a:r>
              <a:rPr b="1"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mảng (Python list)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Cụ thể: [?]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9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175" y="1378200"/>
            <a:ext cx="3459450" cy="2852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1.3. Heap/Pri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ority Queue (Hàng đợi ưu tiên)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402900" y="1189125"/>
            <a:ext cx="755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Bài toán:</a:t>
            </a: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 Thiết kế cấu trúc dữ liệu H với 2 thao tác: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○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Push(e): Đẩy e vào H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○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Pop(): Trả về, và đưa ra ngoài phần tử lớn nhất trong H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30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aphicFrame>
        <p:nvGraphicFramePr>
          <p:cNvPr id="160" name="Google Shape;160;p30"/>
          <p:cNvGraphicFramePr/>
          <p:nvPr/>
        </p:nvGraphicFramePr>
        <p:xfrm>
          <a:off x="594425" y="248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{5718F895-6346-4F5D-ABF2-31E44AD2FB07}</a:tableStyleId>
              </a:tblPr>
              <a:tblGrid>
                <a:gridCol w="1032375"/>
                <a:gridCol w="873900"/>
                <a:gridCol w="857250"/>
                <a:gridCol w="820425"/>
                <a:gridCol w="856525"/>
                <a:gridCol w="946675"/>
                <a:gridCol w="1005025"/>
                <a:gridCol w="846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Array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Sorted Array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Linked List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Sorted Linked List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Hash Map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Binary Search Tree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Heap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Push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O(H)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O(logN)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Pop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O(H)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O(logN)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Space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28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Ví dụ: Max Heap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31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5215050" y="1282950"/>
            <a:ext cx="38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0" name="Google Shape;170;p31"/>
          <p:cNvGraphicFramePr/>
          <p:nvPr/>
        </p:nvGraphicFramePr>
        <p:xfrm>
          <a:off x="311700" y="954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{5718F895-6346-4F5D-ABF2-31E44AD2FB07}</a:tableStyleId>
              </a:tblPr>
              <a:tblGrid>
                <a:gridCol w="3902475"/>
                <a:gridCol w="3336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 = heap()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Heap([])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</a:t>
                      </a:r>
                      <a:r>
                        <a:rPr lang="en"/>
                        <a:t>ush(1)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Heap([1])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</a:t>
                      </a:r>
                      <a:r>
                        <a:rPr lang="en"/>
                        <a:t>ush(4)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Heap([1, 4])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</a:t>
                      </a:r>
                      <a:r>
                        <a:rPr lang="en"/>
                        <a:t>ush(2)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Heap([1, 4, 2])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H.pop()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</a:t>
                      </a:r>
                      <a:r>
                        <a:rPr lang="en"/>
                        <a:t>urn</a:t>
                      </a:r>
                      <a:r>
                        <a:rPr lang="en"/>
                        <a:t> </a:t>
                      </a:r>
                      <a:r>
                        <a:rPr b="1" lang="en"/>
                        <a:t>4</a:t>
                      </a:r>
                      <a:r>
                        <a:rPr lang="en"/>
                        <a:t>. Heap([1, 2])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H.pop()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</a:t>
                      </a:r>
                      <a:r>
                        <a:rPr lang="en"/>
                        <a:t>urn </a:t>
                      </a:r>
                      <a:r>
                        <a:rPr b="1" lang="en"/>
                        <a:t>2</a:t>
                      </a:r>
                      <a:r>
                        <a:rPr lang="en"/>
                        <a:t>. Heap([1]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</a:t>
                      </a:r>
                      <a:r>
                        <a:rPr lang="en"/>
                        <a:t>ush(5)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Heap([1, 5])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H.pop()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</a:t>
                      </a:r>
                      <a:r>
                        <a:rPr lang="en"/>
                        <a:t>urn </a:t>
                      </a:r>
                      <a:r>
                        <a:rPr b="1" lang="en"/>
                        <a:t>5</a:t>
                      </a:r>
                      <a:r>
                        <a:rPr lang="en"/>
                        <a:t>.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Heap([1])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H.pop()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</a:t>
                      </a:r>
                      <a:r>
                        <a:rPr lang="en"/>
                        <a:t>urn </a:t>
                      </a:r>
                      <a:r>
                        <a:rPr b="1" lang="en"/>
                        <a:t>1. </a:t>
                      </a:r>
                      <a:r>
                        <a:rPr lang="en"/>
                        <a:t>Heap([])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H.pop()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Error!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31"/>
          <p:cNvSpPr/>
          <p:nvPr/>
        </p:nvSpPr>
        <p:spPr>
          <a:xfrm>
            <a:off x="6967886" y="1387832"/>
            <a:ext cx="487800" cy="282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grpSp>
        <p:nvGrpSpPr>
          <p:cNvPr id="172" name="Google Shape;172;p31"/>
          <p:cNvGrpSpPr/>
          <p:nvPr/>
        </p:nvGrpSpPr>
        <p:grpSpPr>
          <a:xfrm>
            <a:off x="6479874" y="1799832"/>
            <a:ext cx="975813" cy="282920"/>
            <a:chOff x="1620000" y="1596375"/>
            <a:chExt cx="787200" cy="393600"/>
          </a:xfrm>
        </p:grpSpPr>
        <p:sp>
          <p:nvSpPr>
            <p:cNvPr id="173" name="Google Shape;173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74" name="Google Shape;174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</p:grpSp>
      <p:grpSp>
        <p:nvGrpSpPr>
          <p:cNvPr id="175" name="Google Shape;175;p31"/>
          <p:cNvGrpSpPr/>
          <p:nvPr/>
        </p:nvGrpSpPr>
        <p:grpSpPr>
          <a:xfrm>
            <a:off x="2696099" y="2599032"/>
            <a:ext cx="1463720" cy="282920"/>
            <a:chOff x="1620000" y="1596375"/>
            <a:chExt cx="1180800" cy="393600"/>
          </a:xfrm>
        </p:grpSpPr>
        <p:sp>
          <p:nvSpPr>
            <p:cNvPr id="176" name="Google Shape;176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77" name="Google Shape;177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178" name="Google Shape;178;p31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</p:grpSp>
      <p:grpSp>
        <p:nvGrpSpPr>
          <p:cNvPr id="179" name="Google Shape;179;p31"/>
          <p:cNvGrpSpPr/>
          <p:nvPr/>
        </p:nvGrpSpPr>
        <p:grpSpPr>
          <a:xfrm>
            <a:off x="6479874" y="2599019"/>
            <a:ext cx="975813" cy="282920"/>
            <a:chOff x="1620000" y="1596375"/>
            <a:chExt cx="787200" cy="393600"/>
          </a:xfrm>
        </p:grpSpPr>
        <p:sp>
          <p:nvSpPr>
            <p:cNvPr id="180" name="Google Shape;180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81" name="Google Shape;181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</p:grpSp>
      <p:sp>
        <p:nvSpPr>
          <p:cNvPr id="182" name="Google Shape;182;p31"/>
          <p:cNvSpPr/>
          <p:nvPr/>
        </p:nvSpPr>
        <p:spPr>
          <a:xfrm>
            <a:off x="6967886" y="2998632"/>
            <a:ext cx="487800" cy="2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grpSp>
        <p:nvGrpSpPr>
          <p:cNvPr id="183" name="Google Shape;183;p31"/>
          <p:cNvGrpSpPr/>
          <p:nvPr/>
        </p:nvGrpSpPr>
        <p:grpSpPr>
          <a:xfrm>
            <a:off x="6479874" y="3405444"/>
            <a:ext cx="975813" cy="282920"/>
            <a:chOff x="1620000" y="1596375"/>
            <a:chExt cx="787200" cy="393600"/>
          </a:xfrm>
        </p:grpSpPr>
        <p:sp>
          <p:nvSpPr>
            <p:cNvPr id="184" name="Google Shape;184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85" name="Google Shape;185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</p:grpSp>
      <p:sp>
        <p:nvSpPr>
          <p:cNvPr id="186" name="Google Shape;186;p31"/>
          <p:cNvSpPr/>
          <p:nvPr/>
        </p:nvSpPr>
        <p:spPr>
          <a:xfrm>
            <a:off x="6967886" y="3805057"/>
            <a:ext cx="487800" cy="2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grpSp>
        <p:nvGrpSpPr>
          <p:cNvPr id="187" name="Google Shape;187;p31"/>
          <p:cNvGrpSpPr/>
          <p:nvPr/>
        </p:nvGrpSpPr>
        <p:grpSpPr>
          <a:xfrm>
            <a:off x="5991949" y="2199432"/>
            <a:ext cx="1463720" cy="282920"/>
            <a:chOff x="1620000" y="1596375"/>
            <a:chExt cx="1180800" cy="393600"/>
          </a:xfrm>
        </p:grpSpPr>
        <p:sp>
          <p:nvSpPr>
            <p:cNvPr id="188" name="Google Shape;188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89" name="Google Shape;189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190" name="Google Shape;190;p31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</p:grpSp>
      <p:grpSp>
        <p:nvGrpSpPr>
          <p:cNvPr id="191" name="Google Shape;191;p31"/>
          <p:cNvGrpSpPr/>
          <p:nvPr/>
        </p:nvGrpSpPr>
        <p:grpSpPr>
          <a:xfrm>
            <a:off x="3184024" y="2998607"/>
            <a:ext cx="975813" cy="282920"/>
            <a:chOff x="1620000" y="1596375"/>
            <a:chExt cx="787200" cy="393600"/>
          </a:xfrm>
        </p:grpSpPr>
        <p:sp>
          <p:nvSpPr>
            <p:cNvPr id="192" name="Google Shape;192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</p:grpSp>
      <p:grpSp>
        <p:nvGrpSpPr>
          <p:cNvPr id="194" name="Google Shape;194;p31"/>
          <p:cNvGrpSpPr/>
          <p:nvPr/>
        </p:nvGrpSpPr>
        <p:grpSpPr>
          <a:xfrm>
            <a:off x="3184024" y="3805032"/>
            <a:ext cx="975813" cy="282920"/>
            <a:chOff x="1620000" y="1596375"/>
            <a:chExt cx="787200" cy="393600"/>
          </a:xfrm>
        </p:grpSpPr>
        <p:sp>
          <p:nvSpPr>
            <p:cNvPr id="195" name="Google Shape;195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</p:grpSp>
      <p:sp>
        <p:nvSpPr>
          <p:cNvPr id="197" name="Google Shape;197;p31"/>
          <p:cNvSpPr/>
          <p:nvPr/>
        </p:nvSpPr>
        <p:spPr>
          <a:xfrm>
            <a:off x="3672036" y="4165532"/>
            <a:ext cx="487800" cy="282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98" name="Google Shape;198;p31"/>
          <p:cNvSpPr/>
          <p:nvPr/>
        </p:nvSpPr>
        <p:spPr>
          <a:xfrm>
            <a:off x="7301783" y="4165525"/>
            <a:ext cx="153900" cy="2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/>
          <p:nvPr/>
        </p:nvSpPr>
        <p:spPr>
          <a:xfrm>
            <a:off x="4005933" y="4588288"/>
            <a:ext cx="153900" cy="2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/>
          <p:nvPr/>
        </p:nvSpPr>
        <p:spPr>
          <a:xfrm>
            <a:off x="7301783" y="4588288"/>
            <a:ext cx="153900" cy="2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7301783" y="1000650"/>
            <a:ext cx="153900" cy="2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Cài đặt Min Heap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2"/>
          <p:cNvSpPr txBox="1"/>
          <p:nvPr/>
        </p:nvSpPr>
        <p:spPr>
          <a:xfrm>
            <a:off x="7209150" y="1735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</a:t>
            </a: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266325"/>
            <a:ext cx="4682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Biểu diễn bằng </a:t>
            </a:r>
            <a:r>
              <a:rPr b="1" lang="en">
                <a:solidFill>
                  <a:srgbClr val="0B3E64"/>
                </a:solidFill>
              </a:rPr>
              <a:t>cây nhị phân đầy đủ</a:t>
            </a:r>
            <a:r>
              <a:rPr lang="en">
                <a:solidFill>
                  <a:srgbClr val="0B3E64"/>
                </a:solidFill>
              </a:rPr>
              <a:t>, cài đặt bằng </a:t>
            </a:r>
            <a:r>
              <a:rPr b="1" lang="en">
                <a:solidFill>
                  <a:srgbClr val="0B3E64"/>
                </a:solidFill>
              </a:rPr>
              <a:t>mảng</a:t>
            </a:r>
            <a:endParaRPr b="1"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Mỗi ph</a:t>
            </a:r>
            <a:r>
              <a:rPr lang="en">
                <a:solidFill>
                  <a:srgbClr val="0B3E64"/>
                </a:solidFill>
              </a:rPr>
              <a:t>ần tử trong heap ứng với một nút trên cây. </a:t>
            </a:r>
            <a:r>
              <a:rPr b="1" lang="en">
                <a:solidFill>
                  <a:srgbClr val="0B3E64"/>
                </a:solidFill>
              </a:rPr>
              <a:t>Giá trị ở nút cha không lớn hơn giá trị của nút con.</a:t>
            </a:r>
            <a:endParaRPr b="1"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Gốc của cây = arr[0].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Con trái của arr[i] = arr[2*i + 1]. Con phải của arr[i] = arr[2*i + 2].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min(heap) = ?</a:t>
            </a:r>
            <a:endParaRPr>
              <a:solidFill>
                <a:srgbClr val="0B3E64"/>
              </a:solidFill>
            </a:endParaRPr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975" y="1585638"/>
            <a:ext cx="222885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32"/>
          <p:cNvGrpSpPr/>
          <p:nvPr/>
        </p:nvGrpSpPr>
        <p:grpSpPr>
          <a:xfrm>
            <a:off x="5475924" y="618107"/>
            <a:ext cx="1463720" cy="282920"/>
            <a:chOff x="1620000" y="1596375"/>
            <a:chExt cx="1180800" cy="393600"/>
          </a:xfrm>
        </p:grpSpPr>
        <p:sp>
          <p:nvSpPr>
            <p:cNvPr id="213" name="Google Shape;213;p32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>
              <a:off x="2020314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</p:grpSp>
      <p:grpSp>
        <p:nvGrpSpPr>
          <p:cNvPr id="216" name="Google Shape;216;p32"/>
          <p:cNvGrpSpPr/>
          <p:nvPr/>
        </p:nvGrpSpPr>
        <p:grpSpPr>
          <a:xfrm>
            <a:off x="6931326" y="618107"/>
            <a:ext cx="1463720" cy="282920"/>
            <a:chOff x="1620000" y="1596375"/>
            <a:chExt cx="1180800" cy="393600"/>
          </a:xfrm>
        </p:grpSpPr>
        <p:sp>
          <p:nvSpPr>
            <p:cNvPr id="217" name="Google Shape;217;p32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311700" y="445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Push, SiftUp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7209150" y="1735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266325"/>
            <a:ext cx="4665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b="1" lang="en">
                <a:solidFill>
                  <a:srgbClr val="0B3E64"/>
                </a:solidFill>
              </a:rPr>
              <a:t>Ý tưởng</a:t>
            </a:r>
            <a:r>
              <a:rPr lang="en">
                <a:solidFill>
                  <a:srgbClr val="0B3E64"/>
                </a:solidFill>
              </a:rPr>
              <a:t>: đẩy từ cuối lên, sử dụng phương thức SiftUp(node)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b="1" lang="en">
                <a:solidFill>
                  <a:srgbClr val="0B3E64"/>
                </a:solidFill>
              </a:rPr>
              <a:t>S</a:t>
            </a:r>
            <a:r>
              <a:rPr b="1" lang="en">
                <a:solidFill>
                  <a:srgbClr val="0B3E64"/>
                </a:solidFill>
              </a:rPr>
              <a:t>iftUp()</a:t>
            </a:r>
            <a:r>
              <a:rPr lang="en">
                <a:solidFill>
                  <a:srgbClr val="0B3E64"/>
                </a:solidFill>
              </a:rPr>
              <a:t>: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400"/>
              <a:buChar char="○"/>
            </a:pPr>
            <a:r>
              <a:rPr lang="en">
                <a:solidFill>
                  <a:srgbClr val="0B3E64"/>
                </a:solidFill>
              </a:rPr>
              <a:t>while arr[i] &lt; arr[parent(i)]:</a:t>
            </a:r>
            <a:endParaRPr>
              <a:solidFill>
                <a:srgbClr val="0B3E64"/>
              </a:solidFill>
            </a:endParaRPr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400"/>
              <a:buChar char="■"/>
            </a:pPr>
            <a:r>
              <a:rPr lang="en">
                <a:solidFill>
                  <a:srgbClr val="0B3E64"/>
                </a:solidFill>
              </a:rPr>
              <a:t>arr[i], arr[parent(i)] = arr[parent(i)], arr[i]</a:t>
            </a:r>
            <a:endParaRPr>
              <a:solidFill>
                <a:srgbClr val="0B3E64"/>
              </a:solidFill>
            </a:endParaRPr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400"/>
              <a:buChar char="■"/>
            </a:pPr>
            <a:r>
              <a:rPr lang="en">
                <a:solidFill>
                  <a:srgbClr val="0B3E64"/>
                </a:solidFill>
              </a:rPr>
              <a:t>i = parent(i)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Worst case time complexity = ?</a:t>
            </a:r>
            <a:endParaRPr>
              <a:solidFill>
                <a:srgbClr val="0B3E64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750" y="213025"/>
            <a:ext cx="2136400" cy="16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4025" y="1393425"/>
            <a:ext cx="2333976" cy="16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9900" y="2741425"/>
            <a:ext cx="2086450" cy="1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7600" y="3404650"/>
            <a:ext cx="2136400" cy="1483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311700" y="445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Pop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, SiftD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own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7209150" y="1735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33375" y="1116525"/>
            <a:ext cx="4713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b="1" lang="en">
                <a:solidFill>
                  <a:srgbClr val="0B3E64"/>
                </a:solidFill>
              </a:rPr>
              <a:t>Ý tưởng</a:t>
            </a:r>
            <a:r>
              <a:rPr lang="en">
                <a:solidFill>
                  <a:srgbClr val="0B3E64"/>
                </a:solidFill>
              </a:rPr>
              <a:t>: </a:t>
            </a:r>
            <a:endParaRPr>
              <a:solidFill>
                <a:srgbClr val="0B3E64"/>
              </a:solidFill>
            </a:endParaRPr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○"/>
            </a:pPr>
            <a:r>
              <a:rPr lang="en">
                <a:solidFill>
                  <a:srgbClr val="0B3E64"/>
                </a:solidFill>
              </a:rPr>
              <a:t>ret</a:t>
            </a:r>
            <a:r>
              <a:rPr lang="en">
                <a:solidFill>
                  <a:srgbClr val="0B3E64"/>
                </a:solidFill>
              </a:rPr>
              <a:t>urn arr[0]</a:t>
            </a:r>
            <a:endParaRPr>
              <a:solidFill>
                <a:srgbClr val="0B3E64"/>
              </a:solidFill>
            </a:endParaRPr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○"/>
            </a:pPr>
            <a:r>
              <a:rPr lang="en">
                <a:solidFill>
                  <a:srgbClr val="0B3E64"/>
                </a:solidFill>
              </a:rPr>
              <a:t>arr[0], arr[-1] = arr[-1], arr[0]</a:t>
            </a:r>
            <a:endParaRPr>
              <a:solidFill>
                <a:srgbClr val="0B3E64"/>
              </a:solidFill>
            </a:endParaRPr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○"/>
            </a:pPr>
            <a:r>
              <a:rPr lang="en">
                <a:solidFill>
                  <a:srgbClr val="0B3E64"/>
                </a:solidFill>
              </a:rPr>
              <a:t>arr.pop()</a:t>
            </a:r>
            <a:endParaRPr>
              <a:solidFill>
                <a:srgbClr val="0B3E64"/>
              </a:solidFill>
            </a:endParaRPr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○"/>
            </a:pPr>
            <a:r>
              <a:rPr lang="en">
                <a:solidFill>
                  <a:srgbClr val="0B3E64"/>
                </a:solidFill>
              </a:rPr>
              <a:t>siftdown()</a:t>
            </a:r>
            <a:endParaRPr>
              <a:solidFill>
                <a:srgbClr val="0B3E64"/>
              </a:solidFill>
            </a:endParaRPr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b="1" lang="en">
                <a:solidFill>
                  <a:srgbClr val="0B3E64"/>
                </a:solidFill>
              </a:rPr>
              <a:t>SiftD</a:t>
            </a:r>
            <a:r>
              <a:rPr b="1" lang="en">
                <a:solidFill>
                  <a:srgbClr val="0B3E64"/>
                </a:solidFill>
              </a:rPr>
              <a:t>own</a:t>
            </a:r>
            <a:r>
              <a:rPr b="1" lang="en">
                <a:solidFill>
                  <a:srgbClr val="0B3E64"/>
                </a:solidFill>
              </a:rPr>
              <a:t>(i)</a:t>
            </a:r>
            <a:r>
              <a:rPr lang="en">
                <a:solidFill>
                  <a:srgbClr val="0B3E64"/>
                </a:solidFill>
              </a:rPr>
              <a:t>:</a:t>
            </a:r>
            <a:endParaRPr>
              <a:solidFill>
                <a:srgbClr val="0B3E64"/>
              </a:solidFill>
            </a:endParaRPr>
          </a:p>
          <a:p>
            <a:pPr indent="-290830" lvl="1" marL="9144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○"/>
            </a:pPr>
            <a:r>
              <a:rPr lang="en">
                <a:solidFill>
                  <a:srgbClr val="0B3E64"/>
                </a:solidFill>
              </a:rPr>
              <a:t>while (violate):</a:t>
            </a:r>
            <a:endParaRPr>
              <a:solidFill>
                <a:srgbClr val="0B3E64"/>
              </a:solidFill>
            </a:endParaRPr>
          </a:p>
          <a:p>
            <a:pPr indent="-290830" lvl="2" marL="13716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■"/>
            </a:pPr>
            <a:r>
              <a:rPr lang="en">
                <a:solidFill>
                  <a:srgbClr val="0B3E64"/>
                </a:solidFill>
              </a:rPr>
              <a:t>S</a:t>
            </a:r>
            <a:r>
              <a:rPr lang="en">
                <a:solidFill>
                  <a:srgbClr val="0B3E64"/>
                </a:solidFill>
              </a:rPr>
              <a:t>wap arr[i] with min(arr[left(i)], arr[right(i)])</a:t>
            </a:r>
            <a:endParaRPr>
              <a:solidFill>
                <a:srgbClr val="0B3E64"/>
              </a:solidFill>
            </a:endParaRPr>
          </a:p>
          <a:p>
            <a:pPr indent="-290830" lvl="2" marL="13716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■"/>
            </a:pPr>
            <a:r>
              <a:rPr lang="en">
                <a:solidFill>
                  <a:srgbClr val="0B3E64"/>
                </a:solidFill>
              </a:rPr>
              <a:t>i = index of swapped child </a:t>
            </a:r>
            <a:endParaRPr>
              <a:solidFill>
                <a:srgbClr val="0B3E64"/>
              </a:solidFill>
            </a:endParaRPr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Worst case time complexity = ?</a:t>
            </a:r>
            <a:endParaRPr>
              <a:solidFill>
                <a:srgbClr val="0B3E64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Code mẫu: https://pastebin.pl/view/12f567de</a:t>
            </a:r>
            <a:endParaRPr>
              <a:solidFill>
                <a:srgbClr val="0B3E64"/>
              </a:solidFill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150" y="240175"/>
            <a:ext cx="2212722" cy="16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7075" y="1017750"/>
            <a:ext cx="2310075" cy="1701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350" y="2389255"/>
            <a:ext cx="2101525" cy="1625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0872" y="3225522"/>
            <a:ext cx="2192704" cy="16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311700" y="445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HeapQ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7209150" y="1735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33375" y="1116525"/>
            <a:ext cx="4713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Thao tác trên list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Mặc định là </a:t>
            </a:r>
            <a:r>
              <a:rPr b="1" lang="en">
                <a:solidFill>
                  <a:srgbClr val="0B3E64"/>
                </a:solidFill>
              </a:rPr>
              <a:t>Min Heap</a:t>
            </a:r>
            <a:endParaRPr b="1"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heappush(heap, e): đẩy e vào heap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heappop(heap): đẩy ra và trả về phần tử min của heap 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heap[0]: min của heap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heapreplace(heap, e) = heappop() rồi heappush(e)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heapify(heap): biến một mảng thành heap</a:t>
            </a:r>
            <a:endParaRPr>
              <a:solidFill>
                <a:srgbClr val="0B3E64"/>
              </a:solidFill>
            </a:endParaRPr>
          </a:p>
        </p:txBody>
      </p:sp>
      <p:pic>
        <p:nvPicPr>
          <p:cNvPr id="255" name="Google Shape;25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075" y="1170150"/>
            <a:ext cx="4092524" cy="310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 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https://leetcode.com/problems/kth-largest-element-in-an-array/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https://leetcode.com/problems/merge-k-sorted-lists/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https://leetcode.com/problems/k-closest-points-to-origin/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62" name="Google Shape;262;p3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6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/>
        </p:nvSpPr>
        <p:spPr>
          <a:xfrm>
            <a:off x="2259600" y="2156475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70" name="Google Shape;27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76" name="Google Shape;276;p38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https://leetcode.com/problems/kth-smallest-element-in-a-sorted-matrix/</a:t>
            </a:r>
            <a:r>
              <a:rPr lang="en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https://leetcode.com/problems/find-k-closest-elements/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Gitclass: https://classroom.github.com/a/AWiudMcU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Solution: https://leetcode.com/playground/oSfaAQoS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8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